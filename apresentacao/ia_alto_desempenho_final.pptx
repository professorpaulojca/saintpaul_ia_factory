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0" r:id="rId23"/>
    <p:sldId id="276" r:id="rId24"/>
    <p:sldId id="277" r:id="rId25"/>
    <p:sldId id="286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724" autoAdjust="0"/>
  </p:normalViewPr>
  <p:slideViewPr>
    <p:cSldViewPr snapToGrid="0" snapToObjects="1">
      <p:cViewPr>
        <p:scale>
          <a:sx n="125" d="100"/>
          <a:sy n="125" d="100"/>
        </p:scale>
        <p:origin x="123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9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dizendo que a aula não é sobre usar IA de forma superficial. É sobre projetar uma interação com IA que aumente qualidade, reduza desperdício e produza artefatos auditáveis.</a:t>
            </a:r>
          </a:p>
          <a:p>
            <a:endParaRPr/>
          </a:p>
          <a:p>
            <a:r>
              <a:t>Contexto: a maioria dos profissionais usa IA como caixa de sugestão. A aula propõe uma abordagem arquitetural — com método, estrutura e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Enfatizar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principal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capacidade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, mas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semântica</a:t>
            </a:r>
            <a:r>
              <a:rPr dirty="0"/>
              <a:t> da entrada.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errar</a:t>
            </a:r>
            <a:r>
              <a:rPr dirty="0"/>
              <a:t> — é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plausível</a:t>
            </a:r>
            <a:r>
              <a:rPr dirty="0"/>
              <a:t> e </a:t>
            </a:r>
            <a:r>
              <a:rPr dirty="0" err="1"/>
              <a:t>incorreto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ser </a:t>
            </a:r>
            <a:r>
              <a:rPr dirty="0" err="1"/>
              <a:t>questionado</a:t>
            </a:r>
            <a:r>
              <a:rPr dirty="0"/>
              <a:t>. A </a:t>
            </a:r>
            <a:r>
              <a:rPr dirty="0" err="1"/>
              <a:t>fluência</a:t>
            </a:r>
            <a:r>
              <a:rPr dirty="0"/>
              <a:t> é a </a:t>
            </a:r>
            <a:r>
              <a:rPr dirty="0" err="1"/>
              <a:t>armadilha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Bender et al. (2021)</a:t>
            </a:r>
          </a:p>
          <a:p>
            <a:r>
              <a:rPr dirty="0"/>
              <a:t>"On the Dangers of Stochastic Parrots: Can Language Models Be Too Big?"</a:t>
            </a:r>
          </a:p>
          <a:p>
            <a:r>
              <a:rPr dirty="0" err="1"/>
              <a:t>FAccT</a:t>
            </a:r>
            <a:r>
              <a:rPr dirty="0"/>
              <a:t> 2021 | https://dl.acm.org/doi/10.1145/3442188.3445922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/>
              <a:t>O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questiona</a:t>
            </a:r>
            <a:r>
              <a:rPr dirty="0"/>
              <a:t> a </a:t>
            </a:r>
            <a:r>
              <a:rPr dirty="0" err="1"/>
              <a:t>tendência</a:t>
            </a:r>
            <a:r>
              <a:rPr dirty="0"/>
              <a:t> da </a:t>
            </a:r>
            <a:r>
              <a:rPr dirty="0" err="1"/>
              <a:t>área</a:t>
            </a:r>
            <a:r>
              <a:rPr dirty="0"/>
              <a:t> de NLP de </a:t>
            </a:r>
            <a:r>
              <a:rPr dirty="0" err="1"/>
              <a:t>maximizar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considerar</a:t>
            </a:r>
            <a:r>
              <a:rPr dirty="0"/>
              <a:t> custos e </a:t>
            </a:r>
            <a:r>
              <a:rPr dirty="0" err="1"/>
              <a:t>riscos</a:t>
            </a:r>
            <a:r>
              <a:rPr dirty="0"/>
              <a:t> </a:t>
            </a:r>
            <a:r>
              <a:rPr dirty="0" err="1"/>
              <a:t>sistêmicos</a:t>
            </a:r>
            <a:r>
              <a:rPr dirty="0"/>
              <a:t>. A </a:t>
            </a:r>
            <a:r>
              <a:rPr dirty="0" err="1"/>
              <a:t>pergunta</a:t>
            </a:r>
            <a:r>
              <a:rPr dirty="0"/>
              <a:t> central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técnica</a:t>
            </a:r>
            <a:r>
              <a:rPr dirty="0"/>
              <a:t> — é </a:t>
            </a:r>
            <a:r>
              <a:rPr dirty="0" err="1"/>
              <a:t>ética</a:t>
            </a:r>
            <a:r>
              <a:rPr dirty="0"/>
              <a:t> e </a:t>
            </a:r>
            <a:r>
              <a:rPr dirty="0" err="1"/>
              <a:t>epistemológica</a:t>
            </a:r>
            <a:r>
              <a:rPr dirty="0"/>
              <a:t>: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LLMs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fazem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"</a:t>
            </a:r>
            <a:r>
              <a:rPr dirty="0" err="1"/>
              <a:t>compreendem</a:t>
            </a:r>
            <a:r>
              <a:rPr dirty="0"/>
              <a:t>" </a:t>
            </a:r>
            <a:r>
              <a:rPr dirty="0" err="1"/>
              <a:t>linguagem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ARGUMENTO CENTRAL</a:t>
            </a:r>
          </a:p>
          <a:p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introduzem</a:t>
            </a:r>
            <a:r>
              <a:rPr dirty="0"/>
              <a:t> a </a:t>
            </a:r>
            <a:r>
              <a:rPr dirty="0" err="1"/>
              <a:t>metáfora</a:t>
            </a:r>
            <a:r>
              <a:rPr dirty="0"/>
              <a:t> do "</a:t>
            </a:r>
            <a:r>
              <a:rPr dirty="0" err="1"/>
              <a:t>papagaio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": LLMs </a:t>
            </a:r>
            <a:r>
              <a:rPr dirty="0" err="1"/>
              <a:t>concatenam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 de tokens </a:t>
            </a:r>
            <a:r>
              <a:rPr dirty="0" err="1"/>
              <a:t>probabilisticamente</a:t>
            </a:r>
            <a:r>
              <a:rPr dirty="0"/>
              <a:t> </a:t>
            </a:r>
            <a:r>
              <a:rPr dirty="0" err="1"/>
              <a:t>plausíveis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haja</a:t>
            </a:r>
            <a:r>
              <a:rPr dirty="0"/>
              <a:t>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nenhum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 do </a:t>
            </a:r>
            <a:r>
              <a:rPr dirty="0" err="1"/>
              <a:t>processo</a:t>
            </a:r>
            <a:r>
              <a:rPr dirty="0"/>
              <a:t>, </a:t>
            </a:r>
            <a:r>
              <a:rPr dirty="0" err="1"/>
              <a:t>acesso</a:t>
            </a:r>
            <a:r>
              <a:rPr dirty="0"/>
              <a:t> a </a:t>
            </a:r>
            <a:r>
              <a:rPr dirty="0" err="1"/>
              <a:t>significado</a:t>
            </a:r>
            <a:r>
              <a:rPr dirty="0"/>
              <a:t>, </a:t>
            </a:r>
            <a:r>
              <a:rPr dirty="0" err="1"/>
              <a:t>intenção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mundo</a:t>
            </a:r>
            <a:r>
              <a:rPr dirty="0"/>
              <a:t>. O </a:t>
            </a:r>
            <a:r>
              <a:rPr dirty="0" err="1"/>
              <a:t>modelo</a:t>
            </a:r>
            <a:r>
              <a:rPr dirty="0"/>
              <a:t> opera </a:t>
            </a:r>
            <a:r>
              <a:rPr dirty="0" err="1"/>
              <a:t>sobre</a:t>
            </a:r>
            <a:r>
              <a:rPr dirty="0"/>
              <a:t> forma </a:t>
            </a:r>
            <a:r>
              <a:rPr dirty="0" err="1"/>
              <a:t>linguística</a:t>
            </a:r>
            <a:r>
              <a:rPr dirty="0"/>
              <a:t> (tokens, </a:t>
            </a:r>
            <a:r>
              <a:rPr dirty="0" err="1"/>
              <a:t>posições</a:t>
            </a:r>
            <a:r>
              <a:rPr dirty="0"/>
              <a:t>, </a:t>
            </a:r>
            <a:r>
              <a:rPr dirty="0" err="1"/>
              <a:t>atenção</a:t>
            </a:r>
            <a:r>
              <a:rPr dirty="0"/>
              <a:t>),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semântico</a:t>
            </a:r>
            <a:r>
              <a:rPr dirty="0"/>
              <a:t>. A </a:t>
            </a:r>
            <a:r>
              <a:rPr dirty="0" err="1"/>
              <a:t>distinção</a:t>
            </a:r>
            <a:r>
              <a:rPr dirty="0"/>
              <a:t> forma/</a:t>
            </a:r>
            <a:r>
              <a:rPr dirty="0" err="1"/>
              <a:t>significado</a:t>
            </a:r>
            <a:r>
              <a:rPr dirty="0"/>
              <a:t>, </a:t>
            </a:r>
            <a:r>
              <a:rPr dirty="0" err="1"/>
              <a:t>derivada</a:t>
            </a:r>
            <a:r>
              <a:rPr dirty="0"/>
              <a:t> da </a:t>
            </a:r>
            <a:r>
              <a:rPr dirty="0" err="1"/>
              <a:t>semântica</a:t>
            </a:r>
            <a:r>
              <a:rPr dirty="0"/>
              <a:t> formal e da </a:t>
            </a:r>
            <a:r>
              <a:rPr dirty="0" err="1"/>
              <a:t>filosofia</a:t>
            </a:r>
            <a:r>
              <a:rPr dirty="0"/>
              <a:t> da </a:t>
            </a:r>
            <a:r>
              <a:rPr dirty="0" err="1"/>
              <a:t>linguagem</a:t>
            </a:r>
            <a:r>
              <a:rPr dirty="0"/>
              <a:t>, é o </a:t>
            </a:r>
            <a:r>
              <a:rPr dirty="0" err="1"/>
              <a:t>núcleo</a:t>
            </a:r>
            <a:r>
              <a:rPr dirty="0"/>
              <a:t> </a:t>
            </a:r>
            <a:r>
              <a:rPr dirty="0" err="1"/>
              <a:t>teórico</a:t>
            </a:r>
            <a:r>
              <a:rPr dirty="0"/>
              <a:t> do </a:t>
            </a:r>
            <a:r>
              <a:rPr dirty="0" err="1"/>
              <a:t>argumento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e </a:t>
            </a:r>
            <a:r>
              <a:rPr dirty="0" err="1"/>
              <a:t>teórica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estudo</a:t>
            </a:r>
            <a:r>
              <a:rPr dirty="0"/>
              <a:t> </a:t>
            </a:r>
            <a:r>
              <a:rPr dirty="0" err="1"/>
              <a:t>empírico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revisam</a:t>
            </a:r>
            <a:r>
              <a:rPr dirty="0"/>
              <a:t> </a:t>
            </a:r>
            <a:r>
              <a:rPr dirty="0" err="1"/>
              <a:t>literatura</a:t>
            </a:r>
            <a:r>
              <a:rPr dirty="0"/>
              <a:t> de NLP, </a:t>
            </a:r>
            <a:r>
              <a:rPr dirty="0" err="1"/>
              <a:t>linguística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, </a:t>
            </a:r>
            <a:r>
              <a:rPr dirty="0" err="1"/>
              <a:t>ética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IA e </a:t>
            </a:r>
            <a:r>
              <a:rPr dirty="0" err="1"/>
              <a:t>estudos</a:t>
            </a:r>
            <a:r>
              <a:rPr dirty="0"/>
              <a:t> de </a:t>
            </a:r>
            <a:r>
              <a:rPr dirty="0" err="1"/>
              <a:t>ciência</a:t>
            </a:r>
            <a:r>
              <a:rPr dirty="0"/>
              <a:t> e </a:t>
            </a:r>
            <a:r>
              <a:rPr dirty="0" err="1"/>
              <a:t>tecnologia</a:t>
            </a:r>
            <a:r>
              <a:rPr dirty="0"/>
              <a:t>. </a:t>
            </a:r>
            <a:r>
              <a:rPr dirty="0" err="1"/>
              <a:t>Identificam</a:t>
            </a:r>
            <a:r>
              <a:rPr dirty="0"/>
              <a:t> </a:t>
            </a:r>
            <a:r>
              <a:rPr dirty="0" err="1"/>
              <a:t>quatro</a:t>
            </a:r>
            <a:r>
              <a:rPr dirty="0"/>
              <a:t> </a:t>
            </a:r>
            <a:r>
              <a:rPr dirty="0" err="1"/>
              <a:t>dimensões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: </a:t>
            </a:r>
            <a:r>
              <a:rPr dirty="0" err="1"/>
              <a:t>custo</a:t>
            </a:r>
            <a:r>
              <a:rPr dirty="0"/>
              <a:t> </a:t>
            </a:r>
            <a:r>
              <a:rPr dirty="0" err="1"/>
              <a:t>ambiental</a:t>
            </a:r>
            <a:r>
              <a:rPr dirty="0"/>
              <a:t> e </a:t>
            </a:r>
            <a:r>
              <a:rPr dirty="0" err="1"/>
              <a:t>financeiro</a:t>
            </a:r>
            <a:r>
              <a:rPr dirty="0"/>
              <a:t> do </a:t>
            </a:r>
            <a:r>
              <a:rPr dirty="0" err="1"/>
              <a:t>treinamento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; </a:t>
            </a:r>
            <a:r>
              <a:rPr dirty="0" err="1"/>
              <a:t>concentração</a:t>
            </a:r>
            <a:r>
              <a:rPr dirty="0"/>
              <a:t> de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poucos</a:t>
            </a:r>
            <a:r>
              <a:rPr dirty="0"/>
              <a:t> </a:t>
            </a:r>
            <a:r>
              <a:rPr dirty="0" err="1"/>
              <a:t>atores</a:t>
            </a:r>
            <a:r>
              <a:rPr dirty="0"/>
              <a:t>; </a:t>
            </a:r>
            <a:r>
              <a:rPr dirty="0" err="1"/>
              <a:t>amplificação</a:t>
            </a:r>
            <a:r>
              <a:rPr dirty="0"/>
              <a:t> de </a:t>
            </a:r>
            <a:r>
              <a:rPr dirty="0" err="1"/>
              <a:t>viés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dados </a:t>
            </a:r>
            <a:r>
              <a:rPr dirty="0" err="1"/>
              <a:t>históricos</a:t>
            </a:r>
            <a:r>
              <a:rPr dirty="0"/>
              <a:t>; e falsa </a:t>
            </a:r>
            <a:r>
              <a:rPr dirty="0" err="1"/>
              <a:t>impressão</a:t>
            </a:r>
            <a:r>
              <a:rPr dirty="0"/>
              <a:t> de </a:t>
            </a:r>
            <a:r>
              <a:rPr dirty="0" err="1"/>
              <a:t>compreensão</a:t>
            </a:r>
            <a:r>
              <a:rPr dirty="0"/>
              <a:t> e </a:t>
            </a:r>
            <a:r>
              <a:rPr dirty="0" err="1"/>
              <a:t>progresso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direção</a:t>
            </a:r>
            <a:r>
              <a:rPr dirty="0"/>
              <a:t> a AGI.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1. </a:t>
            </a:r>
            <a:r>
              <a:rPr dirty="0" err="1"/>
              <a:t>Custo</a:t>
            </a:r>
            <a:r>
              <a:rPr dirty="0"/>
              <a:t> de </a:t>
            </a:r>
            <a:r>
              <a:rPr dirty="0" err="1"/>
              <a:t>treinamento</a:t>
            </a:r>
            <a:r>
              <a:rPr dirty="0"/>
              <a:t>: </a:t>
            </a:r>
            <a:r>
              <a:rPr dirty="0" err="1"/>
              <a:t>treinar</a:t>
            </a:r>
            <a:r>
              <a:rPr dirty="0"/>
              <a:t> um </a:t>
            </a:r>
            <a:r>
              <a:rPr dirty="0" err="1"/>
              <a:t>modelo</a:t>
            </a:r>
            <a:r>
              <a:rPr dirty="0"/>
              <a:t> de grande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emite</a:t>
            </a:r>
            <a:r>
              <a:rPr dirty="0"/>
              <a:t> CO2 </a:t>
            </a:r>
            <a:r>
              <a:rPr dirty="0" err="1"/>
              <a:t>comparável</a:t>
            </a:r>
            <a:r>
              <a:rPr dirty="0"/>
              <a:t> a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automóveis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de </a:t>
            </a:r>
            <a:r>
              <a:rPr dirty="0" err="1"/>
              <a:t>toda</a:t>
            </a:r>
            <a:r>
              <a:rPr dirty="0"/>
              <a:t> a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vida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. Esse </a:t>
            </a:r>
            <a:r>
              <a:rPr dirty="0" err="1"/>
              <a:t>custo</a:t>
            </a:r>
            <a:r>
              <a:rPr dirty="0"/>
              <a:t> é </a:t>
            </a:r>
            <a:r>
              <a:rPr dirty="0" err="1"/>
              <a:t>distribuído</a:t>
            </a:r>
            <a:r>
              <a:rPr dirty="0"/>
              <a:t> de forma </a:t>
            </a:r>
            <a:r>
              <a:rPr dirty="0" err="1"/>
              <a:t>desigual</a:t>
            </a:r>
            <a:r>
              <a:rPr dirty="0"/>
              <a:t> — </a:t>
            </a:r>
            <a:r>
              <a:rPr dirty="0" err="1"/>
              <a:t>concentrado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países</a:t>
            </a:r>
            <a:r>
              <a:rPr dirty="0"/>
              <a:t> de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renda</a:t>
            </a:r>
            <a:r>
              <a:rPr dirty="0"/>
              <a:t>, mas com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climático</a:t>
            </a:r>
            <a:r>
              <a:rPr dirty="0"/>
              <a:t> global.</a:t>
            </a:r>
          </a:p>
          <a:p>
            <a:r>
              <a:rPr dirty="0"/>
              <a:t>2. </a:t>
            </a:r>
            <a:r>
              <a:rPr dirty="0" err="1"/>
              <a:t>Viés</a:t>
            </a:r>
            <a:r>
              <a:rPr dirty="0"/>
              <a:t> e </a:t>
            </a:r>
            <a:r>
              <a:rPr dirty="0" err="1"/>
              <a:t>dano</a:t>
            </a:r>
            <a:r>
              <a:rPr dirty="0"/>
              <a:t>: dados de </a:t>
            </a:r>
            <a:r>
              <a:rPr dirty="0" err="1"/>
              <a:t>treinamento</a:t>
            </a:r>
            <a:r>
              <a:rPr dirty="0"/>
              <a:t> </a:t>
            </a:r>
            <a:r>
              <a:rPr dirty="0" err="1"/>
              <a:t>refletem</a:t>
            </a:r>
            <a:r>
              <a:rPr dirty="0"/>
              <a:t> e </a:t>
            </a:r>
            <a:r>
              <a:rPr dirty="0" err="1"/>
              <a:t>amplificam</a:t>
            </a:r>
            <a:r>
              <a:rPr dirty="0"/>
              <a:t> </a:t>
            </a:r>
            <a:r>
              <a:rPr dirty="0" err="1"/>
              <a:t>preconceitos</a:t>
            </a:r>
            <a:r>
              <a:rPr dirty="0"/>
              <a:t> </a:t>
            </a:r>
            <a:r>
              <a:rPr dirty="0" err="1"/>
              <a:t>históricos</a:t>
            </a:r>
            <a:r>
              <a:rPr dirty="0"/>
              <a:t>. LLMs </a:t>
            </a:r>
            <a:r>
              <a:rPr dirty="0" err="1"/>
              <a:t>treinados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da internet </a:t>
            </a:r>
            <a:r>
              <a:rPr dirty="0" err="1"/>
              <a:t>reproduzem</a:t>
            </a:r>
            <a:r>
              <a:rPr dirty="0"/>
              <a:t> e </a:t>
            </a:r>
            <a:r>
              <a:rPr dirty="0" err="1"/>
              <a:t>até</a:t>
            </a:r>
            <a:r>
              <a:rPr dirty="0"/>
              <a:t> </a:t>
            </a:r>
            <a:r>
              <a:rPr dirty="0" err="1"/>
              <a:t>intensificam</a:t>
            </a:r>
            <a:r>
              <a:rPr dirty="0"/>
              <a:t> </a:t>
            </a:r>
            <a:r>
              <a:rPr dirty="0" err="1"/>
              <a:t>estereótipos</a:t>
            </a:r>
            <a:r>
              <a:rPr dirty="0"/>
              <a:t> de </a:t>
            </a:r>
            <a:r>
              <a:rPr dirty="0" err="1"/>
              <a:t>gênero</a:t>
            </a:r>
            <a:r>
              <a:rPr dirty="0"/>
              <a:t>, </a:t>
            </a:r>
            <a:r>
              <a:rPr dirty="0" err="1"/>
              <a:t>raça</a:t>
            </a:r>
            <a:r>
              <a:rPr dirty="0"/>
              <a:t> e </a:t>
            </a:r>
            <a:r>
              <a:rPr dirty="0" err="1"/>
              <a:t>religião</a:t>
            </a:r>
            <a:r>
              <a:rPr dirty="0"/>
              <a:t>.</a:t>
            </a:r>
          </a:p>
          <a:p>
            <a:r>
              <a:rPr dirty="0"/>
              <a:t>3. Falsa </a:t>
            </a:r>
            <a:r>
              <a:rPr dirty="0" err="1"/>
              <a:t>compreensão</a:t>
            </a:r>
            <a:r>
              <a:rPr dirty="0"/>
              <a:t>: </a:t>
            </a:r>
            <a:r>
              <a:rPr dirty="0" err="1"/>
              <a:t>profissionais</a:t>
            </a:r>
            <a:r>
              <a:rPr dirty="0"/>
              <a:t> e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tendem</a:t>
            </a:r>
            <a:r>
              <a:rPr dirty="0"/>
              <a:t> a </a:t>
            </a:r>
            <a:r>
              <a:rPr dirty="0" err="1"/>
              <a:t>atribuir</a:t>
            </a:r>
            <a:r>
              <a:rPr dirty="0"/>
              <a:t> </a:t>
            </a:r>
            <a:r>
              <a:rPr dirty="0" err="1"/>
              <a:t>compreensão</a:t>
            </a:r>
            <a:r>
              <a:rPr dirty="0"/>
              <a:t>, </a:t>
            </a:r>
            <a:r>
              <a:rPr dirty="0" err="1"/>
              <a:t>intencionalidade</a:t>
            </a:r>
            <a:r>
              <a:rPr dirty="0"/>
              <a:t> e </a:t>
            </a:r>
            <a:r>
              <a:rPr dirty="0" err="1"/>
              <a:t>veracidade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— um </a:t>
            </a:r>
            <a:r>
              <a:rPr dirty="0" err="1"/>
              <a:t>erro</a:t>
            </a:r>
            <a:r>
              <a:rPr dirty="0"/>
              <a:t> de </a:t>
            </a:r>
            <a:r>
              <a:rPr dirty="0" err="1"/>
              <a:t>categoria</a:t>
            </a:r>
            <a:r>
              <a:rPr dirty="0"/>
              <a:t>.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sabe se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gera</a:t>
            </a:r>
            <a:r>
              <a:rPr dirty="0"/>
              <a:t> é </a:t>
            </a:r>
            <a:r>
              <a:rPr dirty="0" err="1"/>
              <a:t>verdadeiro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Coerência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fundamentação</a:t>
            </a:r>
            <a:r>
              <a:rPr dirty="0"/>
              <a:t> (</a:t>
            </a:r>
            <a:r>
              <a:rPr dirty="0" err="1"/>
              <a:t>groundedness</a:t>
            </a:r>
            <a:r>
              <a:rPr dirty="0"/>
              <a:t>): o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gramaticalmente</a:t>
            </a:r>
            <a:r>
              <a:rPr dirty="0"/>
              <a:t> </a:t>
            </a:r>
            <a:r>
              <a:rPr dirty="0" err="1"/>
              <a:t>correto</a:t>
            </a:r>
            <a:r>
              <a:rPr dirty="0"/>
              <a:t>, </a:t>
            </a:r>
            <a:r>
              <a:rPr dirty="0" err="1"/>
              <a:t>coerente</a:t>
            </a:r>
            <a:r>
              <a:rPr dirty="0"/>
              <a:t> </a:t>
            </a:r>
            <a:r>
              <a:rPr dirty="0" err="1"/>
              <a:t>estilísticamente</a:t>
            </a:r>
            <a:r>
              <a:rPr dirty="0"/>
              <a:t> e </a:t>
            </a:r>
            <a:r>
              <a:rPr dirty="0" err="1"/>
              <a:t>factualmente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tempo. A </a:t>
            </a:r>
            <a:r>
              <a:rPr dirty="0" err="1"/>
              <a:t>fluência</a:t>
            </a:r>
            <a:r>
              <a:rPr dirty="0"/>
              <a:t> mascara a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verificação</a:t>
            </a:r>
            <a:r>
              <a:rPr dirty="0"/>
              <a:t> factual.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/>
              <a:t>O </a:t>
            </a:r>
            <a:r>
              <a:rPr dirty="0" err="1"/>
              <a:t>artigo</a:t>
            </a:r>
            <a:r>
              <a:rPr dirty="0"/>
              <a:t> é </a:t>
            </a:r>
            <a:r>
              <a:rPr dirty="0" err="1"/>
              <a:t>prescritivo</a:t>
            </a:r>
            <a:r>
              <a:rPr dirty="0"/>
              <a:t> e </a:t>
            </a:r>
            <a:r>
              <a:rPr dirty="0" err="1"/>
              <a:t>teórico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apresenta</a:t>
            </a:r>
            <a:r>
              <a:rPr dirty="0"/>
              <a:t> </a:t>
            </a:r>
            <a:r>
              <a:rPr dirty="0" err="1"/>
              <a:t>experimentos</a:t>
            </a:r>
            <a:r>
              <a:rPr dirty="0"/>
              <a:t> </a:t>
            </a:r>
            <a:r>
              <a:rPr dirty="0" err="1"/>
              <a:t>controlados</a:t>
            </a:r>
            <a:r>
              <a:rPr dirty="0"/>
              <a:t>. A </a:t>
            </a:r>
            <a:r>
              <a:rPr dirty="0" err="1"/>
              <a:t>distinção</a:t>
            </a:r>
            <a:r>
              <a:rPr dirty="0"/>
              <a:t> forma/</a:t>
            </a:r>
            <a:r>
              <a:rPr dirty="0" err="1"/>
              <a:t>significado</a:t>
            </a:r>
            <a:r>
              <a:rPr dirty="0"/>
              <a:t> é </a:t>
            </a:r>
            <a:r>
              <a:rPr dirty="0" err="1"/>
              <a:t>controversa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filosofia</a:t>
            </a:r>
            <a:r>
              <a:rPr dirty="0"/>
              <a:t> da </a:t>
            </a:r>
            <a:r>
              <a:rPr dirty="0" err="1"/>
              <a:t>linguagem</a:t>
            </a:r>
            <a:r>
              <a:rPr dirty="0"/>
              <a:t> (</a:t>
            </a:r>
            <a:r>
              <a:rPr dirty="0" err="1"/>
              <a:t>alguns</a:t>
            </a:r>
            <a:r>
              <a:rPr dirty="0"/>
              <a:t> </a:t>
            </a:r>
            <a:r>
              <a:rPr dirty="0" err="1"/>
              <a:t>cognitivistas</a:t>
            </a:r>
            <a:r>
              <a:rPr dirty="0"/>
              <a:t> </a:t>
            </a:r>
            <a:r>
              <a:rPr dirty="0" err="1"/>
              <a:t>argumentam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processamento</a:t>
            </a:r>
            <a:r>
              <a:rPr dirty="0"/>
              <a:t> </a:t>
            </a:r>
            <a:r>
              <a:rPr dirty="0" err="1"/>
              <a:t>estatístico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emergir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compreensão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).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deliberadamente</a:t>
            </a:r>
            <a:r>
              <a:rPr dirty="0"/>
              <a:t> </a:t>
            </a:r>
            <a:r>
              <a:rPr dirty="0" err="1"/>
              <a:t>provocativos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gerou</a:t>
            </a:r>
            <a:r>
              <a:rPr dirty="0"/>
              <a:t> debate </a:t>
            </a:r>
            <a:r>
              <a:rPr dirty="0" err="1"/>
              <a:t>sobre</a:t>
            </a:r>
            <a:r>
              <a:rPr dirty="0"/>
              <a:t> a </a:t>
            </a:r>
            <a:r>
              <a:rPr dirty="0" err="1"/>
              <a:t>extensão</a:t>
            </a:r>
            <a:r>
              <a:rPr dirty="0"/>
              <a:t> das </a:t>
            </a:r>
            <a:r>
              <a:rPr dirty="0" err="1"/>
              <a:t>afirmações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Este </a:t>
            </a:r>
            <a:r>
              <a:rPr dirty="0" err="1"/>
              <a:t>artigo</a:t>
            </a:r>
            <a:r>
              <a:rPr dirty="0"/>
              <a:t> é o </a:t>
            </a:r>
            <a:r>
              <a:rPr dirty="0" err="1"/>
              <a:t>alicerce</a:t>
            </a:r>
            <a:r>
              <a:rPr dirty="0"/>
              <a:t> </a:t>
            </a:r>
            <a:r>
              <a:rPr dirty="0" err="1"/>
              <a:t>epistemológico</a:t>
            </a:r>
            <a:r>
              <a:rPr dirty="0"/>
              <a:t> da aula. Se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compreendem</a:t>
            </a:r>
            <a:r>
              <a:rPr dirty="0"/>
              <a:t> —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associam</a:t>
            </a:r>
            <a:r>
              <a:rPr dirty="0"/>
              <a:t> </a:t>
            </a:r>
            <a:r>
              <a:rPr dirty="0" err="1"/>
              <a:t>padrões</a:t>
            </a:r>
            <a:r>
              <a:rPr dirty="0"/>
              <a:t> — </a:t>
            </a:r>
            <a:r>
              <a:rPr dirty="0" err="1"/>
              <a:t>então</a:t>
            </a:r>
            <a:r>
              <a:rPr dirty="0"/>
              <a:t> a </a:t>
            </a:r>
            <a:r>
              <a:rPr dirty="0" err="1"/>
              <a:t>qualidade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é </a:t>
            </a:r>
            <a:r>
              <a:rPr dirty="0" err="1"/>
              <a:t>função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da </a:t>
            </a:r>
            <a:r>
              <a:rPr dirty="0" err="1"/>
              <a:t>qualidade</a:t>
            </a:r>
            <a:r>
              <a:rPr dirty="0"/>
              <a:t> da entrada. Context Engineering é 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à </a:t>
            </a:r>
            <a:r>
              <a:rPr dirty="0" err="1"/>
              <a:t>limitação</a:t>
            </a:r>
            <a:r>
              <a:rPr dirty="0"/>
              <a:t> </a:t>
            </a:r>
            <a:r>
              <a:rPr dirty="0" err="1"/>
              <a:t>teórica</a:t>
            </a:r>
            <a:r>
              <a:rPr dirty="0"/>
              <a:t> </a:t>
            </a:r>
            <a:r>
              <a:rPr dirty="0" err="1"/>
              <a:t>identificada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Bender: se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"</a:t>
            </a:r>
            <a:r>
              <a:rPr dirty="0" err="1"/>
              <a:t>entende</a:t>
            </a:r>
            <a:r>
              <a:rPr dirty="0"/>
              <a:t>" o </a:t>
            </a:r>
            <a:r>
              <a:rPr dirty="0" err="1"/>
              <a:t>domínio</a:t>
            </a:r>
            <a:r>
              <a:rPr dirty="0"/>
              <a:t>, </a:t>
            </a:r>
            <a:r>
              <a:rPr dirty="0" err="1"/>
              <a:t>cabe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engenheiro</a:t>
            </a:r>
            <a:r>
              <a:rPr dirty="0"/>
              <a:t> </a:t>
            </a:r>
            <a:r>
              <a:rPr dirty="0" err="1"/>
              <a:t>injetar</a:t>
            </a:r>
            <a:r>
              <a:rPr dirty="0"/>
              <a:t> o </a:t>
            </a:r>
            <a:r>
              <a:rPr dirty="0" err="1"/>
              <a:t>domínio</a:t>
            </a:r>
            <a:r>
              <a:rPr dirty="0"/>
              <a:t> no </a:t>
            </a:r>
            <a:r>
              <a:rPr dirty="0" err="1"/>
              <a:t>contexto</a:t>
            </a:r>
            <a:r>
              <a:rPr dirty="0"/>
              <a:t> com </a:t>
            </a:r>
            <a:r>
              <a:rPr dirty="0" err="1"/>
              <a:t>precisão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IMPLICAÇÃO PARA ENGENHEIROS SÊNIORES</a:t>
            </a:r>
          </a:p>
          <a:p>
            <a:r>
              <a:rPr dirty="0"/>
              <a:t>Ao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saída</a:t>
            </a:r>
            <a:r>
              <a:rPr dirty="0"/>
              <a:t> de LLM,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avalie</a:t>
            </a:r>
            <a:r>
              <a:rPr dirty="0"/>
              <a:t> pela </a:t>
            </a:r>
            <a:r>
              <a:rPr dirty="0" err="1"/>
              <a:t>fluidez</a:t>
            </a:r>
            <a:r>
              <a:rPr dirty="0"/>
              <a:t>. Avalie pela </a:t>
            </a:r>
            <a:r>
              <a:rPr dirty="0" err="1"/>
              <a:t>fundamentação</a:t>
            </a:r>
            <a:r>
              <a:rPr dirty="0"/>
              <a:t> factual e </a:t>
            </a:r>
            <a:r>
              <a:rPr dirty="0" err="1"/>
              <a:t>aderência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domínio</a:t>
            </a:r>
            <a:r>
              <a:rPr dirty="0"/>
              <a:t>. Um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escrito</a:t>
            </a:r>
            <a:r>
              <a:rPr dirty="0"/>
              <a:t> e </a:t>
            </a:r>
            <a:r>
              <a:rPr dirty="0" err="1"/>
              <a:t>incorreto</a:t>
            </a:r>
            <a:r>
              <a:rPr dirty="0"/>
              <a:t>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perigoso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um </a:t>
            </a:r>
            <a:r>
              <a:rPr dirty="0" err="1"/>
              <a:t>texto</a:t>
            </a:r>
            <a:r>
              <a:rPr dirty="0"/>
              <a:t> mal </a:t>
            </a:r>
            <a:r>
              <a:rPr dirty="0" err="1"/>
              <a:t>escrito</a:t>
            </a:r>
            <a:r>
              <a:rPr dirty="0"/>
              <a:t> e </a:t>
            </a:r>
            <a:r>
              <a:rPr dirty="0" err="1"/>
              <a:t>correto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ser </a:t>
            </a:r>
            <a:r>
              <a:rPr dirty="0" err="1"/>
              <a:t>questionado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Ji et al. (2023)</a:t>
            </a:r>
          </a:p>
          <a:p>
            <a:r>
              <a:rPr dirty="0"/>
              <a:t>"Survey of Hallucination in Natural Language Generation"</a:t>
            </a:r>
          </a:p>
          <a:p>
            <a:r>
              <a:rPr dirty="0"/>
              <a:t>ACM Computing Surveys, vol. 55, no. 12 | https://dl.acm.org/doi/10.1145/3571730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Sistematizar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—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r>
              <a:rPr dirty="0"/>
              <a:t>, </a:t>
            </a:r>
            <a:r>
              <a:rPr dirty="0" err="1"/>
              <a:t>taxonomia</a:t>
            </a:r>
            <a:r>
              <a:rPr dirty="0"/>
              <a:t>, </a:t>
            </a:r>
            <a:r>
              <a:rPr dirty="0" err="1"/>
              <a:t>causas</a:t>
            </a:r>
            <a:r>
              <a:rPr dirty="0"/>
              <a:t>,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mitigação</a:t>
            </a:r>
            <a:r>
              <a:rPr dirty="0"/>
              <a:t> —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para a </a:t>
            </a:r>
            <a:r>
              <a:rPr dirty="0" err="1"/>
              <a:t>área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DEFINIÇÃO FORMAL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é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fluente</a:t>
            </a:r>
            <a:r>
              <a:rPr dirty="0"/>
              <a:t> e </a:t>
            </a:r>
            <a:r>
              <a:rPr dirty="0" err="1"/>
              <a:t>plausível</a:t>
            </a:r>
            <a:r>
              <a:rPr dirty="0"/>
              <a:t> </a:t>
            </a:r>
            <a:r>
              <a:rPr dirty="0" err="1"/>
              <a:t>linguisticamente</a:t>
            </a:r>
            <a:r>
              <a:rPr dirty="0"/>
              <a:t>, mas </a:t>
            </a:r>
            <a:r>
              <a:rPr dirty="0" err="1"/>
              <a:t>factualmente</a:t>
            </a:r>
            <a:r>
              <a:rPr dirty="0"/>
              <a:t> </a:t>
            </a:r>
            <a:r>
              <a:rPr dirty="0" err="1"/>
              <a:t>incorreto</a:t>
            </a:r>
            <a:r>
              <a:rPr dirty="0"/>
              <a:t>, </a:t>
            </a:r>
            <a:r>
              <a:rPr dirty="0" err="1"/>
              <a:t>inconsistente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distinguem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fundamentais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contradiz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o </a:t>
            </a:r>
            <a:r>
              <a:rPr dirty="0" err="1"/>
              <a:t>documento-fonte</a:t>
            </a:r>
            <a:r>
              <a:rPr dirty="0"/>
              <a:t> (ex: </a:t>
            </a:r>
            <a:r>
              <a:rPr dirty="0" err="1"/>
              <a:t>sumarização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inverte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do original).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verificado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(ex: </a:t>
            </a:r>
            <a:r>
              <a:rPr dirty="0" err="1"/>
              <a:t>detalhes</a:t>
            </a:r>
            <a:r>
              <a:rPr dirty="0"/>
              <a:t> </a:t>
            </a:r>
            <a:r>
              <a:rPr dirty="0" err="1"/>
              <a:t>inventados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documento</a:t>
            </a:r>
            <a:r>
              <a:rPr dirty="0"/>
              <a:t> original, </a:t>
            </a:r>
            <a:r>
              <a:rPr dirty="0" err="1"/>
              <a:t>podendo</a:t>
            </a:r>
            <a:r>
              <a:rPr dirty="0"/>
              <a:t> ser </a:t>
            </a:r>
            <a:r>
              <a:rPr dirty="0" err="1"/>
              <a:t>verdadeiros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real).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sistemática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de 150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2017 e 2022, </a:t>
            </a:r>
            <a:r>
              <a:rPr dirty="0" err="1"/>
              <a:t>cobrindo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NLG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sumarização</a:t>
            </a:r>
            <a:r>
              <a:rPr dirty="0"/>
              <a:t>, </a:t>
            </a:r>
            <a:r>
              <a:rPr dirty="0" err="1"/>
              <a:t>tradução</a:t>
            </a:r>
            <a:r>
              <a:rPr dirty="0"/>
              <a:t>, </a:t>
            </a:r>
            <a:r>
              <a:rPr dirty="0" err="1"/>
              <a:t>diálogo</a:t>
            </a:r>
            <a:r>
              <a:rPr dirty="0"/>
              <a:t>,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, QA e </a:t>
            </a:r>
            <a:r>
              <a:rPr dirty="0" err="1"/>
              <a:t>geração</a:t>
            </a:r>
            <a:r>
              <a:rPr dirty="0"/>
              <a:t> de dados.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constroem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taxonomia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entre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CAUSAS DE ALUCINAÇÃO (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)</a:t>
            </a:r>
          </a:p>
          <a:p>
            <a:r>
              <a:rPr dirty="0"/>
              <a:t>1. Dados de </a:t>
            </a:r>
            <a:r>
              <a:rPr dirty="0" err="1"/>
              <a:t>treinamento</a:t>
            </a:r>
            <a:r>
              <a:rPr dirty="0"/>
              <a:t>: corpus </a:t>
            </a:r>
            <a:r>
              <a:rPr dirty="0" err="1"/>
              <a:t>ruidosos</a:t>
            </a:r>
            <a:r>
              <a:rPr dirty="0"/>
              <a:t>, </a:t>
            </a:r>
            <a:r>
              <a:rPr dirty="0" err="1"/>
              <a:t>inconsistentes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. </a:t>
            </a:r>
            <a:r>
              <a:rPr dirty="0" err="1"/>
              <a:t>Correlações</a:t>
            </a:r>
            <a:r>
              <a:rPr dirty="0"/>
              <a:t> </a:t>
            </a:r>
            <a:r>
              <a:rPr dirty="0" err="1"/>
              <a:t>espúrias</a:t>
            </a:r>
            <a:r>
              <a:rPr dirty="0"/>
              <a:t> no </a:t>
            </a:r>
            <a:r>
              <a:rPr dirty="0" err="1"/>
              <a:t>pré-treinamento</a:t>
            </a:r>
            <a:r>
              <a:rPr dirty="0"/>
              <a:t>. Dados de </a:t>
            </a:r>
            <a:r>
              <a:rPr dirty="0" err="1"/>
              <a:t>alinhamento</a:t>
            </a:r>
            <a:r>
              <a:rPr dirty="0"/>
              <a:t> (RLHF)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recompensam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incorreção</a:t>
            </a:r>
            <a:r>
              <a:rPr dirty="0"/>
              <a:t> factual.</a:t>
            </a:r>
          </a:p>
          <a:p>
            <a:r>
              <a:rPr dirty="0"/>
              <a:t>2.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decodificação</a:t>
            </a:r>
            <a:r>
              <a:rPr dirty="0"/>
              <a:t>: </a:t>
            </a:r>
            <a:r>
              <a:rPr dirty="0" err="1"/>
              <a:t>amostragem</a:t>
            </a:r>
            <a:r>
              <a:rPr dirty="0"/>
              <a:t> com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criatividade</a:t>
            </a:r>
            <a:r>
              <a:rPr dirty="0"/>
              <a:t> mas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. Beam search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 </a:t>
            </a:r>
            <a:r>
              <a:rPr dirty="0" err="1"/>
              <a:t>coerentes</a:t>
            </a:r>
            <a:r>
              <a:rPr dirty="0"/>
              <a:t> mas </a:t>
            </a:r>
            <a:r>
              <a:rPr dirty="0" err="1"/>
              <a:t>incorretas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Arquitetura</a:t>
            </a:r>
            <a:r>
              <a:rPr dirty="0"/>
              <a:t>: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atenção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distribuir</a:t>
            </a:r>
            <a:r>
              <a:rPr dirty="0"/>
              <a:t> peso </a:t>
            </a:r>
            <a:r>
              <a:rPr dirty="0" err="1"/>
              <a:t>em</a:t>
            </a:r>
            <a:r>
              <a:rPr dirty="0"/>
              <a:t> tokens </a:t>
            </a:r>
            <a:r>
              <a:rPr dirty="0" err="1"/>
              <a:t>irrelevantes</a:t>
            </a:r>
            <a:r>
              <a:rPr dirty="0"/>
              <a:t>.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"confabular"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partes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Treinamento</a:t>
            </a:r>
            <a:r>
              <a:rPr dirty="0"/>
              <a:t> de </a:t>
            </a:r>
            <a:r>
              <a:rPr dirty="0" err="1"/>
              <a:t>alinhamento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RLHF </a:t>
            </a:r>
            <a:r>
              <a:rPr dirty="0" err="1"/>
              <a:t>aprendem</a:t>
            </a:r>
            <a:r>
              <a:rPr dirty="0"/>
              <a:t> 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aprovam</a:t>
            </a:r>
            <a:r>
              <a:rPr dirty="0"/>
              <a:t> —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veracidade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MÉTRICAS DE AVALIAÇÃO</a:t>
            </a:r>
          </a:p>
          <a:p>
            <a:r>
              <a:rPr dirty="0"/>
              <a:t>• Faithfulness: </a:t>
            </a:r>
            <a:r>
              <a:rPr dirty="0" err="1"/>
              <a:t>grau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.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NLI (Natural Language Inference)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QA.</a:t>
            </a:r>
          </a:p>
          <a:p>
            <a:r>
              <a:rPr dirty="0"/>
              <a:t>• Factuality: </a:t>
            </a:r>
            <a:r>
              <a:rPr dirty="0" err="1"/>
              <a:t>alinhamento</a:t>
            </a:r>
            <a:r>
              <a:rPr dirty="0"/>
              <a:t> com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externo</a:t>
            </a:r>
            <a:r>
              <a:rPr dirty="0"/>
              <a:t>. Mais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r>
              <a:rPr dirty="0"/>
              <a:t>• ROUGE, </a:t>
            </a:r>
            <a:r>
              <a:rPr dirty="0" err="1"/>
              <a:t>BERTScore</a:t>
            </a:r>
            <a:r>
              <a:rPr dirty="0"/>
              <a:t>: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mas </a:t>
            </a:r>
            <a:r>
              <a:rPr dirty="0" err="1"/>
              <a:t>insensíveis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 — um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alucinado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ter ROUGE alto se o </a:t>
            </a:r>
            <a:r>
              <a:rPr dirty="0" err="1"/>
              <a:t>estilo</a:t>
            </a:r>
            <a:r>
              <a:rPr dirty="0"/>
              <a:t> for similar.</a:t>
            </a:r>
          </a:p>
          <a:p>
            <a:r>
              <a:rPr dirty="0"/>
              <a:t>• </a:t>
            </a:r>
            <a:r>
              <a:rPr dirty="0" err="1"/>
              <a:t>FactScore</a:t>
            </a:r>
            <a:r>
              <a:rPr dirty="0"/>
              <a:t>: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recente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decompõe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e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ESTRATÉGIAS DE MITIGAÇÃO</a:t>
            </a:r>
          </a:p>
          <a:p>
            <a:r>
              <a:rPr dirty="0"/>
              <a:t>1. Retrieval-Augmented Generation (RAG): </a:t>
            </a:r>
            <a:r>
              <a:rPr dirty="0" err="1"/>
              <a:t>ancora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, </a:t>
            </a:r>
            <a:r>
              <a:rPr dirty="0" err="1"/>
              <a:t>convertendo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</a:t>
            </a:r>
          </a:p>
          <a:p>
            <a:r>
              <a:rPr dirty="0"/>
              <a:t>2. Faithfulness training: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com </a:t>
            </a:r>
            <a:r>
              <a:rPr dirty="0" err="1"/>
              <a:t>penalização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para </a:t>
            </a:r>
            <a:r>
              <a:rPr dirty="0" err="1"/>
              <a:t>inconsistências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.</a:t>
            </a:r>
          </a:p>
          <a:p>
            <a:r>
              <a:rPr dirty="0"/>
              <a:t>3. Post-hoc correction: </a:t>
            </a:r>
            <a:r>
              <a:rPr dirty="0" err="1"/>
              <a:t>verificadores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detectam</a:t>
            </a:r>
            <a:r>
              <a:rPr dirty="0"/>
              <a:t> e </a:t>
            </a:r>
            <a:r>
              <a:rPr dirty="0" err="1"/>
              <a:t>corrigem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</a:t>
            </a:r>
            <a:r>
              <a:rPr dirty="0" err="1"/>
              <a:t>incorretas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.</a:t>
            </a:r>
          </a:p>
          <a:p>
            <a:r>
              <a:rPr dirty="0"/>
              <a:t>4. Chain-of-thought: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complexo</a:t>
            </a:r>
            <a:r>
              <a:rPr dirty="0"/>
              <a:t>.</a:t>
            </a:r>
          </a:p>
          <a:p>
            <a:r>
              <a:rPr dirty="0"/>
              <a:t>5. Self-consistency: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respostas</a:t>
            </a:r>
            <a:r>
              <a:rPr dirty="0"/>
              <a:t> e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bug a ser </a:t>
            </a:r>
            <a:r>
              <a:rPr dirty="0" err="1"/>
              <a:t>corrigido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emergente</a:t>
            </a:r>
            <a:r>
              <a:rPr dirty="0"/>
              <a:t> de </a:t>
            </a:r>
            <a:r>
              <a:rPr dirty="0" err="1"/>
              <a:t>como</a:t>
            </a:r>
            <a:r>
              <a:rPr dirty="0"/>
              <a:t> LLMs </a:t>
            </a:r>
            <a:r>
              <a:rPr dirty="0" err="1"/>
              <a:t>funcionam</a:t>
            </a:r>
            <a:r>
              <a:rPr dirty="0"/>
              <a:t>.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IA de alto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ter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de grounding (retrieval), </a:t>
            </a:r>
            <a:r>
              <a:rPr dirty="0" err="1"/>
              <a:t>validação</a:t>
            </a:r>
            <a:r>
              <a:rPr dirty="0"/>
              <a:t> (human-in-the-loop) e </a:t>
            </a:r>
            <a:r>
              <a:rPr dirty="0" err="1"/>
              <a:t>monitoramento</a:t>
            </a:r>
            <a:r>
              <a:rPr dirty="0"/>
              <a:t> de faithfulness. </a:t>
            </a:r>
            <a:r>
              <a:rPr dirty="0" err="1"/>
              <a:t>Ignorar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é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sistêmico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Dar o </a:t>
            </a:r>
            <a:r>
              <a:rPr dirty="0" err="1"/>
              <a:t>contraste</a:t>
            </a:r>
            <a:r>
              <a:rPr dirty="0"/>
              <a:t> entre um </a:t>
            </a:r>
            <a:r>
              <a:rPr dirty="0" err="1"/>
              <a:t>pedido</a:t>
            </a:r>
            <a:r>
              <a:rPr dirty="0"/>
              <a:t> </a:t>
            </a:r>
            <a:r>
              <a:rPr dirty="0" err="1"/>
              <a:t>genérico</a:t>
            </a:r>
            <a:r>
              <a:rPr dirty="0"/>
              <a:t> e um </a:t>
            </a:r>
            <a:r>
              <a:rPr dirty="0" err="1"/>
              <a:t>pedido</a:t>
            </a:r>
            <a:r>
              <a:rPr dirty="0"/>
              <a:t> com </a:t>
            </a:r>
            <a:r>
              <a:rPr dirty="0" err="1"/>
              <a:t>narrativa</a:t>
            </a:r>
            <a:r>
              <a:rPr dirty="0"/>
              <a:t>, </a:t>
            </a:r>
            <a:r>
              <a:rPr dirty="0" err="1"/>
              <a:t>restrições</a:t>
            </a:r>
            <a:r>
              <a:rPr dirty="0"/>
              <a:t> e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prático</a:t>
            </a:r>
            <a:r>
              <a:rPr dirty="0"/>
              <a:t>: '</a:t>
            </a:r>
            <a:r>
              <a:rPr dirty="0" err="1"/>
              <a:t>crie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de academia' vs '</a:t>
            </a:r>
            <a:r>
              <a:rPr dirty="0" err="1"/>
              <a:t>crie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para academia de alto </a:t>
            </a:r>
            <a:r>
              <a:rPr dirty="0" err="1"/>
              <a:t>rendimento</a:t>
            </a:r>
            <a:r>
              <a:rPr dirty="0"/>
              <a:t> com </a:t>
            </a:r>
            <a:r>
              <a:rPr dirty="0" err="1"/>
              <a:t>alunos</a:t>
            </a:r>
            <a:r>
              <a:rPr dirty="0"/>
              <a:t> com </a:t>
            </a:r>
            <a:r>
              <a:rPr dirty="0" err="1"/>
              <a:t>restrições</a:t>
            </a:r>
            <a:r>
              <a:rPr dirty="0"/>
              <a:t> </a:t>
            </a:r>
            <a:r>
              <a:rPr dirty="0" err="1"/>
              <a:t>clínicas</a:t>
            </a:r>
            <a:r>
              <a:rPr dirty="0"/>
              <a:t>, histórico </a:t>
            </a:r>
            <a:r>
              <a:rPr dirty="0" err="1"/>
              <a:t>médico</a:t>
            </a:r>
            <a:r>
              <a:rPr dirty="0"/>
              <a:t> </a:t>
            </a:r>
            <a:r>
              <a:rPr dirty="0" err="1"/>
              <a:t>rastreável</a:t>
            </a:r>
            <a:r>
              <a:rPr dirty="0"/>
              <a:t>,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 e </a:t>
            </a:r>
            <a:r>
              <a:rPr dirty="0" err="1"/>
              <a:t>gestão</a:t>
            </a:r>
            <a:r>
              <a:rPr dirty="0"/>
              <a:t> </a:t>
            </a:r>
            <a:r>
              <a:rPr dirty="0" err="1"/>
              <a:t>financeira</a:t>
            </a:r>
            <a:r>
              <a:rPr dirty="0"/>
              <a:t>'. O </a:t>
            </a:r>
            <a:r>
              <a:rPr dirty="0" err="1"/>
              <a:t>segundo</a:t>
            </a:r>
            <a:r>
              <a:rPr dirty="0"/>
              <a:t> prompt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. O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gera</a:t>
            </a:r>
            <a:r>
              <a:rPr dirty="0"/>
              <a:t> CRUD </a:t>
            </a:r>
            <a:r>
              <a:rPr dirty="0" err="1"/>
              <a:t>genérico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serve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negócio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Ji et al. (2023)</a:t>
            </a:r>
          </a:p>
          <a:p>
            <a:r>
              <a:rPr dirty="0"/>
              <a:t>"Survey of Hallucination in Natural Language Generation"</a:t>
            </a:r>
          </a:p>
          <a:p>
            <a:r>
              <a:rPr dirty="0"/>
              <a:t>ACM Computing Surveys, vol. 55, no. 12 | https://dl.acm.org/doi/10.1145/3571730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Sistematizar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—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r>
              <a:rPr dirty="0"/>
              <a:t>, </a:t>
            </a:r>
            <a:r>
              <a:rPr dirty="0" err="1"/>
              <a:t>taxonomia</a:t>
            </a:r>
            <a:r>
              <a:rPr dirty="0"/>
              <a:t>, </a:t>
            </a:r>
            <a:r>
              <a:rPr dirty="0" err="1"/>
              <a:t>causas</a:t>
            </a:r>
            <a:r>
              <a:rPr dirty="0"/>
              <a:t>,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mitigação</a:t>
            </a:r>
            <a:r>
              <a:rPr dirty="0"/>
              <a:t> —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para a </a:t>
            </a:r>
            <a:r>
              <a:rPr dirty="0" err="1"/>
              <a:t>área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DEFINIÇÃO FORMAL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é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fluente</a:t>
            </a:r>
            <a:r>
              <a:rPr dirty="0"/>
              <a:t> e </a:t>
            </a:r>
            <a:r>
              <a:rPr dirty="0" err="1"/>
              <a:t>plausível</a:t>
            </a:r>
            <a:r>
              <a:rPr dirty="0"/>
              <a:t> </a:t>
            </a:r>
            <a:r>
              <a:rPr dirty="0" err="1"/>
              <a:t>linguisticamente</a:t>
            </a:r>
            <a:r>
              <a:rPr dirty="0"/>
              <a:t>, mas </a:t>
            </a:r>
            <a:r>
              <a:rPr dirty="0" err="1"/>
              <a:t>factualmente</a:t>
            </a:r>
            <a:r>
              <a:rPr dirty="0"/>
              <a:t> </a:t>
            </a:r>
            <a:r>
              <a:rPr dirty="0" err="1"/>
              <a:t>incorreto</a:t>
            </a:r>
            <a:r>
              <a:rPr dirty="0"/>
              <a:t>, </a:t>
            </a:r>
            <a:r>
              <a:rPr dirty="0" err="1"/>
              <a:t>inconsistente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distinguem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fundamentais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contradiz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o </a:t>
            </a:r>
            <a:r>
              <a:rPr dirty="0" err="1"/>
              <a:t>documento-fonte</a:t>
            </a:r>
            <a:r>
              <a:rPr dirty="0"/>
              <a:t> (ex: </a:t>
            </a:r>
            <a:r>
              <a:rPr dirty="0" err="1"/>
              <a:t>sumarização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inverte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do original).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verificado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(ex: </a:t>
            </a:r>
            <a:r>
              <a:rPr dirty="0" err="1"/>
              <a:t>detalhes</a:t>
            </a:r>
            <a:r>
              <a:rPr dirty="0"/>
              <a:t> </a:t>
            </a:r>
            <a:r>
              <a:rPr dirty="0" err="1"/>
              <a:t>inventados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documento</a:t>
            </a:r>
            <a:r>
              <a:rPr dirty="0"/>
              <a:t> original, </a:t>
            </a:r>
            <a:r>
              <a:rPr dirty="0" err="1"/>
              <a:t>podendo</a:t>
            </a:r>
            <a:r>
              <a:rPr dirty="0"/>
              <a:t> ser </a:t>
            </a:r>
            <a:r>
              <a:rPr dirty="0" err="1"/>
              <a:t>verdadeiros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real).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sistemática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de 150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2017 e 2022, </a:t>
            </a:r>
            <a:r>
              <a:rPr dirty="0" err="1"/>
              <a:t>cobrindo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NLG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sumarização</a:t>
            </a:r>
            <a:r>
              <a:rPr dirty="0"/>
              <a:t>, </a:t>
            </a:r>
            <a:r>
              <a:rPr dirty="0" err="1"/>
              <a:t>tradução</a:t>
            </a:r>
            <a:r>
              <a:rPr dirty="0"/>
              <a:t>, </a:t>
            </a:r>
            <a:r>
              <a:rPr dirty="0" err="1"/>
              <a:t>diálogo</a:t>
            </a:r>
            <a:r>
              <a:rPr dirty="0"/>
              <a:t>,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, QA e </a:t>
            </a:r>
            <a:r>
              <a:rPr dirty="0" err="1"/>
              <a:t>geração</a:t>
            </a:r>
            <a:r>
              <a:rPr dirty="0"/>
              <a:t> de dados.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constroem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taxonomia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entre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CAUSAS DE ALUCINAÇÃO (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)</a:t>
            </a:r>
          </a:p>
          <a:p>
            <a:r>
              <a:rPr dirty="0"/>
              <a:t>1. Dados de </a:t>
            </a:r>
            <a:r>
              <a:rPr dirty="0" err="1"/>
              <a:t>treinamento</a:t>
            </a:r>
            <a:r>
              <a:rPr dirty="0"/>
              <a:t>: corpus </a:t>
            </a:r>
            <a:r>
              <a:rPr dirty="0" err="1"/>
              <a:t>ruidosos</a:t>
            </a:r>
            <a:r>
              <a:rPr dirty="0"/>
              <a:t>, </a:t>
            </a:r>
            <a:r>
              <a:rPr dirty="0" err="1"/>
              <a:t>inconsistentes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. </a:t>
            </a:r>
            <a:r>
              <a:rPr dirty="0" err="1"/>
              <a:t>Correlações</a:t>
            </a:r>
            <a:r>
              <a:rPr dirty="0"/>
              <a:t> </a:t>
            </a:r>
            <a:r>
              <a:rPr dirty="0" err="1"/>
              <a:t>espúrias</a:t>
            </a:r>
            <a:r>
              <a:rPr dirty="0"/>
              <a:t> no </a:t>
            </a:r>
            <a:r>
              <a:rPr dirty="0" err="1"/>
              <a:t>pré-treinamento</a:t>
            </a:r>
            <a:r>
              <a:rPr dirty="0"/>
              <a:t>. Dados de </a:t>
            </a:r>
            <a:r>
              <a:rPr dirty="0" err="1"/>
              <a:t>alinhamento</a:t>
            </a:r>
            <a:r>
              <a:rPr dirty="0"/>
              <a:t> (RLHF)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recompensam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incorreção</a:t>
            </a:r>
            <a:r>
              <a:rPr dirty="0"/>
              <a:t> factual.</a:t>
            </a:r>
          </a:p>
          <a:p>
            <a:r>
              <a:rPr dirty="0"/>
              <a:t>2.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decodificação</a:t>
            </a:r>
            <a:r>
              <a:rPr dirty="0"/>
              <a:t>: </a:t>
            </a:r>
            <a:r>
              <a:rPr dirty="0" err="1"/>
              <a:t>amostragem</a:t>
            </a:r>
            <a:r>
              <a:rPr dirty="0"/>
              <a:t> com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criatividade</a:t>
            </a:r>
            <a:r>
              <a:rPr dirty="0"/>
              <a:t> mas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. Beam search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 </a:t>
            </a:r>
            <a:r>
              <a:rPr dirty="0" err="1"/>
              <a:t>coerentes</a:t>
            </a:r>
            <a:r>
              <a:rPr dirty="0"/>
              <a:t> mas </a:t>
            </a:r>
            <a:r>
              <a:rPr dirty="0" err="1"/>
              <a:t>incorretas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Arquitetura</a:t>
            </a:r>
            <a:r>
              <a:rPr dirty="0"/>
              <a:t>: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atenção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distribuir</a:t>
            </a:r>
            <a:r>
              <a:rPr dirty="0"/>
              <a:t> peso </a:t>
            </a:r>
            <a:r>
              <a:rPr dirty="0" err="1"/>
              <a:t>em</a:t>
            </a:r>
            <a:r>
              <a:rPr dirty="0"/>
              <a:t> tokens </a:t>
            </a:r>
            <a:r>
              <a:rPr dirty="0" err="1"/>
              <a:t>irrelevantes</a:t>
            </a:r>
            <a:r>
              <a:rPr dirty="0"/>
              <a:t>.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"confabular"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partes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Treinamento</a:t>
            </a:r>
            <a:r>
              <a:rPr dirty="0"/>
              <a:t> de </a:t>
            </a:r>
            <a:r>
              <a:rPr dirty="0" err="1"/>
              <a:t>alinhamento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RLHF </a:t>
            </a:r>
            <a:r>
              <a:rPr dirty="0" err="1"/>
              <a:t>aprendem</a:t>
            </a:r>
            <a:r>
              <a:rPr dirty="0"/>
              <a:t> 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aprovam</a:t>
            </a:r>
            <a:r>
              <a:rPr dirty="0"/>
              <a:t> —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veracidade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MÉTRICAS DE AVALIAÇÃO</a:t>
            </a:r>
          </a:p>
          <a:p>
            <a:r>
              <a:rPr dirty="0"/>
              <a:t>• Faithfulness: </a:t>
            </a:r>
            <a:r>
              <a:rPr dirty="0" err="1"/>
              <a:t>grau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.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NLI (Natural Language Inference)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QA.</a:t>
            </a:r>
          </a:p>
          <a:p>
            <a:r>
              <a:rPr dirty="0"/>
              <a:t>• Factuality: </a:t>
            </a:r>
            <a:r>
              <a:rPr dirty="0" err="1"/>
              <a:t>alinhamento</a:t>
            </a:r>
            <a:r>
              <a:rPr dirty="0"/>
              <a:t> com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externo</a:t>
            </a:r>
            <a:r>
              <a:rPr dirty="0"/>
              <a:t>. Mais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r>
              <a:rPr dirty="0"/>
              <a:t>• ROUGE, </a:t>
            </a:r>
            <a:r>
              <a:rPr dirty="0" err="1"/>
              <a:t>BERTScore</a:t>
            </a:r>
            <a:r>
              <a:rPr dirty="0"/>
              <a:t>: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mas </a:t>
            </a:r>
            <a:r>
              <a:rPr dirty="0" err="1"/>
              <a:t>insensíveis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 — um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alucinado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ter ROUGE alto se o </a:t>
            </a:r>
            <a:r>
              <a:rPr dirty="0" err="1"/>
              <a:t>estilo</a:t>
            </a:r>
            <a:r>
              <a:rPr dirty="0"/>
              <a:t> for similar.</a:t>
            </a:r>
          </a:p>
          <a:p>
            <a:r>
              <a:rPr dirty="0"/>
              <a:t>• </a:t>
            </a:r>
            <a:r>
              <a:rPr dirty="0" err="1"/>
              <a:t>FactScore</a:t>
            </a:r>
            <a:r>
              <a:rPr dirty="0"/>
              <a:t>: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recente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decompõe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e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ESTRATÉGIAS DE MITIGAÇÃO</a:t>
            </a:r>
          </a:p>
          <a:p>
            <a:r>
              <a:rPr dirty="0"/>
              <a:t>1. Retrieval-Augmented Generation (RAG): </a:t>
            </a:r>
            <a:r>
              <a:rPr dirty="0" err="1"/>
              <a:t>ancora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, </a:t>
            </a:r>
            <a:r>
              <a:rPr dirty="0" err="1"/>
              <a:t>convertendo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</a:t>
            </a:r>
          </a:p>
          <a:p>
            <a:r>
              <a:rPr dirty="0"/>
              <a:t>2. Faithfulness training: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com </a:t>
            </a:r>
            <a:r>
              <a:rPr dirty="0" err="1"/>
              <a:t>penalização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para </a:t>
            </a:r>
            <a:r>
              <a:rPr dirty="0" err="1"/>
              <a:t>inconsistências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.</a:t>
            </a:r>
          </a:p>
          <a:p>
            <a:r>
              <a:rPr dirty="0"/>
              <a:t>3. Post-hoc correction: </a:t>
            </a:r>
            <a:r>
              <a:rPr dirty="0" err="1"/>
              <a:t>verificadores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detectam</a:t>
            </a:r>
            <a:r>
              <a:rPr dirty="0"/>
              <a:t> e </a:t>
            </a:r>
            <a:r>
              <a:rPr dirty="0" err="1"/>
              <a:t>corrigem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</a:t>
            </a:r>
            <a:r>
              <a:rPr dirty="0" err="1"/>
              <a:t>incorretas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.</a:t>
            </a:r>
          </a:p>
          <a:p>
            <a:r>
              <a:rPr dirty="0"/>
              <a:t>4. Chain-of-thought: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complexo</a:t>
            </a:r>
            <a:r>
              <a:rPr dirty="0"/>
              <a:t>.</a:t>
            </a:r>
          </a:p>
          <a:p>
            <a:r>
              <a:rPr dirty="0"/>
              <a:t>5. Self-consistency: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respostas</a:t>
            </a:r>
            <a:r>
              <a:rPr dirty="0"/>
              <a:t> e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bug a ser </a:t>
            </a:r>
            <a:r>
              <a:rPr dirty="0" err="1"/>
              <a:t>corrigido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emergente</a:t>
            </a:r>
            <a:r>
              <a:rPr dirty="0"/>
              <a:t> de </a:t>
            </a:r>
            <a:r>
              <a:rPr dirty="0" err="1"/>
              <a:t>como</a:t>
            </a:r>
            <a:r>
              <a:rPr dirty="0"/>
              <a:t> LLMs </a:t>
            </a:r>
            <a:r>
              <a:rPr dirty="0" err="1"/>
              <a:t>funcionam</a:t>
            </a:r>
            <a:r>
              <a:rPr dirty="0"/>
              <a:t>.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IA de alto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ter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de grounding (retrieval), </a:t>
            </a:r>
            <a:r>
              <a:rPr dirty="0" err="1"/>
              <a:t>validação</a:t>
            </a:r>
            <a:r>
              <a:rPr dirty="0"/>
              <a:t> (human-in-the-loop) e </a:t>
            </a:r>
            <a:r>
              <a:rPr dirty="0" err="1"/>
              <a:t>monitoramento</a:t>
            </a:r>
            <a:r>
              <a:rPr dirty="0"/>
              <a:t> de faithfulness. </a:t>
            </a:r>
            <a:r>
              <a:rPr dirty="0" err="1"/>
              <a:t>Ignorar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é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sistêmico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</a:t>
            </a:r>
            <a:r>
              <a:rPr dirty="0" err="1"/>
              <a:t>Amershi</a:t>
            </a:r>
            <a:r>
              <a:rPr dirty="0"/>
              <a:t> et al. (2019)</a:t>
            </a:r>
          </a:p>
          <a:p>
            <a:r>
              <a:rPr dirty="0"/>
              <a:t>"Guidelines for Human-AI Interaction"</a:t>
            </a:r>
          </a:p>
          <a:p>
            <a:r>
              <a:rPr dirty="0"/>
              <a:t>CHI 2019 | https://dl.acm.org/doi/10.1145/3290605.3300233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Derivar</a:t>
            </a:r>
            <a:r>
              <a:rPr dirty="0"/>
              <a:t> um conjunto de </a:t>
            </a:r>
            <a:r>
              <a:rPr dirty="0" err="1"/>
              <a:t>diretrizes</a:t>
            </a:r>
            <a:r>
              <a:rPr dirty="0"/>
              <a:t> de design </a:t>
            </a:r>
            <a:r>
              <a:rPr dirty="0" err="1"/>
              <a:t>aplicáveis</a:t>
            </a:r>
            <a:r>
              <a:rPr dirty="0"/>
              <a:t> e </a:t>
            </a:r>
            <a:r>
              <a:rPr dirty="0" err="1"/>
              <a:t>testáveis</a:t>
            </a:r>
            <a:r>
              <a:rPr dirty="0"/>
              <a:t> para </a:t>
            </a:r>
            <a:r>
              <a:rPr dirty="0" err="1"/>
              <a:t>sistemas</a:t>
            </a:r>
            <a:r>
              <a:rPr dirty="0"/>
              <a:t> de IA </a:t>
            </a:r>
            <a:r>
              <a:rPr dirty="0" err="1"/>
              <a:t>interativos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gerais</a:t>
            </a:r>
            <a:r>
              <a:rPr dirty="0"/>
              <a:t> para </a:t>
            </a:r>
            <a:r>
              <a:rPr dirty="0" err="1"/>
              <a:t>cobrir</a:t>
            </a:r>
            <a:r>
              <a:rPr dirty="0"/>
              <a:t>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e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 para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de design </a:t>
            </a:r>
            <a:r>
              <a:rPr dirty="0" err="1"/>
              <a:t>concretas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iterativo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: (1) </a:t>
            </a:r>
            <a:r>
              <a:rPr dirty="0" err="1"/>
              <a:t>revisão</a:t>
            </a:r>
            <a:r>
              <a:rPr dirty="0"/>
              <a:t> e </a:t>
            </a:r>
            <a:r>
              <a:rPr dirty="0" err="1"/>
              <a:t>síntese</a:t>
            </a:r>
            <a:r>
              <a:rPr dirty="0"/>
              <a:t> de 168 </a:t>
            </a:r>
            <a:r>
              <a:rPr dirty="0" err="1"/>
              <a:t>princípios</a:t>
            </a:r>
            <a:r>
              <a:rPr dirty="0"/>
              <a:t> de design de IA de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</a:t>
            </a:r>
            <a:r>
              <a:rPr dirty="0" err="1"/>
              <a:t>resultando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 </a:t>
            </a:r>
            <a:r>
              <a:rPr dirty="0" err="1"/>
              <a:t>heurísticas</a:t>
            </a:r>
            <a:r>
              <a:rPr dirty="0"/>
              <a:t> </a:t>
            </a:r>
            <a:r>
              <a:rPr dirty="0" err="1"/>
              <a:t>candidatas</a:t>
            </a:r>
            <a:r>
              <a:rPr dirty="0"/>
              <a:t>; (2)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49 designers e </a:t>
            </a:r>
            <a:r>
              <a:rPr dirty="0" err="1"/>
              <a:t>pesquisadores</a:t>
            </a:r>
            <a:r>
              <a:rPr dirty="0"/>
              <a:t> de 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contextos</a:t>
            </a:r>
            <a:r>
              <a:rPr dirty="0"/>
              <a:t> de design real, com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; (3) </a:t>
            </a:r>
            <a:r>
              <a:rPr dirty="0" err="1"/>
              <a:t>refinamento</a:t>
            </a:r>
            <a:r>
              <a:rPr dirty="0"/>
              <a:t> para 18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finais</a:t>
            </a:r>
            <a:r>
              <a:rPr dirty="0"/>
              <a:t> com </a:t>
            </a: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, </a:t>
            </a:r>
            <a:r>
              <a:rPr dirty="0" err="1"/>
              <a:t>avaliadas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estudo</a:t>
            </a:r>
            <a:r>
              <a:rPr dirty="0"/>
              <a:t> com 169 </a:t>
            </a:r>
            <a:r>
              <a:rPr dirty="0" err="1"/>
              <a:t>participantes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18 </a:t>
            </a:r>
            <a:r>
              <a:rPr dirty="0" err="1"/>
              <a:t>produtos</a:t>
            </a:r>
            <a:r>
              <a:rPr dirty="0"/>
              <a:t> de IA </a:t>
            </a:r>
            <a:r>
              <a:rPr dirty="0" err="1"/>
              <a:t>existentes</a:t>
            </a:r>
            <a:r>
              <a:rPr dirty="0"/>
              <a:t> da Microsoft.</a:t>
            </a:r>
          </a:p>
          <a:p>
            <a:endParaRPr dirty="0"/>
          </a:p>
          <a:p>
            <a:r>
              <a:rPr dirty="0"/>
              <a:t>AS 18 DIRETRIZES (</a:t>
            </a:r>
            <a:r>
              <a:rPr dirty="0" err="1"/>
              <a:t>organizadas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4 </a:t>
            </a:r>
            <a:r>
              <a:rPr dirty="0" err="1"/>
              <a:t>fases</a:t>
            </a:r>
            <a:r>
              <a:rPr dirty="0"/>
              <a:t> </a:t>
            </a:r>
            <a:r>
              <a:rPr dirty="0" err="1"/>
              <a:t>temporais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FASE 1 — </a:t>
            </a:r>
            <a:r>
              <a:rPr dirty="0" err="1"/>
              <a:t>Inicialmente</a:t>
            </a:r>
            <a:r>
              <a:rPr dirty="0"/>
              <a:t> (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encontra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):</a:t>
            </a:r>
          </a:p>
          <a:p>
            <a:r>
              <a:rPr dirty="0"/>
              <a:t>G1.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fazer</a:t>
            </a:r>
            <a:r>
              <a:rPr dirty="0"/>
              <a:t>.</a:t>
            </a:r>
          </a:p>
          <a:p>
            <a:r>
              <a:rPr dirty="0"/>
              <a:t>G2.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faz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.</a:t>
            </a:r>
          </a:p>
          <a:p>
            <a:r>
              <a:rPr dirty="0"/>
              <a:t>G3. </a:t>
            </a:r>
            <a:r>
              <a:rPr dirty="0" err="1"/>
              <a:t>Calibrar</a:t>
            </a:r>
            <a:r>
              <a:rPr dirty="0"/>
              <a:t> a </a:t>
            </a:r>
            <a:r>
              <a:rPr dirty="0" err="1"/>
              <a:t>confiança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com base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 e no </a:t>
            </a:r>
            <a:r>
              <a:rPr dirty="0" err="1"/>
              <a:t>impacto</a:t>
            </a:r>
            <a:r>
              <a:rPr dirty="0"/>
              <a:t> dos </a:t>
            </a:r>
            <a:r>
              <a:rPr dirty="0" err="1"/>
              <a:t>erros</a:t>
            </a:r>
            <a:r>
              <a:rPr dirty="0"/>
              <a:t>.</a:t>
            </a:r>
          </a:p>
          <a:p>
            <a:r>
              <a:rPr dirty="0"/>
              <a:t>G4. </a:t>
            </a:r>
            <a:r>
              <a:rPr dirty="0" err="1"/>
              <a:t>Apresentar</a:t>
            </a:r>
            <a:r>
              <a:rPr dirty="0"/>
              <a:t> as </a:t>
            </a:r>
            <a:r>
              <a:rPr dirty="0" err="1"/>
              <a:t>limitações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de forma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afaste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motivo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2 — Durante a </a:t>
            </a:r>
            <a:r>
              <a:rPr dirty="0" err="1"/>
              <a:t>interação</a:t>
            </a:r>
            <a:r>
              <a:rPr dirty="0"/>
              <a:t>:</a:t>
            </a:r>
          </a:p>
          <a:p>
            <a:r>
              <a:rPr dirty="0"/>
              <a:t>G5. </a:t>
            </a:r>
            <a:r>
              <a:rPr dirty="0" err="1"/>
              <a:t>Combinar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com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G6. </a:t>
            </a:r>
            <a:r>
              <a:rPr dirty="0" err="1"/>
              <a:t>Mitigar</a:t>
            </a:r>
            <a:r>
              <a:rPr dirty="0"/>
              <a:t> o </a:t>
            </a:r>
            <a:r>
              <a:rPr dirty="0" err="1"/>
              <a:t>impacto</a:t>
            </a:r>
            <a:r>
              <a:rPr dirty="0"/>
              <a:t> social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G7.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eficiência</a:t>
            </a:r>
            <a:r>
              <a:rPr dirty="0"/>
              <a:t> para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experientes</a:t>
            </a:r>
            <a:r>
              <a:rPr dirty="0"/>
              <a:t>.</a:t>
            </a:r>
          </a:p>
          <a:p>
            <a:r>
              <a:rPr dirty="0"/>
              <a:t>G8. Ser </a:t>
            </a:r>
            <a:r>
              <a:rPr dirty="0" err="1"/>
              <a:t>contextualmente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: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adequadas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.</a:t>
            </a:r>
          </a:p>
          <a:p>
            <a:r>
              <a:rPr dirty="0"/>
              <a:t>G9. </a:t>
            </a:r>
            <a:r>
              <a:rPr dirty="0" err="1"/>
              <a:t>Apoiar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.</a:t>
            </a:r>
          </a:p>
          <a:p>
            <a:r>
              <a:rPr dirty="0"/>
              <a:t>G10.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</a:t>
            </a:r>
            <a:r>
              <a:rPr dirty="0" err="1"/>
              <a:t>hábil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consegue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a </a:t>
            </a:r>
            <a:r>
              <a:rPr dirty="0" err="1"/>
              <a:t>tarefa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3 — Quando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:</a:t>
            </a:r>
          </a:p>
          <a:p>
            <a:r>
              <a:rPr dirty="0"/>
              <a:t>G11. </a:t>
            </a:r>
            <a:r>
              <a:rPr dirty="0" err="1"/>
              <a:t>Tornar</a:t>
            </a:r>
            <a:r>
              <a:rPr dirty="0"/>
              <a:t> claro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fez o </a:t>
            </a:r>
            <a:r>
              <a:rPr dirty="0" err="1"/>
              <a:t>que</a:t>
            </a:r>
            <a:r>
              <a:rPr dirty="0"/>
              <a:t> fez.</a:t>
            </a:r>
          </a:p>
          <a:p>
            <a:r>
              <a:rPr dirty="0"/>
              <a:t>G12. </a:t>
            </a:r>
            <a:r>
              <a:rPr dirty="0" err="1"/>
              <a:t>Lembrar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é </a:t>
            </a:r>
            <a:r>
              <a:rPr dirty="0" err="1"/>
              <a:t>falível</a:t>
            </a:r>
            <a:r>
              <a:rPr dirty="0"/>
              <a:t>.</a:t>
            </a:r>
          </a:p>
          <a:p>
            <a:r>
              <a:rPr dirty="0"/>
              <a:t>G13.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reversão</a:t>
            </a:r>
            <a:r>
              <a:rPr dirty="0"/>
              <a:t>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G14.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avaliação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4 — Ao </a:t>
            </a:r>
            <a:r>
              <a:rPr dirty="0" err="1"/>
              <a:t>longo</a:t>
            </a:r>
            <a:r>
              <a:rPr dirty="0"/>
              <a:t> do tempo:</a:t>
            </a:r>
          </a:p>
          <a:p>
            <a:r>
              <a:rPr dirty="0"/>
              <a:t>G15. </a:t>
            </a:r>
            <a:r>
              <a:rPr dirty="0" err="1"/>
              <a:t>Monitorar</a:t>
            </a:r>
            <a:r>
              <a:rPr dirty="0"/>
              <a:t> e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mudanças</a:t>
            </a:r>
            <a:r>
              <a:rPr dirty="0"/>
              <a:t> no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G16.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adaptar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G17. </a:t>
            </a:r>
            <a:r>
              <a:rPr dirty="0" err="1"/>
              <a:t>Preservar</a:t>
            </a:r>
            <a:r>
              <a:rPr dirty="0"/>
              <a:t> a </a:t>
            </a:r>
            <a:r>
              <a:rPr dirty="0" err="1"/>
              <a:t>privacidade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personalizar</a:t>
            </a:r>
            <a:r>
              <a:rPr dirty="0"/>
              <a:t>.</a:t>
            </a:r>
          </a:p>
          <a:p>
            <a:r>
              <a:rPr dirty="0"/>
              <a:t>G18. </a:t>
            </a:r>
            <a:r>
              <a:rPr dirty="0" err="1"/>
              <a:t>Respeitar</a:t>
            </a:r>
            <a:r>
              <a:rPr dirty="0"/>
              <a:t>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Designers </a:t>
            </a:r>
            <a:r>
              <a:rPr dirty="0" err="1"/>
              <a:t>acham</a:t>
            </a:r>
            <a:r>
              <a:rPr dirty="0"/>
              <a:t>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úteis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 "</a:t>
            </a:r>
            <a:r>
              <a:rPr dirty="0" err="1"/>
              <a:t>quando</a:t>
            </a:r>
            <a:r>
              <a:rPr dirty="0"/>
              <a:t>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" e "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tempo" — </a:t>
            </a:r>
            <a:r>
              <a:rPr dirty="0" err="1"/>
              <a:t>justamente</a:t>
            </a:r>
            <a:r>
              <a:rPr dirty="0"/>
              <a:t> as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consideradas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práticas</a:t>
            </a:r>
            <a:r>
              <a:rPr dirty="0"/>
              <a:t> </a:t>
            </a:r>
            <a:r>
              <a:rPr dirty="0" err="1"/>
              <a:t>correntes</a:t>
            </a:r>
            <a:r>
              <a:rPr dirty="0"/>
              <a:t> de design. A </a:t>
            </a:r>
            <a:r>
              <a:rPr dirty="0" err="1"/>
              <a:t>diretriz</a:t>
            </a:r>
            <a:r>
              <a:rPr dirty="0"/>
              <a:t> G2 (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) é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frequentemente</a:t>
            </a:r>
            <a:r>
              <a:rPr dirty="0"/>
              <a:t> </a:t>
            </a:r>
            <a:r>
              <a:rPr dirty="0" err="1"/>
              <a:t>violada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 reais.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derivadas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de </a:t>
            </a:r>
            <a:r>
              <a:rPr dirty="0" err="1"/>
              <a:t>produtos</a:t>
            </a:r>
            <a:r>
              <a:rPr dirty="0"/>
              <a:t> de </a:t>
            </a:r>
            <a:r>
              <a:rPr dirty="0" err="1"/>
              <a:t>produtividade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conversacionais</a:t>
            </a:r>
            <a:r>
              <a:rPr dirty="0"/>
              <a:t> da Microsoft. </a:t>
            </a:r>
            <a:r>
              <a:rPr dirty="0" err="1"/>
              <a:t>Aplicabilidade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a </a:t>
            </a:r>
            <a:r>
              <a:rPr dirty="0" err="1"/>
              <a:t>domínios</a:t>
            </a:r>
            <a:r>
              <a:rPr dirty="0"/>
              <a:t> de alto </a:t>
            </a:r>
            <a:r>
              <a:rPr dirty="0" err="1"/>
              <a:t>risco</a:t>
            </a:r>
            <a:r>
              <a:rPr dirty="0"/>
              <a:t> (</a:t>
            </a:r>
            <a:r>
              <a:rPr dirty="0" err="1"/>
              <a:t>medicina</a:t>
            </a:r>
            <a:r>
              <a:rPr dirty="0"/>
              <a:t>, </a:t>
            </a:r>
            <a:r>
              <a:rPr dirty="0" err="1"/>
              <a:t>direito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)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descritivas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algoritmos</a:t>
            </a:r>
            <a:r>
              <a:rPr dirty="0"/>
              <a:t> de design —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julgamento</a:t>
            </a:r>
            <a:r>
              <a:rPr dirty="0"/>
              <a:t> contextual.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Amershi</a:t>
            </a:r>
            <a:r>
              <a:rPr dirty="0"/>
              <a:t> (2019) é o framework de </a:t>
            </a:r>
            <a:r>
              <a:rPr dirty="0" err="1"/>
              <a:t>governança</a:t>
            </a:r>
            <a:r>
              <a:rPr dirty="0"/>
              <a:t> </a:t>
            </a:r>
            <a:r>
              <a:rPr dirty="0" err="1"/>
              <a:t>implícito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a aula. Cada </a:t>
            </a:r>
            <a:r>
              <a:rPr dirty="0" err="1"/>
              <a:t>decisão</a:t>
            </a:r>
            <a:r>
              <a:rPr dirty="0"/>
              <a:t> de design do </a:t>
            </a:r>
            <a:r>
              <a:rPr dirty="0" err="1"/>
              <a:t>sistema</a:t>
            </a:r>
            <a:r>
              <a:rPr dirty="0"/>
              <a:t> da academia —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alertar</a:t>
            </a:r>
            <a:r>
              <a:rPr dirty="0"/>
              <a:t> o professor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restrição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mostrar</a:t>
            </a:r>
            <a:r>
              <a:rPr dirty="0"/>
              <a:t> histórico de forma </a:t>
            </a:r>
            <a:r>
              <a:rPr dirty="0" err="1"/>
              <a:t>acionável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registrar </a:t>
            </a:r>
            <a:r>
              <a:rPr dirty="0" err="1"/>
              <a:t>mudanças</a:t>
            </a:r>
            <a:r>
              <a:rPr dirty="0"/>
              <a:t> de plano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instância</a:t>
            </a:r>
            <a:r>
              <a:rPr dirty="0"/>
              <a:t> dessas </a:t>
            </a:r>
            <a:r>
              <a:rPr dirty="0" err="1"/>
              <a:t>diretrizes</a:t>
            </a:r>
            <a:r>
              <a:rPr dirty="0"/>
              <a:t>. O human-in-the-loop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opção</a:t>
            </a:r>
            <a:r>
              <a:rPr dirty="0"/>
              <a:t> de design: é </a:t>
            </a:r>
            <a:r>
              <a:rPr dirty="0" err="1"/>
              <a:t>diretriz</a:t>
            </a:r>
            <a:r>
              <a:rPr dirty="0"/>
              <a:t> G9.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Ressaltar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maturidade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IA </a:t>
            </a:r>
            <a:r>
              <a:rPr dirty="0" err="1"/>
              <a:t>sai</a:t>
            </a:r>
            <a:r>
              <a:rPr dirty="0"/>
              <a:t> da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 </a:t>
            </a:r>
            <a:r>
              <a:rPr dirty="0" err="1"/>
              <a:t>mágica</a:t>
            </a:r>
            <a:r>
              <a:rPr dirty="0"/>
              <a:t> e </a:t>
            </a:r>
            <a:r>
              <a:rPr dirty="0" err="1"/>
              <a:t>vai</a:t>
            </a:r>
            <a:r>
              <a:rPr dirty="0"/>
              <a:t> para </a:t>
            </a:r>
            <a:r>
              <a:rPr dirty="0" err="1"/>
              <a:t>projeto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Prompt Engineering é </a:t>
            </a:r>
            <a:r>
              <a:rPr dirty="0" err="1"/>
              <a:t>nível</a:t>
            </a:r>
            <a:r>
              <a:rPr dirty="0"/>
              <a:t> 1. Context Engineering é </a:t>
            </a:r>
            <a:r>
              <a:rPr dirty="0" err="1"/>
              <a:t>nível</a:t>
            </a:r>
            <a:r>
              <a:rPr dirty="0"/>
              <a:t> 2: </a:t>
            </a:r>
            <a:r>
              <a:rPr dirty="0" err="1"/>
              <a:t>projetar</a:t>
            </a:r>
            <a:r>
              <a:rPr dirty="0"/>
              <a:t> o </a:t>
            </a:r>
            <a:r>
              <a:rPr dirty="0" err="1"/>
              <a:t>ambiente</a:t>
            </a:r>
            <a:r>
              <a:rPr dirty="0"/>
              <a:t> </a:t>
            </a:r>
            <a:r>
              <a:rPr dirty="0" err="1"/>
              <a:t>informacional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— </a:t>
            </a:r>
            <a:r>
              <a:rPr dirty="0" err="1"/>
              <a:t>objetivo</a:t>
            </a:r>
            <a:r>
              <a:rPr dirty="0"/>
              <a:t>, </a:t>
            </a:r>
            <a:r>
              <a:rPr dirty="0" err="1"/>
              <a:t>domínio</a:t>
            </a:r>
            <a:r>
              <a:rPr dirty="0"/>
              <a:t>, </a:t>
            </a:r>
            <a:r>
              <a:rPr dirty="0" err="1"/>
              <a:t>restrições</a:t>
            </a:r>
            <a:r>
              <a:rPr dirty="0"/>
              <a:t>, </a:t>
            </a:r>
            <a:r>
              <a:rPr dirty="0" err="1"/>
              <a:t>saída</a:t>
            </a:r>
            <a:r>
              <a:rPr dirty="0"/>
              <a:t> </a:t>
            </a:r>
            <a:r>
              <a:rPr dirty="0" err="1"/>
              <a:t>esperada</a:t>
            </a:r>
            <a:r>
              <a:rPr dirty="0"/>
              <a:t>,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validação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Sahoo et al. (2024)</a:t>
            </a:r>
          </a:p>
          <a:p>
            <a:r>
              <a:rPr dirty="0"/>
              <a:t>"A Systematic Survey of Prompt Engineering in Large Language Models: Techniques and Applications"</a:t>
            </a:r>
          </a:p>
          <a:p>
            <a:r>
              <a:rPr dirty="0"/>
              <a:t>arXiv:2402.07927 | https://arxiv.org/abs/2402.07927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Organizar</a:t>
            </a:r>
            <a:r>
              <a:rPr dirty="0"/>
              <a:t> o campo </a:t>
            </a:r>
            <a:r>
              <a:rPr dirty="0" err="1"/>
              <a:t>emergente</a:t>
            </a:r>
            <a:r>
              <a:rPr dirty="0"/>
              <a:t> de prompt engineering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taxonomia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, </a:t>
            </a:r>
            <a:r>
              <a:rPr dirty="0" err="1"/>
              <a:t>comparar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tarefa</a:t>
            </a:r>
            <a:r>
              <a:rPr dirty="0"/>
              <a:t>, e </a:t>
            </a:r>
            <a:r>
              <a:rPr dirty="0" err="1"/>
              <a:t>identificar</a:t>
            </a:r>
            <a:r>
              <a:rPr dirty="0"/>
              <a:t> lacunas de </a:t>
            </a:r>
            <a:r>
              <a:rPr dirty="0" err="1"/>
              <a:t>pesquisa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TAXONOMIA DE TÉCNICAS</a:t>
            </a:r>
          </a:p>
          <a:p>
            <a:endParaRPr dirty="0"/>
          </a:p>
          <a:p>
            <a:r>
              <a:rPr dirty="0"/>
              <a:t>NÍVEL 1 — Prompting </a:t>
            </a:r>
            <a:r>
              <a:rPr dirty="0" err="1"/>
              <a:t>básico</a:t>
            </a:r>
            <a:r>
              <a:rPr dirty="0"/>
              <a:t>:</a:t>
            </a:r>
          </a:p>
          <a:p>
            <a:r>
              <a:rPr dirty="0"/>
              <a:t>• Zero-shot: </a:t>
            </a:r>
            <a:r>
              <a:rPr dirty="0" err="1"/>
              <a:t>instrução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exemplos</a:t>
            </a:r>
            <a:r>
              <a:rPr dirty="0"/>
              <a:t>. </a:t>
            </a:r>
            <a:r>
              <a:rPr dirty="0" err="1"/>
              <a:t>Funciona</a:t>
            </a:r>
            <a:r>
              <a:rPr dirty="0"/>
              <a:t> para </a:t>
            </a:r>
            <a:r>
              <a:rPr dirty="0" err="1"/>
              <a:t>tarefas</a:t>
            </a:r>
            <a:r>
              <a:rPr dirty="0"/>
              <a:t> simples, </a:t>
            </a:r>
            <a:r>
              <a:rPr dirty="0" err="1"/>
              <a:t>degrada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multi-</a:t>
            </a:r>
            <a:r>
              <a:rPr dirty="0" err="1"/>
              <a:t>passo</a:t>
            </a:r>
            <a:r>
              <a:rPr dirty="0"/>
              <a:t>.</a:t>
            </a:r>
          </a:p>
          <a:p>
            <a:r>
              <a:rPr dirty="0"/>
              <a:t>• Few-shot (in-context learning): </a:t>
            </a:r>
            <a:r>
              <a:rPr dirty="0" err="1"/>
              <a:t>exemplos</a:t>
            </a:r>
            <a:r>
              <a:rPr dirty="0"/>
              <a:t> de entrada-</a:t>
            </a:r>
            <a:r>
              <a:rPr dirty="0" err="1"/>
              <a:t>saída</a:t>
            </a:r>
            <a:r>
              <a:rPr dirty="0"/>
              <a:t> no prompt. </a:t>
            </a:r>
            <a:r>
              <a:rPr dirty="0" err="1"/>
              <a:t>Melhora</a:t>
            </a:r>
            <a:r>
              <a:rPr dirty="0"/>
              <a:t> </a:t>
            </a:r>
            <a:r>
              <a:rPr dirty="0" err="1"/>
              <a:t>drasticamente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estruturadas</a:t>
            </a:r>
            <a:r>
              <a:rPr dirty="0"/>
              <a:t>. </a:t>
            </a:r>
            <a:r>
              <a:rPr dirty="0" err="1"/>
              <a:t>Sensível</a:t>
            </a:r>
            <a:r>
              <a:rPr dirty="0"/>
              <a:t> à </a:t>
            </a:r>
            <a:r>
              <a:rPr dirty="0" err="1"/>
              <a:t>ordem</a:t>
            </a:r>
            <a:r>
              <a:rPr dirty="0"/>
              <a:t> e </a:t>
            </a:r>
            <a:r>
              <a:rPr dirty="0" err="1"/>
              <a:t>qualidade</a:t>
            </a:r>
            <a:r>
              <a:rPr dirty="0"/>
              <a:t> dos </a:t>
            </a:r>
            <a:r>
              <a:rPr dirty="0" err="1"/>
              <a:t>exemplos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NÍVEL 2 — Prompting com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explícito</a:t>
            </a:r>
            <a:r>
              <a:rPr dirty="0"/>
              <a:t> (Chain-of-Thought):</a:t>
            </a:r>
          </a:p>
          <a:p>
            <a:r>
              <a:rPr dirty="0"/>
              <a:t>• </a:t>
            </a:r>
            <a:r>
              <a:rPr dirty="0" err="1"/>
              <a:t>CoT</a:t>
            </a:r>
            <a:r>
              <a:rPr dirty="0"/>
              <a:t> standard: </a:t>
            </a:r>
            <a:r>
              <a:rPr dirty="0" err="1"/>
              <a:t>adicionar</a:t>
            </a:r>
            <a:r>
              <a:rPr dirty="0"/>
              <a:t> "</a:t>
            </a:r>
            <a:r>
              <a:rPr dirty="0" err="1"/>
              <a:t>vamos</a:t>
            </a:r>
            <a:r>
              <a:rPr dirty="0"/>
              <a:t> </a:t>
            </a:r>
            <a:r>
              <a:rPr dirty="0" err="1"/>
              <a:t>pensar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"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exemplos</a:t>
            </a:r>
            <a:r>
              <a:rPr dirty="0"/>
              <a:t> com </a:t>
            </a:r>
            <a:r>
              <a:rPr dirty="0" err="1"/>
              <a:t>cadeia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. Wei et al. (2022)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ganhos</a:t>
            </a:r>
            <a:r>
              <a:rPr dirty="0"/>
              <a:t> de 20-40% </a:t>
            </a:r>
            <a:r>
              <a:rPr dirty="0" err="1"/>
              <a:t>em</a:t>
            </a:r>
            <a:r>
              <a:rPr dirty="0"/>
              <a:t> benchmarks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matemático</a:t>
            </a:r>
            <a:r>
              <a:rPr dirty="0"/>
              <a:t>.</a:t>
            </a:r>
          </a:p>
          <a:p>
            <a:r>
              <a:rPr dirty="0"/>
              <a:t>• Zero-shot </a:t>
            </a:r>
            <a:r>
              <a:rPr dirty="0" err="1"/>
              <a:t>CoT</a:t>
            </a:r>
            <a:r>
              <a:rPr dirty="0"/>
              <a:t>: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exemplos</a:t>
            </a:r>
            <a:r>
              <a:rPr dirty="0"/>
              <a:t>, </a:t>
            </a:r>
            <a:r>
              <a:rPr dirty="0" err="1"/>
              <a:t>apenas</a:t>
            </a:r>
            <a:r>
              <a:rPr dirty="0"/>
              <a:t> a </a:t>
            </a:r>
            <a:r>
              <a:rPr dirty="0" err="1"/>
              <a:t>instrução</a:t>
            </a:r>
            <a:r>
              <a:rPr dirty="0"/>
              <a:t> de </a:t>
            </a:r>
            <a:r>
              <a:rPr dirty="0" err="1"/>
              <a:t>raciocinar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.</a:t>
            </a:r>
          </a:p>
          <a:p>
            <a:r>
              <a:rPr dirty="0"/>
              <a:t>• Auto-</a:t>
            </a:r>
            <a:r>
              <a:rPr dirty="0" err="1"/>
              <a:t>CoT</a:t>
            </a:r>
            <a:r>
              <a:rPr dirty="0"/>
              <a:t>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as </a:t>
            </a:r>
            <a:r>
              <a:rPr dirty="0" err="1"/>
              <a:t>cadeias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via clustering e </a:t>
            </a:r>
            <a:r>
              <a:rPr dirty="0" err="1"/>
              <a:t>seleção</a:t>
            </a:r>
            <a:r>
              <a:rPr dirty="0"/>
              <a:t> de </a:t>
            </a: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representativos</a:t>
            </a:r>
            <a:r>
              <a:rPr dirty="0"/>
              <a:t>.</a:t>
            </a:r>
          </a:p>
          <a:p>
            <a:r>
              <a:rPr dirty="0"/>
              <a:t>• Tree of Thought (</a:t>
            </a:r>
            <a:r>
              <a:rPr dirty="0" err="1"/>
              <a:t>ToT</a:t>
            </a:r>
            <a:r>
              <a:rPr dirty="0"/>
              <a:t>): </a:t>
            </a:r>
            <a:r>
              <a:rPr dirty="0" err="1"/>
              <a:t>explorar</a:t>
            </a:r>
            <a:r>
              <a:rPr dirty="0"/>
              <a:t>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caminhos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paralelo</a:t>
            </a:r>
            <a:r>
              <a:rPr dirty="0"/>
              <a:t>, com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poda</a:t>
            </a:r>
            <a:r>
              <a:rPr dirty="0"/>
              <a:t>. </a:t>
            </a:r>
            <a:r>
              <a:rPr dirty="0" err="1"/>
              <a:t>Melhor</a:t>
            </a:r>
            <a:r>
              <a:rPr dirty="0"/>
              <a:t> para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busca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NÍVEL 3 — </a:t>
            </a:r>
            <a:r>
              <a:rPr dirty="0" err="1"/>
              <a:t>Decomposição</a:t>
            </a:r>
            <a:r>
              <a:rPr dirty="0"/>
              <a:t> de </a:t>
            </a:r>
            <a:r>
              <a:rPr dirty="0" err="1"/>
              <a:t>problemas</a:t>
            </a:r>
            <a:r>
              <a:rPr dirty="0"/>
              <a:t>:</a:t>
            </a:r>
          </a:p>
          <a:p>
            <a:r>
              <a:rPr dirty="0"/>
              <a:t>• Least-to-most: </a:t>
            </a:r>
            <a:r>
              <a:rPr dirty="0" err="1"/>
              <a:t>decompor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complexo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subproblemas</a:t>
            </a:r>
            <a:r>
              <a:rPr dirty="0"/>
              <a:t>, resolver </a:t>
            </a:r>
            <a:r>
              <a:rPr dirty="0" err="1"/>
              <a:t>sequencialmente</a:t>
            </a:r>
            <a:r>
              <a:rPr dirty="0"/>
              <a:t>.</a:t>
            </a:r>
          </a:p>
          <a:p>
            <a:r>
              <a:rPr dirty="0"/>
              <a:t>• Plan-and-Solve: </a:t>
            </a:r>
            <a:r>
              <a:rPr dirty="0" err="1"/>
              <a:t>gerar</a:t>
            </a:r>
            <a:r>
              <a:rPr dirty="0"/>
              <a:t> plano antes de </a:t>
            </a:r>
            <a:r>
              <a:rPr dirty="0" err="1"/>
              <a:t>executar</a:t>
            </a:r>
            <a:r>
              <a:rPr dirty="0"/>
              <a:t> —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erros</a:t>
            </a:r>
            <a:r>
              <a:rPr dirty="0"/>
              <a:t> de </a:t>
            </a:r>
            <a:r>
              <a:rPr dirty="0" err="1"/>
              <a:t>cálculo</a:t>
            </a:r>
            <a:r>
              <a:rPr dirty="0"/>
              <a:t> e </a:t>
            </a:r>
            <a:r>
              <a:rPr dirty="0" err="1"/>
              <a:t>esquecimento</a:t>
            </a:r>
            <a:r>
              <a:rPr dirty="0"/>
              <a:t> de </a:t>
            </a:r>
            <a:r>
              <a:rPr dirty="0" err="1"/>
              <a:t>passos</a:t>
            </a:r>
            <a:r>
              <a:rPr dirty="0"/>
              <a:t>.</a:t>
            </a:r>
          </a:p>
          <a:p>
            <a:r>
              <a:rPr dirty="0"/>
              <a:t>• Decomposed Prompting: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subproblema</a:t>
            </a:r>
            <a:r>
              <a:rPr dirty="0"/>
              <a:t> </a:t>
            </a:r>
            <a:r>
              <a:rPr dirty="0" err="1"/>
              <a:t>resolvido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um prompt </a:t>
            </a:r>
            <a:r>
              <a:rPr dirty="0" err="1"/>
              <a:t>especializado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NÍVEL 4 — Auto-</a:t>
            </a:r>
            <a:r>
              <a:rPr dirty="0" err="1"/>
              <a:t>refinamento</a:t>
            </a:r>
            <a:r>
              <a:rPr dirty="0"/>
              <a:t> e ensemble:</a:t>
            </a:r>
          </a:p>
          <a:p>
            <a:r>
              <a:rPr dirty="0"/>
              <a:t>• Self-refinement: </a:t>
            </a:r>
            <a:r>
              <a:rPr dirty="0" err="1"/>
              <a:t>gerar</a:t>
            </a:r>
            <a:r>
              <a:rPr dirty="0"/>
              <a:t>, </a:t>
            </a:r>
            <a:r>
              <a:rPr dirty="0" err="1"/>
              <a:t>criticar</a:t>
            </a:r>
            <a:r>
              <a:rPr dirty="0"/>
              <a:t> e </a:t>
            </a:r>
            <a:r>
              <a:rPr dirty="0" err="1"/>
              <a:t>revisar</a:t>
            </a:r>
            <a:r>
              <a:rPr dirty="0"/>
              <a:t> a </a:t>
            </a:r>
            <a:r>
              <a:rPr dirty="0" err="1"/>
              <a:t>própria</a:t>
            </a:r>
            <a:r>
              <a:rPr dirty="0"/>
              <a:t> </a:t>
            </a:r>
            <a:r>
              <a:rPr dirty="0" err="1"/>
              <a:t>saída</a:t>
            </a:r>
            <a:r>
              <a:rPr dirty="0"/>
              <a:t> </a:t>
            </a:r>
            <a:r>
              <a:rPr dirty="0" err="1"/>
              <a:t>iterativamente</a:t>
            </a:r>
            <a:r>
              <a:rPr dirty="0"/>
              <a:t>.</a:t>
            </a:r>
          </a:p>
          <a:p>
            <a:r>
              <a:rPr dirty="0"/>
              <a:t>• Self-consistency: </a:t>
            </a:r>
            <a:r>
              <a:rPr dirty="0" err="1"/>
              <a:t>gerar</a:t>
            </a:r>
            <a:r>
              <a:rPr dirty="0"/>
              <a:t> N </a:t>
            </a:r>
            <a:r>
              <a:rPr dirty="0" err="1"/>
              <a:t>respostas</a:t>
            </a:r>
            <a:r>
              <a:rPr dirty="0"/>
              <a:t> com </a:t>
            </a:r>
            <a:r>
              <a:rPr dirty="0" err="1"/>
              <a:t>amostragem</a:t>
            </a:r>
            <a:r>
              <a:rPr dirty="0"/>
              <a:t>, </a:t>
            </a:r>
            <a:r>
              <a:rPr dirty="0" err="1"/>
              <a:t>votar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. Robusto mas </a:t>
            </a:r>
            <a:r>
              <a:rPr dirty="0" err="1"/>
              <a:t>custoso</a:t>
            </a:r>
            <a:r>
              <a:rPr dirty="0"/>
              <a:t>.</a:t>
            </a:r>
          </a:p>
          <a:p>
            <a:r>
              <a:rPr dirty="0"/>
              <a:t>• Universal Self-Adaptive Prompting (USP):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a </a:t>
            </a:r>
            <a:r>
              <a:rPr dirty="0" err="1"/>
              <a:t>técnica</a:t>
            </a:r>
            <a:r>
              <a:rPr dirty="0"/>
              <a:t> de prompting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adequada</a:t>
            </a:r>
            <a:r>
              <a:rPr dirty="0"/>
              <a:t> para a </a:t>
            </a:r>
            <a:r>
              <a:rPr dirty="0" err="1"/>
              <a:t>tarefa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NÍVEL 5 — Prompting com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:</a:t>
            </a:r>
          </a:p>
          <a:p>
            <a:r>
              <a:rPr dirty="0"/>
              <a:t>• RAG-prompting: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antes de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ReAct</a:t>
            </a:r>
            <a:r>
              <a:rPr dirty="0"/>
              <a:t>: </a:t>
            </a:r>
            <a:r>
              <a:rPr dirty="0" err="1"/>
              <a:t>intercalar</a:t>
            </a:r>
            <a:r>
              <a:rPr dirty="0"/>
              <a:t> </a:t>
            </a:r>
            <a:r>
              <a:rPr dirty="0" err="1"/>
              <a:t>raciocínio</a:t>
            </a:r>
            <a:r>
              <a:rPr dirty="0"/>
              <a:t> (Reason) com </a:t>
            </a:r>
            <a:r>
              <a:rPr dirty="0" err="1"/>
              <a:t>ação</a:t>
            </a:r>
            <a:r>
              <a:rPr dirty="0"/>
              <a:t> (Act) — </a:t>
            </a:r>
            <a:r>
              <a:rPr dirty="0" err="1"/>
              <a:t>busca</a:t>
            </a:r>
            <a:r>
              <a:rPr dirty="0"/>
              <a:t>, </a:t>
            </a:r>
            <a:r>
              <a:rPr dirty="0" err="1"/>
              <a:t>cálculo</a:t>
            </a:r>
            <a:r>
              <a:rPr dirty="0"/>
              <a:t>,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Reflexion</a:t>
            </a:r>
            <a:r>
              <a:rPr dirty="0"/>
              <a:t>: usar </a:t>
            </a:r>
            <a:r>
              <a:rPr dirty="0" err="1"/>
              <a:t>memória</a:t>
            </a:r>
            <a:r>
              <a:rPr dirty="0"/>
              <a:t> de </a:t>
            </a:r>
            <a:r>
              <a:rPr dirty="0" err="1"/>
              <a:t>episódios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 para </a:t>
            </a:r>
            <a:r>
              <a:rPr dirty="0" err="1"/>
              <a:t>refinar</a:t>
            </a:r>
            <a:r>
              <a:rPr dirty="0"/>
              <a:t> </a:t>
            </a:r>
            <a:r>
              <a:rPr dirty="0" err="1"/>
              <a:t>estratégia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• </a:t>
            </a:r>
            <a:r>
              <a:rPr dirty="0" err="1"/>
              <a:t>CoT</a:t>
            </a:r>
            <a:r>
              <a:rPr dirty="0"/>
              <a:t> </a:t>
            </a:r>
            <a:r>
              <a:rPr dirty="0" err="1"/>
              <a:t>melhora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mas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factuais</a:t>
            </a:r>
            <a:r>
              <a:rPr dirty="0"/>
              <a:t> simples.</a:t>
            </a:r>
          </a:p>
          <a:p>
            <a:r>
              <a:rPr dirty="0"/>
              <a:t>• Few-shot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robusto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zero-shot para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estruturadas</a:t>
            </a:r>
            <a:r>
              <a:rPr dirty="0"/>
              <a:t> com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.</a:t>
            </a:r>
          </a:p>
          <a:p>
            <a:r>
              <a:rPr dirty="0"/>
              <a:t>• Self-consistency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variância</a:t>
            </a:r>
            <a:r>
              <a:rPr dirty="0"/>
              <a:t> mas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linear com N </a:t>
            </a:r>
            <a:r>
              <a:rPr dirty="0" err="1"/>
              <a:t>amostras</a:t>
            </a:r>
            <a:r>
              <a:rPr dirty="0"/>
              <a:t>.</a:t>
            </a:r>
          </a:p>
          <a:p>
            <a:r>
              <a:rPr dirty="0"/>
              <a:t>• Prompt engineering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decrescente</a:t>
            </a:r>
            <a:r>
              <a:rPr dirty="0"/>
              <a:t>: </a:t>
            </a: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certo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, fine-tuning </a:t>
            </a:r>
            <a:r>
              <a:rPr dirty="0" err="1"/>
              <a:t>ou</a:t>
            </a:r>
            <a:r>
              <a:rPr dirty="0"/>
              <a:t> RAG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eficientes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Sensibilidade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framing: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 com </a:t>
            </a:r>
            <a:r>
              <a:rPr dirty="0" err="1"/>
              <a:t>palavras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ter </a:t>
            </a:r>
            <a:r>
              <a:rPr dirty="0" err="1"/>
              <a:t>acurácia</a:t>
            </a:r>
            <a:r>
              <a:rPr dirty="0"/>
              <a:t> </a:t>
            </a:r>
            <a:r>
              <a:rPr dirty="0" err="1"/>
              <a:t>variando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±20%.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/>
              <a:t>A </a:t>
            </a:r>
            <a:r>
              <a:rPr dirty="0" err="1"/>
              <a:t>maioria</a:t>
            </a:r>
            <a:r>
              <a:rPr dirty="0"/>
              <a:t> dos benchmarks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proprietários</a:t>
            </a:r>
            <a:r>
              <a:rPr dirty="0"/>
              <a:t> (GPT-4, GPT-3.5). </a:t>
            </a:r>
            <a:r>
              <a:rPr dirty="0" err="1"/>
              <a:t>Generalização</a:t>
            </a:r>
            <a:r>
              <a:rPr dirty="0"/>
              <a:t> para </a:t>
            </a:r>
            <a:r>
              <a:rPr dirty="0" err="1"/>
              <a:t>modelos</a:t>
            </a:r>
            <a:r>
              <a:rPr dirty="0"/>
              <a:t> open-source é </a:t>
            </a:r>
            <a:r>
              <a:rPr dirty="0" err="1"/>
              <a:t>variável</a:t>
            </a:r>
            <a:r>
              <a:rPr dirty="0"/>
              <a:t>. Benchmarks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superestimar</a:t>
            </a:r>
            <a:r>
              <a:rPr dirty="0"/>
              <a:t> </a:t>
            </a:r>
            <a:r>
              <a:rPr dirty="0" err="1"/>
              <a:t>capacidade</a:t>
            </a:r>
            <a:r>
              <a:rPr dirty="0"/>
              <a:t> real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Sahoo (2024) </a:t>
            </a:r>
            <a:r>
              <a:rPr dirty="0" err="1"/>
              <a:t>justifica</a:t>
            </a:r>
            <a:r>
              <a:rPr dirty="0"/>
              <a:t> a </a:t>
            </a:r>
            <a:r>
              <a:rPr dirty="0" err="1"/>
              <a:t>transição</a:t>
            </a:r>
            <a:r>
              <a:rPr dirty="0"/>
              <a:t> de prompt engineering para context engineering: as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eficazes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estruturam</a:t>
            </a:r>
            <a:r>
              <a:rPr dirty="0"/>
              <a:t> o </a:t>
            </a:r>
            <a:r>
              <a:rPr dirty="0" err="1"/>
              <a:t>contexto</a:t>
            </a:r>
            <a:r>
              <a:rPr dirty="0"/>
              <a:t> (</a:t>
            </a:r>
            <a:r>
              <a:rPr dirty="0" err="1"/>
              <a:t>CoT</a:t>
            </a:r>
            <a:r>
              <a:rPr dirty="0"/>
              <a:t>, </a:t>
            </a:r>
            <a:r>
              <a:rPr dirty="0" err="1"/>
              <a:t>decomposição</a:t>
            </a:r>
            <a:r>
              <a:rPr dirty="0"/>
              <a:t>, RAG-prompting), </a:t>
            </a:r>
            <a:r>
              <a:rPr dirty="0" err="1"/>
              <a:t>não</a:t>
            </a:r>
            <a:r>
              <a:rPr dirty="0"/>
              <a:t> 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refinam</a:t>
            </a:r>
            <a:r>
              <a:rPr dirty="0"/>
              <a:t> a </a:t>
            </a:r>
            <a:r>
              <a:rPr dirty="0" err="1"/>
              <a:t>pergunta</a:t>
            </a:r>
            <a:r>
              <a:rPr dirty="0"/>
              <a:t>. A aula </a:t>
            </a:r>
            <a:r>
              <a:rPr dirty="0" err="1"/>
              <a:t>propõe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esse </a:t>
            </a:r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maturidade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Explicar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Spec Kit é </a:t>
            </a:r>
            <a:r>
              <a:rPr dirty="0" err="1"/>
              <a:t>padrão</a:t>
            </a:r>
            <a:r>
              <a:rPr dirty="0"/>
              <a:t> de </a:t>
            </a:r>
            <a:r>
              <a:rPr dirty="0" err="1"/>
              <a:t>especificação</a:t>
            </a:r>
            <a:r>
              <a:rPr dirty="0"/>
              <a:t> </a:t>
            </a:r>
            <a:r>
              <a:rPr dirty="0" err="1"/>
              <a:t>estruturada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o </a:t>
            </a:r>
            <a:r>
              <a:rPr dirty="0" err="1"/>
              <a:t>nome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ferramenta.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história</a:t>
            </a:r>
            <a:r>
              <a:rPr dirty="0"/>
              <a:t> → spec → diagramas → backend → frontend segue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refinamento</a:t>
            </a:r>
            <a:r>
              <a:rPr dirty="0"/>
              <a:t> </a:t>
            </a:r>
            <a:r>
              <a:rPr dirty="0" err="1"/>
              <a:t>semântico</a:t>
            </a:r>
            <a:r>
              <a:rPr dirty="0"/>
              <a:t>. Cada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alimenta</a:t>
            </a:r>
            <a:r>
              <a:rPr dirty="0"/>
              <a:t> a </a:t>
            </a:r>
            <a:r>
              <a:rPr dirty="0" err="1"/>
              <a:t>próxima</a:t>
            </a:r>
            <a:r>
              <a:rPr dirty="0"/>
              <a:t>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Krishna et al. (2024)</a:t>
            </a:r>
          </a:p>
          <a:p>
            <a:r>
              <a:rPr dirty="0"/>
              <a:t>"Using LLMs in Software Requirements Specifications: An Empirical Evaluation"</a:t>
            </a:r>
          </a:p>
          <a:p>
            <a:r>
              <a:rPr dirty="0"/>
              <a:t>arXiv:2404.17406 | https://arxiv.org/abs/2404.17406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empiricamente</a:t>
            </a:r>
            <a:r>
              <a:rPr dirty="0"/>
              <a:t> a </a:t>
            </a:r>
            <a:r>
              <a:rPr dirty="0" err="1"/>
              <a:t>capacidade</a:t>
            </a:r>
            <a:r>
              <a:rPr dirty="0"/>
              <a:t> de LLMs (</a:t>
            </a:r>
            <a:r>
              <a:rPr dirty="0" err="1"/>
              <a:t>especificamente</a:t>
            </a:r>
            <a:r>
              <a:rPr dirty="0"/>
              <a:t> GPT-4) de </a:t>
            </a:r>
            <a:r>
              <a:rPr dirty="0" err="1"/>
              <a:t>gerar</a:t>
            </a:r>
            <a:r>
              <a:rPr dirty="0"/>
              <a:t> e </a:t>
            </a:r>
            <a:r>
              <a:rPr dirty="0" err="1"/>
              <a:t>refinar</a:t>
            </a:r>
            <a:r>
              <a:rPr dirty="0"/>
              <a:t> </a:t>
            </a:r>
            <a:r>
              <a:rPr dirty="0" err="1"/>
              <a:t>Especificações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 de Software (SRS)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descrições</a:t>
            </a:r>
            <a:r>
              <a:rPr dirty="0"/>
              <a:t> de stakeholders, </a:t>
            </a:r>
            <a:r>
              <a:rPr dirty="0" err="1"/>
              <a:t>medindo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dimensões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Estudo</a:t>
            </a:r>
            <a:r>
              <a:rPr dirty="0"/>
              <a:t> </a:t>
            </a:r>
            <a:r>
              <a:rPr dirty="0" err="1"/>
              <a:t>empírico</a:t>
            </a:r>
            <a:r>
              <a:rPr dirty="0"/>
              <a:t> com 30 </a:t>
            </a:r>
            <a:r>
              <a:rPr dirty="0" err="1"/>
              <a:t>projetos</a:t>
            </a:r>
            <a:r>
              <a:rPr dirty="0"/>
              <a:t> de software de </a:t>
            </a:r>
            <a:r>
              <a:rPr dirty="0" err="1"/>
              <a:t>complexidade</a:t>
            </a:r>
            <a:r>
              <a:rPr dirty="0"/>
              <a:t> </a:t>
            </a:r>
            <a:r>
              <a:rPr dirty="0" err="1"/>
              <a:t>variada</a:t>
            </a:r>
            <a:r>
              <a:rPr dirty="0"/>
              <a:t>.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: (1) </a:t>
            </a:r>
            <a:r>
              <a:rPr dirty="0" err="1"/>
              <a:t>geração</a:t>
            </a:r>
            <a:r>
              <a:rPr dirty="0"/>
              <a:t> de SRS via GPT-4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descrição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linguagem</a:t>
            </a:r>
            <a:r>
              <a:rPr dirty="0"/>
              <a:t> natural; (2)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RE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rubrica</a:t>
            </a:r>
            <a:r>
              <a:rPr dirty="0"/>
              <a:t> </a:t>
            </a:r>
            <a:r>
              <a:rPr dirty="0" err="1"/>
              <a:t>estruturada</a:t>
            </a:r>
            <a:r>
              <a:rPr dirty="0"/>
              <a:t>; (3) </a:t>
            </a:r>
            <a:r>
              <a:rPr dirty="0" err="1"/>
              <a:t>comparação</a:t>
            </a:r>
            <a:r>
              <a:rPr dirty="0"/>
              <a:t> com SRS </a:t>
            </a:r>
            <a:r>
              <a:rPr dirty="0" err="1"/>
              <a:t>escritas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 </a:t>
            </a:r>
            <a:r>
              <a:rPr dirty="0" err="1"/>
              <a:t>experientes</a:t>
            </a:r>
            <a:r>
              <a:rPr dirty="0"/>
              <a:t>.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avaliadas</a:t>
            </a:r>
            <a:r>
              <a:rPr dirty="0"/>
              <a:t>: </a:t>
            </a:r>
            <a:r>
              <a:rPr dirty="0" err="1"/>
              <a:t>completude</a:t>
            </a:r>
            <a:r>
              <a:rPr dirty="0"/>
              <a:t>, </a:t>
            </a:r>
            <a:r>
              <a:rPr dirty="0" err="1"/>
              <a:t>correção</a:t>
            </a:r>
            <a:r>
              <a:rPr dirty="0"/>
              <a:t>, </a:t>
            </a:r>
            <a:r>
              <a:rPr dirty="0" err="1"/>
              <a:t>consistência</a:t>
            </a:r>
            <a:r>
              <a:rPr dirty="0"/>
              <a:t>, </a:t>
            </a:r>
            <a:r>
              <a:rPr dirty="0" err="1"/>
              <a:t>não-ambiguidade</a:t>
            </a:r>
            <a:r>
              <a:rPr dirty="0"/>
              <a:t>, </a:t>
            </a:r>
            <a:r>
              <a:rPr dirty="0" err="1"/>
              <a:t>rastreabilidade</a:t>
            </a:r>
            <a:r>
              <a:rPr dirty="0"/>
              <a:t> e </a:t>
            </a:r>
            <a:r>
              <a:rPr dirty="0" err="1"/>
              <a:t>testabilidade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endParaRPr dirty="0"/>
          </a:p>
          <a:p>
            <a:r>
              <a:rPr dirty="0" err="1"/>
              <a:t>Completude</a:t>
            </a:r>
            <a:r>
              <a:rPr dirty="0"/>
              <a:t> (</a:t>
            </a:r>
            <a:r>
              <a:rPr dirty="0" err="1"/>
              <a:t>estrutural</a:t>
            </a:r>
            <a:r>
              <a:rPr dirty="0"/>
              <a:t>): LLMs </a:t>
            </a:r>
            <a:r>
              <a:rPr dirty="0" err="1"/>
              <a:t>geram</a:t>
            </a:r>
            <a:r>
              <a:rPr dirty="0"/>
              <a:t> </a:t>
            </a:r>
            <a:r>
              <a:rPr dirty="0" err="1"/>
              <a:t>estruturas</a:t>
            </a:r>
            <a:r>
              <a:rPr dirty="0"/>
              <a:t> de SRS </a:t>
            </a:r>
            <a:r>
              <a:rPr dirty="0" err="1"/>
              <a:t>completas</a:t>
            </a:r>
            <a:r>
              <a:rPr dirty="0"/>
              <a:t> e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organizadas</a:t>
            </a:r>
            <a:r>
              <a:rPr dirty="0"/>
              <a:t> — </a:t>
            </a:r>
            <a:r>
              <a:rPr dirty="0" err="1"/>
              <a:t>seções</a:t>
            </a:r>
            <a:r>
              <a:rPr dirty="0"/>
              <a:t> </a:t>
            </a:r>
            <a:r>
              <a:rPr dirty="0" err="1"/>
              <a:t>obrigatórias</a:t>
            </a:r>
            <a:r>
              <a:rPr dirty="0"/>
              <a:t>, </a:t>
            </a:r>
            <a:r>
              <a:rPr dirty="0" err="1"/>
              <a:t>subseções</a:t>
            </a:r>
            <a:r>
              <a:rPr dirty="0"/>
              <a:t>, </a:t>
            </a:r>
            <a:r>
              <a:rPr dirty="0" err="1"/>
              <a:t>numeração</a:t>
            </a:r>
            <a:r>
              <a:rPr dirty="0"/>
              <a:t>. </a:t>
            </a:r>
            <a:r>
              <a:rPr dirty="0" err="1"/>
              <a:t>Pontuação</a:t>
            </a:r>
            <a:r>
              <a:rPr dirty="0"/>
              <a:t> </a:t>
            </a:r>
            <a:r>
              <a:rPr dirty="0" err="1"/>
              <a:t>média</a:t>
            </a:r>
            <a:r>
              <a:rPr dirty="0"/>
              <a:t> 4.1/5 vs 4.3/5 para </a:t>
            </a:r>
            <a:r>
              <a:rPr dirty="0" err="1"/>
              <a:t>humanos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Correção</a:t>
            </a:r>
            <a:r>
              <a:rPr dirty="0"/>
              <a:t> factual: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diferença</a:t>
            </a:r>
            <a:r>
              <a:rPr dirty="0"/>
              <a:t> </a:t>
            </a:r>
            <a:r>
              <a:rPr dirty="0" err="1"/>
              <a:t>observada</a:t>
            </a:r>
            <a:r>
              <a:rPr dirty="0"/>
              <a:t>. LLMs </a:t>
            </a:r>
            <a:r>
              <a:rPr dirty="0" err="1"/>
              <a:t>inventam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especificados</a:t>
            </a:r>
            <a:r>
              <a:rPr dirty="0"/>
              <a:t> (</a:t>
            </a:r>
            <a:r>
              <a:rPr dirty="0" err="1"/>
              <a:t>média</a:t>
            </a:r>
            <a:r>
              <a:rPr dirty="0"/>
              <a:t> de 3.2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inventados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SRS). Em </a:t>
            </a:r>
            <a:r>
              <a:rPr dirty="0" err="1"/>
              <a:t>projetos</a:t>
            </a:r>
            <a:r>
              <a:rPr dirty="0"/>
              <a:t> com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 (</a:t>
            </a:r>
            <a:r>
              <a:rPr dirty="0" err="1"/>
              <a:t>médico</a:t>
            </a:r>
            <a:r>
              <a:rPr dirty="0"/>
              <a:t>, </a:t>
            </a:r>
            <a:r>
              <a:rPr dirty="0" err="1"/>
              <a:t>financeiro</a:t>
            </a:r>
            <a:r>
              <a:rPr dirty="0"/>
              <a:t>), a taxa </a:t>
            </a:r>
            <a:r>
              <a:rPr dirty="0" err="1"/>
              <a:t>sobe</a:t>
            </a:r>
            <a:r>
              <a:rPr dirty="0"/>
              <a:t> para 5.8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incorretos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Consistência</a:t>
            </a:r>
            <a:r>
              <a:rPr dirty="0"/>
              <a:t> interna: LLMs </a:t>
            </a:r>
            <a:r>
              <a:rPr dirty="0" err="1"/>
              <a:t>cometem</a:t>
            </a:r>
            <a:r>
              <a:rPr dirty="0"/>
              <a:t> </a:t>
            </a:r>
            <a:r>
              <a:rPr dirty="0" err="1"/>
              <a:t>inconsistências</a:t>
            </a:r>
            <a:r>
              <a:rPr dirty="0"/>
              <a:t> entre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funcionais</a:t>
            </a:r>
            <a:r>
              <a:rPr dirty="0"/>
              <a:t> e </a:t>
            </a:r>
            <a:r>
              <a:rPr dirty="0" err="1"/>
              <a:t>não-funcionais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67% das SRS </a:t>
            </a:r>
            <a:r>
              <a:rPr dirty="0" err="1"/>
              <a:t>geradas</a:t>
            </a:r>
            <a:r>
              <a:rPr dirty="0"/>
              <a:t> — ex: </a:t>
            </a:r>
            <a:r>
              <a:rPr dirty="0" err="1"/>
              <a:t>especificar</a:t>
            </a:r>
            <a:r>
              <a:rPr dirty="0"/>
              <a:t> "tempo de </a:t>
            </a:r>
            <a:r>
              <a:rPr dirty="0" err="1"/>
              <a:t>resposta</a:t>
            </a:r>
            <a:r>
              <a:rPr dirty="0"/>
              <a:t> &lt; 200ms" no RF e "</a:t>
            </a:r>
            <a:r>
              <a:rPr dirty="0" err="1"/>
              <a:t>disponibilidade</a:t>
            </a:r>
            <a:r>
              <a:rPr dirty="0"/>
              <a:t> 99.9%" no RNF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compatibilidade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Ambiguidade</a:t>
            </a:r>
            <a:r>
              <a:rPr dirty="0"/>
              <a:t>: LLMs </a:t>
            </a:r>
            <a:r>
              <a:rPr dirty="0" err="1"/>
              <a:t>reduzem</a:t>
            </a:r>
            <a:r>
              <a:rPr dirty="0"/>
              <a:t> </a:t>
            </a:r>
            <a:r>
              <a:rPr dirty="0" err="1"/>
              <a:t>ambiguidade</a:t>
            </a:r>
            <a:r>
              <a:rPr dirty="0"/>
              <a:t> lexical (usar </a:t>
            </a:r>
            <a:r>
              <a:rPr dirty="0" err="1"/>
              <a:t>termos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</a:t>
            </a:r>
            <a:r>
              <a:rPr dirty="0" err="1"/>
              <a:t>precisos</a:t>
            </a:r>
            <a:r>
              <a:rPr dirty="0"/>
              <a:t>) mas </a:t>
            </a:r>
            <a:r>
              <a:rPr dirty="0" err="1"/>
              <a:t>aumentam</a:t>
            </a:r>
            <a:r>
              <a:rPr dirty="0"/>
              <a:t> </a:t>
            </a:r>
            <a:r>
              <a:rPr dirty="0" err="1"/>
              <a:t>ambiguidade</a:t>
            </a:r>
            <a:r>
              <a:rPr dirty="0"/>
              <a:t> </a:t>
            </a:r>
            <a:r>
              <a:rPr dirty="0" err="1"/>
              <a:t>semântica</a:t>
            </a:r>
            <a:r>
              <a:rPr dirty="0"/>
              <a:t> (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parecem</a:t>
            </a:r>
            <a:r>
              <a:rPr dirty="0"/>
              <a:t> claros mas </a:t>
            </a:r>
            <a:r>
              <a:rPr dirty="0" err="1"/>
              <a:t>admitem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implementações</a:t>
            </a:r>
            <a:r>
              <a:rPr dirty="0"/>
              <a:t> </a:t>
            </a:r>
            <a:r>
              <a:rPr dirty="0" err="1"/>
              <a:t>válidas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Correlação</a:t>
            </a:r>
            <a:r>
              <a:rPr dirty="0"/>
              <a:t> com input: a </a:t>
            </a:r>
            <a:r>
              <a:rPr dirty="0" err="1"/>
              <a:t>qualidade</a:t>
            </a:r>
            <a:r>
              <a:rPr dirty="0"/>
              <a:t> da SRS </a:t>
            </a:r>
            <a:r>
              <a:rPr dirty="0" err="1"/>
              <a:t>gerada</a:t>
            </a:r>
            <a:r>
              <a:rPr dirty="0"/>
              <a:t> </a:t>
            </a:r>
            <a:r>
              <a:rPr dirty="0" err="1"/>
              <a:t>correlaciona</a:t>
            </a:r>
            <a:r>
              <a:rPr dirty="0"/>
              <a:t> fortemente (r=0.78) com a </a:t>
            </a:r>
            <a:r>
              <a:rPr dirty="0" err="1"/>
              <a:t>qualidade</a:t>
            </a:r>
            <a:r>
              <a:rPr dirty="0"/>
              <a:t> do </a:t>
            </a:r>
            <a:r>
              <a:rPr dirty="0" err="1"/>
              <a:t>documento</a:t>
            </a:r>
            <a:r>
              <a:rPr dirty="0"/>
              <a:t> de entrada. </a:t>
            </a:r>
            <a:r>
              <a:rPr dirty="0" err="1"/>
              <a:t>Descrições</a:t>
            </a:r>
            <a:r>
              <a:rPr dirty="0"/>
              <a:t> </a:t>
            </a:r>
            <a:r>
              <a:rPr dirty="0" err="1"/>
              <a:t>ricas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exemplos</a:t>
            </a:r>
            <a:r>
              <a:rPr dirty="0"/>
              <a:t>, </a:t>
            </a:r>
            <a:r>
              <a:rPr dirty="0" err="1"/>
              <a:t>restrições</a:t>
            </a:r>
            <a:r>
              <a:rPr dirty="0"/>
              <a:t> e personas </a:t>
            </a:r>
            <a:r>
              <a:rPr dirty="0" err="1"/>
              <a:t>geram</a:t>
            </a:r>
            <a:r>
              <a:rPr dirty="0"/>
              <a:t> SRS </a:t>
            </a:r>
            <a:r>
              <a:rPr dirty="0" err="1"/>
              <a:t>significativamente</a:t>
            </a:r>
            <a:r>
              <a:rPr dirty="0"/>
              <a:t> </a:t>
            </a:r>
            <a:r>
              <a:rPr dirty="0" err="1"/>
              <a:t>melhores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Amostra</a:t>
            </a:r>
            <a:r>
              <a:rPr dirty="0"/>
              <a:t> de 30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ser </a:t>
            </a:r>
            <a:r>
              <a:rPr dirty="0" err="1"/>
              <a:t>representativa</a:t>
            </a:r>
            <a:r>
              <a:rPr dirty="0"/>
              <a:t> de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. </a:t>
            </a:r>
            <a:r>
              <a:rPr dirty="0" err="1"/>
              <a:t>Avaliadores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pesquisadores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 de mercado. GPT-4 </a:t>
            </a:r>
            <a:r>
              <a:rPr dirty="0" err="1"/>
              <a:t>pode</a:t>
            </a:r>
            <a:r>
              <a:rPr dirty="0"/>
              <a:t> ter visto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 no </a:t>
            </a:r>
            <a:r>
              <a:rPr dirty="0" err="1"/>
              <a:t>treinamento</a:t>
            </a:r>
            <a:r>
              <a:rPr dirty="0"/>
              <a:t> (data contamination).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Este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fornece</a:t>
            </a:r>
            <a:r>
              <a:rPr dirty="0"/>
              <a:t> a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empírica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a aula </a:t>
            </a:r>
            <a:r>
              <a:rPr dirty="0" err="1"/>
              <a:t>defende</a:t>
            </a:r>
            <a:r>
              <a:rPr dirty="0"/>
              <a:t>: context engineering (input </a:t>
            </a:r>
            <a:r>
              <a:rPr dirty="0" err="1"/>
              <a:t>rico</a:t>
            </a:r>
            <a:r>
              <a:rPr dirty="0"/>
              <a:t>) </a:t>
            </a:r>
            <a:r>
              <a:rPr dirty="0" err="1"/>
              <a:t>determina</a:t>
            </a:r>
            <a:r>
              <a:rPr dirty="0"/>
              <a:t> a </a:t>
            </a:r>
            <a:r>
              <a:rPr dirty="0" err="1"/>
              <a:t>qualidade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. O Spec Kit resolve 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identificado</a:t>
            </a:r>
            <a:r>
              <a:rPr dirty="0"/>
              <a:t> — </a:t>
            </a:r>
            <a:r>
              <a:rPr dirty="0" err="1"/>
              <a:t>dar</a:t>
            </a:r>
            <a:r>
              <a:rPr dirty="0"/>
              <a:t> à IA o material </a:t>
            </a:r>
            <a:r>
              <a:rPr dirty="0" err="1"/>
              <a:t>necessário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corretos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estruturados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Cheng et al. (2024)</a:t>
            </a:r>
          </a:p>
          <a:p>
            <a:r>
              <a:rPr dirty="0"/>
              <a:t>"Generative AI for Requirements Engineering: A Systematic Literature Review"</a:t>
            </a:r>
          </a:p>
          <a:p>
            <a:r>
              <a:rPr dirty="0"/>
              <a:t>arXiv:2401.01041 | https://arxiv.org/abs/2401.01041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Mapear</a:t>
            </a:r>
            <a:r>
              <a:rPr dirty="0"/>
              <a:t> </a:t>
            </a:r>
            <a:r>
              <a:rPr dirty="0" err="1"/>
              <a:t>sistematicamente</a:t>
            </a:r>
            <a:r>
              <a:rPr dirty="0"/>
              <a:t> o </a:t>
            </a:r>
            <a:r>
              <a:rPr dirty="0" err="1"/>
              <a:t>uso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dirty="0"/>
              <a:t> (GenAI)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atividades</a:t>
            </a:r>
            <a:r>
              <a:rPr dirty="0"/>
              <a:t> de </a:t>
            </a:r>
            <a:r>
              <a:rPr dirty="0" err="1"/>
              <a:t>Engenharia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, </a:t>
            </a:r>
            <a:r>
              <a:rPr dirty="0" err="1"/>
              <a:t>identificar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, lacunas de </a:t>
            </a:r>
            <a:r>
              <a:rPr dirty="0" err="1"/>
              <a:t>pesquisa</a:t>
            </a:r>
            <a:r>
              <a:rPr dirty="0"/>
              <a:t> e </a:t>
            </a:r>
            <a:r>
              <a:rPr dirty="0" err="1"/>
              <a:t>tendências</a:t>
            </a:r>
            <a:r>
              <a:rPr dirty="0"/>
              <a:t> </a:t>
            </a:r>
            <a:r>
              <a:rPr dirty="0" err="1"/>
              <a:t>emergentes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sistemática</a:t>
            </a:r>
            <a:r>
              <a:rPr dirty="0"/>
              <a:t> </a:t>
            </a:r>
            <a:r>
              <a:rPr dirty="0" err="1"/>
              <a:t>seguindo</a:t>
            </a:r>
            <a:r>
              <a:rPr dirty="0"/>
              <a:t> </a:t>
            </a:r>
            <a:r>
              <a:rPr dirty="0" err="1"/>
              <a:t>protocolo</a:t>
            </a:r>
            <a:r>
              <a:rPr dirty="0"/>
              <a:t> PRISMA. Corpus: 89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selecionados</a:t>
            </a:r>
            <a:r>
              <a:rPr dirty="0"/>
              <a:t> de 342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2018 e 2023. </a:t>
            </a:r>
            <a:r>
              <a:rPr dirty="0" err="1"/>
              <a:t>Critério</a:t>
            </a:r>
            <a:r>
              <a:rPr dirty="0"/>
              <a:t> de </a:t>
            </a:r>
            <a:r>
              <a:rPr dirty="0" err="1"/>
              <a:t>inclusão</a:t>
            </a:r>
            <a:r>
              <a:rPr dirty="0"/>
              <a:t>: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explícito</a:t>
            </a:r>
            <a:r>
              <a:rPr dirty="0"/>
              <a:t> 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generativos</a:t>
            </a:r>
            <a:r>
              <a:rPr dirty="0"/>
              <a:t> (Transformers, LLMs,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difusão</a:t>
            </a:r>
            <a:r>
              <a:rPr dirty="0"/>
              <a:t>)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alguma</a:t>
            </a:r>
            <a:r>
              <a:rPr dirty="0"/>
              <a:t> </a:t>
            </a:r>
            <a:r>
              <a:rPr dirty="0" err="1"/>
              <a:t>atividade</a:t>
            </a:r>
            <a:r>
              <a:rPr dirty="0"/>
              <a:t> de RE. </a:t>
            </a:r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atividade</a:t>
            </a:r>
            <a:r>
              <a:rPr dirty="0"/>
              <a:t> de RE,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modelo</a:t>
            </a:r>
            <a:r>
              <a:rPr dirty="0"/>
              <a:t>, </a:t>
            </a:r>
            <a:r>
              <a:rPr dirty="0" err="1"/>
              <a:t>domínio</a:t>
            </a:r>
            <a:r>
              <a:rPr dirty="0"/>
              <a:t> de </a:t>
            </a:r>
            <a:r>
              <a:rPr dirty="0" err="1"/>
              <a:t>aplicação</a:t>
            </a:r>
            <a:r>
              <a:rPr dirty="0"/>
              <a:t> e </a:t>
            </a:r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automação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MAPEAMENTO POR ATIVIDADE DE RE</a:t>
            </a:r>
          </a:p>
          <a:p>
            <a:endParaRPr dirty="0"/>
          </a:p>
          <a:p>
            <a:r>
              <a:rPr dirty="0" err="1"/>
              <a:t>Elicitação</a:t>
            </a:r>
            <a:r>
              <a:rPr dirty="0"/>
              <a:t> (23% dos </a:t>
            </a:r>
            <a:r>
              <a:rPr dirty="0" err="1"/>
              <a:t>estudos</a:t>
            </a:r>
            <a:r>
              <a:rPr dirty="0"/>
              <a:t>): GenAI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facilitador</a:t>
            </a:r>
            <a:r>
              <a:rPr dirty="0"/>
              <a:t> de </a:t>
            </a:r>
            <a:r>
              <a:rPr dirty="0" err="1"/>
              <a:t>entrevistas</a:t>
            </a:r>
            <a:r>
              <a:rPr dirty="0"/>
              <a:t>,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perguntas</a:t>
            </a:r>
            <a:r>
              <a:rPr dirty="0"/>
              <a:t> para stakeholders,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sentimento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feedback de </a:t>
            </a:r>
            <a:r>
              <a:rPr dirty="0" err="1"/>
              <a:t>usuários</a:t>
            </a:r>
            <a:r>
              <a:rPr dirty="0"/>
              <a:t>. </a:t>
            </a:r>
            <a:r>
              <a:rPr dirty="0" err="1"/>
              <a:t>Maturidade</a:t>
            </a:r>
            <a:r>
              <a:rPr dirty="0"/>
              <a:t>: </a:t>
            </a:r>
            <a:r>
              <a:rPr dirty="0" err="1"/>
              <a:t>baixa</a:t>
            </a:r>
            <a:r>
              <a:rPr dirty="0"/>
              <a:t>. Principal </a:t>
            </a:r>
            <a:r>
              <a:rPr dirty="0" err="1"/>
              <a:t>limitação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capturam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organizacional</a:t>
            </a:r>
            <a:r>
              <a:rPr dirty="0"/>
              <a:t> e </a:t>
            </a:r>
            <a:r>
              <a:rPr dirty="0" err="1"/>
              <a:t>político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Especificação</a:t>
            </a:r>
            <a:r>
              <a:rPr dirty="0"/>
              <a:t> (41% dos </a:t>
            </a:r>
            <a:r>
              <a:rPr dirty="0" err="1"/>
              <a:t>estudos</a:t>
            </a:r>
            <a:r>
              <a:rPr dirty="0"/>
              <a:t> —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estudada</a:t>
            </a:r>
            <a:r>
              <a:rPr dirty="0"/>
              <a:t>):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histórias</a:t>
            </a:r>
            <a:r>
              <a:rPr dirty="0"/>
              <a:t> de </a:t>
            </a:r>
            <a:r>
              <a:rPr dirty="0" err="1"/>
              <a:t>usuário</a:t>
            </a:r>
            <a:r>
              <a:rPr dirty="0"/>
              <a:t>,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, SRS </a:t>
            </a:r>
            <a:r>
              <a:rPr dirty="0" err="1"/>
              <a:t>formais</a:t>
            </a:r>
            <a:r>
              <a:rPr dirty="0"/>
              <a:t> e semi-</a:t>
            </a:r>
            <a:r>
              <a:rPr dirty="0" err="1"/>
              <a:t>formais</a:t>
            </a:r>
            <a:r>
              <a:rPr dirty="0"/>
              <a:t>. </a:t>
            </a:r>
            <a:r>
              <a:rPr dirty="0" err="1"/>
              <a:t>Maturidade</a:t>
            </a:r>
            <a:r>
              <a:rPr dirty="0"/>
              <a:t>: </a:t>
            </a:r>
            <a:r>
              <a:rPr dirty="0" err="1"/>
              <a:t>média-alta</a:t>
            </a:r>
            <a:r>
              <a:rPr dirty="0"/>
              <a:t>. GPT-4 </a:t>
            </a:r>
            <a:r>
              <a:rPr dirty="0" err="1"/>
              <a:t>consegue</a:t>
            </a:r>
            <a:r>
              <a:rPr dirty="0"/>
              <a:t> </a:t>
            </a:r>
            <a:r>
              <a:rPr dirty="0" err="1"/>
              <a:t>gerar</a:t>
            </a:r>
            <a:r>
              <a:rPr dirty="0"/>
              <a:t> templates </a:t>
            </a:r>
            <a:r>
              <a:rPr dirty="0" err="1"/>
              <a:t>válidos</a:t>
            </a:r>
            <a:r>
              <a:rPr dirty="0"/>
              <a:t>; </a:t>
            </a:r>
            <a:r>
              <a:rPr dirty="0" err="1"/>
              <a:t>limitação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modelagem</a:t>
            </a:r>
            <a:r>
              <a:rPr dirty="0"/>
              <a:t> (18%): </a:t>
            </a:r>
            <a:r>
              <a:rPr dirty="0" err="1"/>
              <a:t>geração</a:t>
            </a:r>
            <a:r>
              <a:rPr dirty="0"/>
              <a:t> de diagramas </a:t>
            </a:r>
            <a:r>
              <a:rPr dirty="0" err="1"/>
              <a:t>conceituais</a:t>
            </a:r>
            <a:r>
              <a:rPr dirty="0"/>
              <a:t> (UML, BPMN)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. </a:t>
            </a:r>
            <a:r>
              <a:rPr dirty="0" err="1"/>
              <a:t>Maturidade</a:t>
            </a:r>
            <a:r>
              <a:rPr dirty="0"/>
              <a:t>: </a:t>
            </a:r>
            <a:r>
              <a:rPr dirty="0" err="1"/>
              <a:t>média</a:t>
            </a:r>
            <a:r>
              <a:rPr dirty="0"/>
              <a:t>. Ferramentas </a:t>
            </a:r>
            <a:r>
              <a:rPr dirty="0" err="1"/>
              <a:t>baseadas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LLM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ChatUML</a:t>
            </a:r>
            <a:r>
              <a:rPr dirty="0"/>
              <a:t>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promissores</a:t>
            </a:r>
            <a:r>
              <a:rPr dirty="0"/>
              <a:t> mas </a:t>
            </a:r>
            <a:r>
              <a:rPr dirty="0" err="1"/>
              <a:t>requerem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especializada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Verificação</a:t>
            </a:r>
            <a:r>
              <a:rPr dirty="0"/>
              <a:t> e </a:t>
            </a:r>
            <a:r>
              <a:rPr dirty="0" err="1"/>
              <a:t>validação</a:t>
            </a:r>
            <a:r>
              <a:rPr dirty="0"/>
              <a:t> (12%): </a:t>
            </a:r>
            <a:r>
              <a:rPr dirty="0" err="1"/>
              <a:t>detecção</a:t>
            </a:r>
            <a:r>
              <a:rPr dirty="0"/>
              <a:t> de </a:t>
            </a:r>
            <a:r>
              <a:rPr dirty="0" err="1"/>
              <a:t>inconsistências</a:t>
            </a:r>
            <a:r>
              <a:rPr dirty="0"/>
              <a:t>, </a:t>
            </a:r>
            <a:r>
              <a:rPr dirty="0" err="1"/>
              <a:t>ambiguidades</a:t>
            </a:r>
            <a:r>
              <a:rPr dirty="0"/>
              <a:t> e </a:t>
            </a:r>
            <a:r>
              <a:rPr dirty="0" err="1"/>
              <a:t>completude</a:t>
            </a:r>
            <a:r>
              <a:rPr dirty="0"/>
              <a:t>. </a:t>
            </a:r>
            <a:r>
              <a:rPr dirty="0" err="1"/>
              <a:t>Maturidade</a:t>
            </a:r>
            <a:r>
              <a:rPr dirty="0"/>
              <a:t>: </a:t>
            </a:r>
            <a:r>
              <a:rPr dirty="0" err="1"/>
              <a:t>baixa-média</a:t>
            </a:r>
            <a:r>
              <a:rPr dirty="0"/>
              <a:t>. LLMs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razoáveis</a:t>
            </a:r>
            <a:r>
              <a:rPr dirty="0"/>
              <a:t> para </a:t>
            </a:r>
            <a:r>
              <a:rPr dirty="0" err="1"/>
              <a:t>detecção</a:t>
            </a:r>
            <a:r>
              <a:rPr dirty="0"/>
              <a:t> de </a:t>
            </a:r>
            <a:r>
              <a:rPr dirty="0" err="1"/>
              <a:t>ambiguidade</a:t>
            </a:r>
            <a:r>
              <a:rPr dirty="0"/>
              <a:t> mas </a:t>
            </a:r>
            <a:r>
              <a:rPr dirty="0" err="1"/>
              <a:t>fracos</a:t>
            </a:r>
            <a:r>
              <a:rPr dirty="0"/>
              <a:t> para </a:t>
            </a:r>
            <a:r>
              <a:rPr dirty="0" err="1"/>
              <a:t>verificação</a:t>
            </a:r>
            <a:r>
              <a:rPr dirty="0"/>
              <a:t> formal.</a:t>
            </a:r>
          </a:p>
          <a:p>
            <a:endParaRPr dirty="0"/>
          </a:p>
          <a:p>
            <a:r>
              <a:rPr dirty="0" err="1"/>
              <a:t>Gerenciamento</a:t>
            </a:r>
            <a:r>
              <a:rPr dirty="0"/>
              <a:t> de </a:t>
            </a:r>
            <a:r>
              <a:rPr dirty="0" err="1"/>
              <a:t>rastreabilidade</a:t>
            </a:r>
            <a:r>
              <a:rPr dirty="0"/>
              <a:t> (6%): </a:t>
            </a:r>
            <a:r>
              <a:rPr dirty="0" err="1"/>
              <a:t>geração</a:t>
            </a:r>
            <a:r>
              <a:rPr dirty="0"/>
              <a:t> e </a:t>
            </a:r>
            <a:r>
              <a:rPr dirty="0" err="1"/>
              <a:t>manutenção</a:t>
            </a:r>
            <a:r>
              <a:rPr dirty="0"/>
              <a:t> de links entre </a:t>
            </a:r>
            <a:r>
              <a:rPr dirty="0" err="1"/>
              <a:t>artefatos</a:t>
            </a:r>
            <a:r>
              <a:rPr dirty="0"/>
              <a:t> de RE. </a:t>
            </a:r>
            <a:r>
              <a:rPr dirty="0" err="1"/>
              <a:t>Maturidade</a:t>
            </a:r>
            <a:r>
              <a:rPr dirty="0"/>
              <a:t>: </a:t>
            </a:r>
            <a:r>
              <a:rPr dirty="0" err="1"/>
              <a:t>emergente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• A </a:t>
            </a:r>
            <a:r>
              <a:rPr dirty="0" err="1"/>
              <a:t>integração</a:t>
            </a:r>
            <a:r>
              <a:rPr dirty="0"/>
              <a:t> de GenAI </a:t>
            </a:r>
            <a:r>
              <a:rPr dirty="0" err="1"/>
              <a:t>em</a:t>
            </a:r>
            <a:r>
              <a:rPr dirty="0"/>
              <a:t> RE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geração</a:t>
            </a:r>
            <a:r>
              <a:rPr dirty="0"/>
              <a:t>/</a:t>
            </a:r>
            <a:r>
              <a:rPr dirty="0" err="1"/>
              <a:t>transformação</a:t>
            </a:r>
            <a:r>
              <a:rPr dirty="0"/>
              <a:t> (NL → formal)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Domínios</a:t>
            </a:r>
            <a:r>
              <a:rPr dirty="0"/>
              <a:t> com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especificidade</a:t>
            </a:r>
            <a:r>
              <a:rPr dirty="0"/>
              <a:t> (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embarcados</a:t>
            </a:r>
            <a:r>
              <a:rPr dirty="0"/>
              <a:t>, </a:t>
            </a:r>
            <a:r>
              <a:rPr dirty="0" err="1"/>
              <a:t>sistemas</a:t>
            </a:r>
            <a:r>
              <a:rPr dirty="0"/>
              <a:t> de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)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degradação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acentuada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Nenhum</a:t>
            </a:r>
            <a:r>
              <a:rPr dirty="0"/>
              <a:t> </a:t>
            </a:r>
            <a:r>
              <a:rPr dirty="0" err="1"/>
              <a:t>estudo</a:t>
            </a:r>
            <a:r>
              <a:rPr dirty="0"/>
              <a:t> </a:t>
            </a:r>
            <a:r>
              <a:rPr dirty="0" err="1"/>
              <a:t>avaliado</a:t>
            </a:r>
            <a:r>
              <a:rPr dirty="0"/>
              <a:t> </a:t>
            </a:r>
            <a:r>
              <a:rPr dirty="0" err="1"/>
              <a:t>demonstrou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de GenAI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privacidade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 com rigor </a:t>
            </a:r>
            <a:r>
              <a:rPr dirty="0" err="1"/>
              <a:t>suficiente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Rastreabilidade</a:t>
            </a:r>
            <a:r>
              <a:rPr dirty="0"/>
              <a:t> </a:t>
            </a:r>
            <a:r>
              <a:rPr dirty="0" err="1"/>
              <a:t>automatizada</a:t>
            </a:r>
            <a:r>
              <a:rPr dirty="0"/>
              <a:t> é o gap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 </a:t>
            </a:r>
            <a:r>
              <a:rPr dirty="0" err="1"/>
              <a:t>identificado</a:t>
            </a:r>
            <a:r>
              <a:rPr dirty="0"/>
              <a:t> — </a:t>
            </a:r>
            <a:r>
              <a:rPr dirty="0" err="1"/>
              <a:t>área</a:t>
            </a:r>
            <a:r>
              <a:rPr dirty="0"/>
              <a:t>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potencial</a:t>
            </a:r>
            <a:r>
              <a:rPr dirty="0"/>
              <a:t> de </a:t>
            </a:r>
            <a:r>
              <a:rPr dirty="0" err="1"/>
              <a:t>impacto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Cheng (2024) </a:t>
            </a:r>
            <a:r>
              <a:rPr dirty="0" err="1"/>
              <a:t>situa</a:t>
            </a:r>
            <a:r>
              <a:rPr dirty="0"/>
              <a:t> o Spec Kit </a:t>
            </a:r>
            <a:r>
              <a:rPr dirty="0" err="1"/>
              <a:t>dentro</a:t>
            </a:r>
            <a:r>
              <a:rPr dirty="0"/>
              <a:t> do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: usar GenAI para </a:t>
            </a:r>
            <a:r>
              <a:rPr dirty="0" err="1"/>
              <a:t>transformação</a:t>
            </a:r>
            <a:r>
              <a:rPr dirty="0"/>
              <a:t> NL → </a:t>
            </a:r>
            <a:r>
              <a:rPr dirty="0" err="1"/>
              <a:t>especificação</a:t>
            </a:r>
            <a:r>
              <a:rPr dirty="0"/>
              <a:t> é a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madura</a:t>
            </a:r>
            <a:r>
              <a:rPr dirty="0"/>
              <a:t> e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de valor. A aula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esse </a:t>
            </a:r>
            <a:r>
              <a:rPr dirty="0" err="1"/>
              <a:t>padrão</a:t>
            </a:r>
            <a:r>
              <a:rPr dirty="0"/>
              <a:t>, com o </a:t>
            </a:r>
            <a:r>
              <a:rPr dirty="0" err="1"/>
              <a:t>cuidado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de </a:t>
            </a:r>
            <a:r>
              <a:rPr dirty="0" err="1"/>
              <a:t>estruturar</a:t>
            </a:r>
            <a:r>
              <a:rPr dirty="0"/>
              <a:t> o input (</a:t>
            </a:r>
            <a:r>
              <a:rPr dirty="0" err="1"/>
              <a:t>narrativa</a:t>
            </a:r>
            <a:r>
              <a:rPr dirty="0"/>
              <a:t> </a:t>
            </a:r>
            <a:r>
              <a:rPr dirty="0" err="1"/>
              <a:t>rica</a:t>
            </a:r>
            <a:r>
              <a:rPr dirty="0"/>
              <a:t>) antes de </a:t>
            </a:r>
            <a:r>
              <a:rPr dirty="0" err="1"/>
              <a:t>invocar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Ahmad et al. (2023)</a:t>
            </a:r>
          </a:p>
          <a:p>
            <a:r>
              <a:rPr dirty="0"/>
              <a:t>"Requirements Engineering for Artificial Intelligence Systems: A Systematic Mapping Study"</a:t>
            </a:r>
          </a:p>
          <a:p>
            <a:r>
              <a:rPr dirty="0"/>
              <a:t>Information and Software Technology | https://doi.org/10.1016/j.infsof.2023.107176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Mapear</a:t>
            </a:r>
            <a:r>
              <a:rPr dirty="0"/>
              <a:t> </a:t>
            </a:r>
            <a:r>
              <a:rPr dirty="0" err="1"/>
              <a:t>sistematicamente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comunidade</a:t>
            </a:r>
            <a:r>
              <a:rPr dirty="0"/>
              <a:t> de </a:t>
            </a:r>
            <a:r>
              <a:rPr dirty="0" err="1"/>
              <a:t>Engenharia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abordando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desafios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baseados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IA/ML — </a:t>
            </a:r>
            <a:r>
              <a:rPr dirty="0" err="1"/>
              <a:t>identificando</a:t>
            </a:r>
            <a:r>
              <a:rPr dirty="0"/>
              <a:t> </a:t>
            </a:r>
            <a:r>
              <a:rPr dirty="0" err="1"/>
              <a:t>categorias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,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propostas</a:t>
            </a:r>
            <a:r>
              <a:rPr dirty="0"/>
              <a:t>, </a:t>
            </a:r>
            <a:r>
              <a:rPr dirty="0" err="1"/>
              <a:t>domínios</a:t>
            </a:r>
            <a:r>
              <a:rPr dirty="0"/>
              <a:t> de </a:t>
            </a:r>
            <a:r>
              <a:rPr dirty="0" err="1"/>
              <a:t>aplicação</a:t>
            </a:r>
            <a:r>
              <a:rPr dirty="0"/>
              <a:t> e lacunas </a:t>
            </a:r>
            <a:r>
              <a:rPr dirty="0" err="1"/>
              <a:t>críticas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Mapeamento</a:t>
            </a:r>
            <a:r>
              <a:rPr dirty="0"/>
              <a:t> </a:t>
            </a:r>
            <a:r>
              <a:rPr dirty="0" err="1"/>
              <a:t>sistemático</a:t>
            </a:r>
            <a:r>
              <a:rPr dirty="0"/>
              <a:t> (broader </a:t>
            </a:r>
            <a:r>
              <a:rPr dirty="0" err="1"/>
              <a:t>que</a:t>
            </a:r>
            <a:r>
              <a:rPr dirty="0"/>
              <a:t> SLR) de 71 </a:t>
            </a:r>
            <a:r>
              <a:rPr dirty="0" err="1"/>
              <a:t>estudos</a:t>
            </a:r>
            <a:r>
              <a:rPr dirty="0"/>
              <a:t> </a:t>
            </a:r>
            <a:r>
              <a:rPr dirty="0" err="1"/>
              <a:t>primários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2015 e 2022. </a:t>
            </a:r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duas </a:t>
            </a:r>
            <a:r>
              <a:rPr dirty="0" err="1"/>
              <a:t>dimensões</a:t>
            </a:r>
            <a:r>
              <a:rPr dirty="0"/>
              <a:t> </a:t>
            </a:r>
            <a:r>
              <a:rPr dirty="0" err="1"/>
              <a:t>cruzadas</a:t>
            </a:r>
            <a:r>
              <a:rPr dirty="0"/>
              <a:t>: (1)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requisito</a:t>
            </a:r>
            <a:r>
              <a:rPr dirty="0"/>
              <a:t> (</a:t>
            </a:r>
            <a:r>
              <a:rPr dirty="0" err="1"/>
              <a:t>funcional</a:t>
            </a:r>
            <a:r>
              <a:rPr dirty="0"/>
              <a:t>, de </a:t>
            </a:r>
            <a:r>
              <a:rPr dirty="0" err="1"/>
              <a:t>qualidade</a:t>
            </a:r>
            <a:r>
              <a:rPr dirty="0"/>
              <a:t>, de </a:t>
            </a:r>
            <a:r>
              <a:rPr dirty="0" err="1"/>
              <a:t>processo</a:t>
            </a:r>
            <a:r>
              <a:rPr dirty="0"/>
              <a:t>, de dados); (2) </a:t>
            </a:r>
            <a:r>
              <a:rPr dirty="0" err="1"/>
              <a:t>atividade</a:t>
            </a:r>
            <a:r>
              <a:rPr dirty="0"/>
              <a:t> de RE (</a:t>
            </a:r>
            <a:r>
              <a:rPr dirty="0" err="1"/>
              <a:t>elicitação</a:t>
            </a:r>
            <a:r>
              <a:rPr dirty="0"/>
              <a:t>, </a:t>
            </a:r>
            <a:r>
              <a:rPr dirty="0" err="1"/>
              <a:t>especificação</a:t>
            </a:r>
            <a:r>
              <a:rPr dirty="0"/>
              <a:t>, </a:t>
            </a:r>
            <a:r>
              <a:rPr dirty="0" err="1"/>
              <a:t>verificação</a:t>
            </a:r>
            <a:r>
              <a:rPr dirty="0"/>
              <a:t>, </a:t>
            </a:r>
            <a:r>
              <a:rPr dirty="0" err="1"/>
              <a:t>gerenciamento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CATEGORIAS DE REQUISITOS PARA SISTEMAS DE IA</a:t>
            </a:r>
          </a:p>
          <a:p>
            <a:endParaRPr dirty="0"/>
          </a:p>
          <a:p>
            <a:r>
              <a:rPr dirty="0" err="1"/>
              <a:t>Requisitos</a:t>
            </a:r>
            <a:r>
              <a:rPr dirty="0"/>
              <a:t> de dados (35% dos </a:t>
            </a:r>
            <a:r>
              <a:rPr dirty="0" err="1"/>
              <a:t>estudos</a:t>
            </a:r>
            <a:r>
              <a:rPr dirty="0"/>
              <a:t>): </a:t>
            </a:r>
            <a:r>
              <a:rPr dirty="0" err="1"/>
              <a:t>qualidade</a:t>
            </a:r>
            <a:r>
              <a:rPr dirty="0"/>
              <a:t>, </a:t>
            </a:r>
            <a:r>
              <a:rPr dirty="0" err="1"/>
              <a:t>proveniência</a:t>
            </a:r>
            <a:r>
              <a:rPr dirty="0"/>
              <a:t>, </a:t>
            </a:r>
            <a:r>
              <a:rPr dirty="0" err="1"/>
              <a:t>representatividade</a:t>
            </a:r>
            <a:r>
              <a:rPr dirty="0"/>
              <a:t>, </a:t>
            </a:r>
            <a:r>
              <a:rPr dirty="0" err="1"/>
              <a:t>privacidade</a:t>
            </a:r>
            <a:r>
              <a:rPr dirty="0"/>
              <a:t> e </a:t>
            </a:r>
            <a:r>
              <a:rPr dirty="0" err="1"/>
              <a:t>atualidade</a:t>
            </a:r>
            <a:r>
              <a:rPr dirty="0"/>
              <a:t> dos dados de </a:t>
            </a:r>
            <a:r>
              <a:rPr dirty="0" err="1"/>
              <a:t>treinamento</a:t>
            </a:r>
            <a:r>
              <a:rPr dirty="0"/>
              <a:t>. </a:t>
            </a:r>
            <a:r>
              <a:rPr dirty="0" err="1"/>
              <a:t>Descoberta</a:t>
            </a:r>
            <a:r>
              <a:rPr dirty="0"/>
              <a:t>: a </a:t>
            </a:r>
            <a:r>
              <a:rPr dirty="0" err="1"/>
              <a:t>maioria</a:t>
            </a:r>
            <a:r>
              <a:rPr dirty="0"/>
              <a:t> dos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especifica</a:t>
            </a:r>
            <a:r>
              <a:rPr dirty="0"/>
              <a:t> </a:t>
            </a:r>
            <a:r>
              <a:rPr dirty="0" err="1"/>
              <a:t>formalmente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de dados — </a:t>
            </a:r>
            <a:r>
              <a:rPr dirty="0" err="1"/>
              <a:t>tratam</a:t>
            </a:r>
            <a:r>
              <a:rPr dirty="0"/>
              <a:t> dados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insumo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com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mensurável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modelo</a:t>
            </a:r>
            <a:r>
              <a:rPr dirty="0"/>
              <a:t>: </a:t>
            </a:r>
            <a:r>
              <a:rPr dirty="0" err="1"/>
              <a:t>acurácia</a:t>
            </a:r>
            <a:r>
              <a:rPr dirty="0"/>
              <a:t>, fairness, </a:t>
            </a:r>
            <a:r>
              <a:rPr dirty="0" err="1"/>
              <a:t>robustez</a:t>
            </a:r>
            <a:r>
              <a:rPr dirty="0"/>
              <a:t>, </a:t>
            </a:r>
            <a:r>
              <a:rPr dirty="0" err="1"/>
              <a:t>interpretabilidade</a:t>
            </a:r>
            <a:r>
              <a:rPr dirty="0"/>
              <a:t> e </a:t>
            </a:r>
            <a:r>
              <a:rPr dirty="0" err="1"/>
              <a:t>explicabilidade</a:t>
            </a:r>
            <a:r>
              <a:rPr dirty="0"/>
              <a:t>. A </a:t>
            </a:r>
            <a:r>
              <a:rPr dirty="0" err="1"/>
              <a:t>especificação</a:t>
            </a:r>
            <a:r>
              <a:rPr dirty="0"/>
              <a:t> de fairness é o </a:t>
            </a:r>
            <a:r>
              <a:rPr dirty="0" err="1"/>
              <a:t>requisito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citado</a:t>
            </a:r>
            <a:r>
              <a:rPr dirty="0"/>
              <a:t> mas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operacionalizado</a:t>
            </a:r>
            <a:r>
              <a:rPr dirty="0"/>
              <a:t> —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intenção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critério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sistema</a:t>
            </a:r>
            <a:r>
              <a:rPr dirty="0"/>
              <a:t>: </a:t>
            </a:r>
            <a:r>
              <a:rPr dirty="0" err="1"/>
              <a:t>integração</a:t>
            </a:r>
            <a:r>
              <a:rPr dirty="0"/>
              <a:t> com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legados</a:t>
            </a:r>
            <a:r>
              <a:rPr dirty="0"/>
              <a:t>, </a:t>
            </a:r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latência</a:t>
            </a:r>
            <a:r>
              <a:rPr dirty="0"/>
              <a:t> e throughput, </a:t>
            </a: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produção</a:t>
            </a:r>
            <a:r>
              <a:rPr dirty="0"/>
              <a:t> (drift detection).</a:t>
            </a:r>
          </a:p>
          <a:p>
            <a:endParaRPr dirty="0"/>
          </a:p>
          <a:p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processo</a:t>
            </a:r>
            <a:r>
              <a:rPr dirty="0"/>
              <a:t>: </a:t>
            </a:r>
            <a:r>
              <a:rPr dirty="0" err="1"/>
              <a:t>rastreabilidade</a:t>
            </a:r>
            <a:r>
              <a:rPr dirty="0"/>
              <a:t> de </a:t>
            </a:r>
            <a:r>
              <a:rPr dirty="0" err="1"/>
              <a:t>decisões</a:t>
            </a:r>
            <a:r>
              <a:rPr dirty="0"/>
              <a:t> de design, </a:t>
            </a:r>
            <a:r>
              <a:rPr dirty="0" err="1"/>
              <a:t>auditabilidade</a:t>
            </a:r>
            <a:r>
              <a:rPr dirty="0"/>
              <a:t> de </a:t>
            </a:r>
            <a:r>
              <a:rPr dirty="0" err="1"/>
              <a:t>experimentos</a:t>
            </a:r>
            <a:r>
              <a:rPr dirty="0"/>
              <a:t>, </a:t>
            </a:r>
            <a:r>
              <a:rPr dirty="0" err="1"/>
              <a:t>documentação</a:t>
            </a:r>
            <a:r>
              <a:rPr dirty="0"/>
              <a:t> de trade-offs. </a:t>
            </a:r>
            <a:r>
              <a:rPr dirty="0" err="1"/>
              <a:t>Praticamente</a:t>
            </a:r>
            <a:r>
              <a:rPr dirty="0"/>
              <a:t> </a:t>
            </a:r>
            <a:r>
              <a:rPr dirty="0" err="1"/>
              <a:t>ausente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projetos</a:t>
            </a:r>
            <a:r>
              <a:rPr dirty="0"/>
              <a:t> de mercado.</a:t>
            </a:r>
          </a:p>
          <a:p>
            <a:endParaRPr dirty="0"/>
          </a:p>
          <a:p>
            <a:r>
              <a:rPr dirty="0"/>
              <a:t>DISTINÇÃO CENTRAL: RE PARA SISTEMAS DE IA vs RE COM FERRAMENTAS DE IA</a:t>
            </a:r>
          </a:p>
          <a:p>
            <a:r>
              <a:rPr dirty="0"/>
              <a:t>O </a:t>
            </a:r>
            <a:r>
              <a:rPr dirty="0" err="1"/>
              <a:t>artigo</a:t>
            </a:r>
            <a:r>
              <a:rPr dirty="0"/>
              <a:t> distingue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contextos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frequentemente</a:t>
            </a:r>
            <a:r>
              <a:rPr dirty="0"/>
              <a:t> se </a:t>
            </a:r>
            <a:r>
              <a:rPr dirty="0" err="1"/>
              <a:t>confundem</a:t>
            </a:r>
            <a:r>
              <a:rPr dirty="0"/>
              <a:t>:</a:t>
            </a:r>
          </a:p>
          <a:p>
            <a:r>
              <a:rPr dirty="0"/>
              <a:t>(A) RE para </a:t>
            </a:r>
            <a:r>
              <a:rPr dirty="0" err="1"/>
              <a:t>sistemas</a:t>
            </a:r>
            <a:r>
              <a:rPr dirty="0"/>
              <a:t> de IA: </a:t>
            </a:r>
            <a:r>
              <a:rPr dirty="0" err="1"/>
              <a:t>especificar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de um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cujo</a:t>
            </a:r>
            <a:r>
              <a:rPr dirty="0"/>
              <a:t> </a:t>
            </a:r>
            <a:r>
              <a:rPr dirty="0" err="1"/>
              <a:t>comportamento</a:t>
            </a:r>
            <a:r>
              <a:rPr dirty="0"/>
              <a:t> é </a:t>
            </a:r>
            <a:r>
              <a:rPr dirty="0" err="1"/>
              <a:t>determinado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de ML — </a:t>
            </a:r>
            <a:r>
              <a:rPr dirty="0" err="1"/>
              <a:t>aqui</a:t>
            </a:r>
            <a:r>
              <a:rPr dirty="0"/>
              <a:t> a </a:t>
            </a:r>
            <a:r>
              <a:rPr dirty="0" err="1"/>
              <a:t>incerteza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ser </a:t>
            </a:r>
            <a:r>
              <a:rPr dirty="0" err="1"/>
              <a:t>gerenciada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requisito</a:t>
            </a:r>
            <a:r>
              <a:rPr dirty="0"/>
              <a:t>.</a:t>
            </a:r>
          </a:p>
          <a:p>
            <a:r>
              <a:rPr dirty="0"/>
              <a:t>(B) RE com ferramentas de IA: usar GenAI para </a:t>
            </a:r>
            <a:r>
              <a:rPr dirty="0" err="1"/>
              <a:t>apoiar</a:t>
            </a:r>
            <a:r>
              <a:rPr dirty="0"/>
              <a:t> o </a:t>
            </a:r>
            <a:r>
              <a:rPr dirty="0" err="1"/>
              <a:t>processo</a:t>
            </a:r>
            <a:r>
              <a:rPr dirty="0"/>
              <a:t> de RE de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— </a:t>
            </a:r>
            <a:r>
              <a:rPr dirty="0" err="1"/>
              <a:t>aqui</a:t>
            </a:r>
            <a:r>
              <a:rPr dirty="0"/>
              <a:t> a IA é ferramenta auxiliar do </a:t>
            </a:r>
            <a:r>
              <a:rPr dirty="0" err="1"/>
              <a:t>engenheiro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• </a:t>
            </a:r>
            <a:r>
              <a:rPr dirty="0" err="1"/>
              <a:t>Explicabilidade</a:t>
            </a:r>
            <a:r>
              <a:rPr dirty="0"/>
              <a:t> é </a:t>
            </a:r>
            <a:r>
              <a:rPr dirty="0" err="1"/>
              <a:t>citada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requisito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78% dos </a:t>
            </a:r>
            <a:r>
              <a:rPr dirty="0" err="1"/>
              <a:t>estudos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de IA de alto </a:t>
            </a:r>
            <a:r>
              <a:rPr dirty="0" err="1"/>
              <a:t>risco</a:t>
            </a:r>
            <a:r>
              <a:rPr dirty="0"/>
              <a:t>, mas </a:t>
            </a:r>
            <a:r>
              <a:rPr dirty="0" err="1"/>
              <a:t>apenas</a:t>
            </a:r>
            <a:r>
              <a:rPr dirty="0"/>
              <a:t> 12% </a:t>
            </a:r>
            <a:r>
              <a:rPr dirty="0" err="1"/>
              <a:t>propõem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verificáveis</a:t>
            </a:r>
            <a:r>
              <a:rPr dirty="0"/>
              <a:t> para </a:t>
            </a:r>
            <a:r>
              <a:rPr dirty="0" err="1"/>
              <a:t>ela</a:t>
            </a:r>
            <a:r>
              <a:rPr dirty="0"/>
              <a:t>.</a:t>
            </a:r>
          </a:p>
          <a:p>
            <a:r>
              <a:rPr dirty="0"/>
              <a:t>• Fairness, safety e privacy </a:t>
            </a:r>
            <a:r>
              <a:rPr dirty="0" err="1"/>
              <a:t>aparecem</a:t>
            </a:r>
            <a:r>
              <a:rPr dirty="0"/>
              <a:t> </a:t>
            </a:r>
            <a:r>
              <a:rPr dirty="0" err="1"/>
              <a:t>frequentemente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"</a:t>
            </a:r>
            <a:r>
              <a:rPr dirty="0" err="1"/>
              <a:t>requisitos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" mas </a:t>
            </a:r>
            <a:r>
              <a:rPr dirty="0" err="1"/>
              <a:t>raramente</a:t>
            </a:r>
            <a:r>
              <a:rPr dirty="0"/>
              <a:t> com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aceitação</a:t>
            </a:r>
            <a:r>
              <a:rPr dirty="0"/>
              <a:t> </a:t>
            </a:r>
            <a:r>
              <a:rPr dirty="0" err="1"/>
              <a:t>mensuráveis</a:t>
            </a:r>
            <a:r>
              <a:rPr dirty="0"/>
              <a:t>.</a:t>
            </a:r>
          </a:p>
          <a:p>
            <a:r>
              <a:rPr dirty="0"/>
              <a:t>• A </a:t>
            </a:r>
            <a:r>
              <a:rPr dirty="0" err="1"/>
              <a:t>rastreabilidade</a:t>
            </a:r>
            <a:r>
              <a:rPr dirty="0"/>
              <a:t> entre </a:t>
            </a:r>
            <a:r>
              <a:rPr dirty="0" err="1"/>
              <a:t>requisito</a:t>
            </a:r>
            <a:r>
              <a:rPr dirty="0"/>
              <a:t> de </a:t>
            </a:r>
            <a:r>
              <a:rPr dirty="0" err="1"/>
              <a:t>modelo</a:t>
            </a:r>
            <a:r>
              <a:rPr dirty="0"/>
              <a:t> e </a:t>
            </a:r>
            <a:r>
              <a:rPr dirty="0" err="1"/>
              <a:t>decisão</a:t>
            </a:r>
            <a:r>
              <a:rPr dirty="0"/>
              <a:t> de </a:t>
            </a:r>
            <a:r>
              <a:rPr dirty="0" err="1"/>
              <a:t>treinamento</a:t>
            </a:r>
            <a:r>
              <a:rPr dirty="0"/>
              <a:t> é o gap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</a:t>
            </a:r>
            <a:r>
              <a:rPr dirty="0" err="1"/>
              <a:t>identificado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Ahmad (2023) </a:t>
            </a:r>
            <a:r>
              <a:rPr dirty="0" err="1"/>
              <a:t>fundamenta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da academia </a:t>
            </a:r>
            <a:r>
              <a:rPr dirty="0" err="1"/>
              <a:t>precisa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de </a:t>
            </a:r>
            <a:r>
              <a:rPr dirty="0" err="1"/>
              <a:t>rastreabilidade</a:t>
            </a:r>
            <a:r>
              <a:rPr dirty="0"/>
              <a:t> e </a:t>
            </a:r>
            <a:r>
              <a:rPr dirty="0" err="1"/>
              <a:t>auditabilidade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burocracia</a:t>
            </a:r>
            <a:r>
              <a:rPr dirty="0"/>
              <a:t>, mas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mecanismos</a:t>
            </a:r>
            <a:r>
              <a:rPr dirty="0"/>
              <a:t> de accountability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</a:t>
            </a:r>
            <a:r>
              <a:rPr dirty="0" err="1"/>
              <a:t>afetam</a:t>
            </a:r>
            <a:r>
              <a:rPr dirty="0"/>
              <a:t> </a:t>
            </a:r>
            <a:r>
              <a:rPr dirty="0" err="1"/>
              <a:t>saúde</a:t>
            </a:r>
            <a:r>
              <a:rPr dirty="0"/>
              <a:t> humana. O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da academia </a:t>
            </a:r>
            <a:r>
              <a:rPr dirty="0" err="1"/>
              <a:t>ilustra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o </a:t>
            </a:r>
            <a:r>
              <a:rPr dirty="0" err="1"/>
              <a:t>domínio</a:t>
            </a:r>
            <a:r>
              <a:rPr dirty="0"/>
              <a:t> de alto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identifica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carente</a:t>
            </a:r>
            <a:r>
              <a:rPr dirty="0"/>
              <a:t> de </a:t>
            </a:r>
            <a:r>
              <a:rPr dirty="0" err="1"/>
              <a:t>especificação</a:t>
            </a:r>
            <a:r>
              <a:rPr dirty="0"/>
              <a:t> </a:t>
            </a:r>
            <a:r>
              <a:rPr dirty="0" err="1"/>
              <a:t>adequada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é um slide importante. Diferenciar claramente os tipos de memória.</a:t>
            </a:r>
          </a:p>
          <a:p>
            <a:endParaRPr/>
          </a:p>
          <a:p>
            <a:r>
              <a:t>Memória paramétrica: não é auditável, não é controlável, não é atualizável sem retreinamento. Memória externa: rastreável, versionável, controlável. Memória persistente do projeto: o 'cérebro do projeto' — decisões arquiteturais, glossário, restrições.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Explicar</a:t>
            </a:r>
            <a:r>
              <a:rPr dirty="0"/>
              <a:t> retrieval de forma simples: </a:t>
            </a:r>
            <a:r>
              <a:rPr dirty="0" err="1"/>
              <a:t>trazer</a:t>
            </a:r>
            <a:r>
              <a:rPr dirty="0"/>
              <a:t> o </a:t>
            </a:r>
            <a:r>
              <a:rPr dirty="0" err="1"/>
              <a:t>pedaço</a:t>
            </a:r>
            <a:r>
              <a:rPr dirty="0"/>
              <a:t> </a:t>
            </a:r>
            <a:r>
              <a:rPr dirty="0" err="1"/>
              <a:t>certo</a:t>
            </a:r>
            <a:r>
              <a:rPr dirty="0"/>
              <a:t> da base </a:t>
            </a:r>
            <a:r>
              <a:rPr dirty="0" err="1"/>
              <a:t>na</a:t>
            </a:r>
            <a:r>
              <a:rPr dirty="0"/>
              <a:t> hora </a:t>
            </a:r>
            <a:r>
              <a:rPr dirty="0" err="1"/>
              <a:t>certa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Embeddings </a:t>
            </a:r>
            <a:r>
              <a:rPr dirty="0" err="1"/>
              <a:t>convertem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vetores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capturam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 </a:t>
            </a:r>
            <a:r>
              <a:rPr dirty="0" err="1"/>
              <a:t>semântico</a:t>
            </a:r>
            <a:r>
              <a:rPr dirty="0"/>
              <a:t>. Dense retrieval </a:t>
            </a:r>
            <a:r>
              <a:rPr dirty="0" err="1"/>
              <a:t>encontra</a:t>
            </a:r>
            <a:r>
              <a:rPr dirty="0"/>
              <a:t> </a:t>
            </a:r>
            <a:r>
              <a:rPr dirty="0" err="1"/>
              <a:t>trechos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próximos</a:t>
            </a:r>
            <a:r>
              <a:rPr dirty="0"/>
              <a:t> da </a:t>
            </a:r>
            <a:r>
              <a:rPr dirty="0" err="1"/>
              <a:t>pergunta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palavras-chave</a:t>
            </a:r>
            <a:r>
              <a:rPr dirty="0"/>
              <a:t>, mas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Lewis et al. (2020)</a:t>
            </a:r>
          </a:p>
          <a:p>
            <a:r>
              <a:rPr dirty="0"/>
              <a:t>"Retrieval-Augmented Generation for Knowledge-Intensive NLP Tasks"</a:t>
            </a:r>
          </a:p>
          <a:p>
            <a:r>
              <a:rPr dirty="0" err="1"/>
              <a:t>NeurIPS</a:t>
            </a:r>
            <a:r>
              <a:rPr dirty="0"/>
              <a:t> 2020 | https://arxiv.org/abs/2005.11401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Modelos</a:t>
            </a:r>
            <a:r>
              <a:rPr dirty="0"/>
              <a:t> seq2seq "</a:t>
            </a:r>
            <a:r>
              <a:rPr dirty="0" err="1"/>
              <a:t>paramétricos</a:t>
            </a:r>
            <a:r>
              <a:rPr dirty="0"/>
              <a:t>" (</a:t>
            </a:r>
            <a:r>
              <a:rPr dirty="0" err="1"/>
              <a:t>como</a:t>
            </a:r>
            <a:r>
              <a:rPr dirty="0"/>
              <a:t> T5 e GPT) </a:t>
            </a:r>
            <a:r>
              <a:rPr dirty="0" err="1"/>
              <a:t>armazenam</a:t>
            </a:r>
            <a:r>
              <a:rPr dirty="0"/>
              <a:t>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nos</a:t>
            </a:r>
            <a:r>
              <a:rPr dirty="0"/>
              <a:t> pesos —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atualização</a:t>
            </a:r>
            <a:r>
              <a:rPr dirty="0"/>
              <a:t>, </a:t>
            </a:r>
            <a:r>
              <a:rPr dirty="0" err="1"/>
              <a:t>rastreabilidade</a:t>
            </a:r>
            <a:r>
              <a:rPr dirty="0"/>
              <a:t> e </a:t>
            </a:r>
            <a:r>
              <a:rPr dirty="0" err="1"/>
              <a:t>limitação</a:t>
            </a:r>
            <a:r>
              <a:rPr dirty="0"/>
              <a:t> de </a:t>
            </a:r>
            <a:r>
              <a:rPr dirty="0" err="1"/>
              <a:t>capacidade</a:t>
            </a:r>
            <a:r>
              <a:rPr dirty="0"/>
              <a:t>. Como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recuperação</a:t>
            </a:r>
            <a:r>
              <a:rPr dirty="0"/>
              <a:t> de </a:t>
            </a:r>
            <a:r>
              <a:rPr dirty="0" err="1"/>
              <a:t>informação</a:t>
            </a:r>
            <a:r>
              <a:rPr dirty="0"/>
              <a:t> com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linguagem</a:t>
            </a:r>
            <a:r>
              <a:rPr dirty="0"/>
              <a:t> para </a:t>
            </a:r>
            <a:r>
              <a:rPr dirty="0" err="1"/>
              <a:t>obter</a:t>
            </a:r>
            <a:r>
              <a:rPr dirty="0"/>
              <a:t> o </a:t>
            </a:r>
            <a:r>
              <a:rPr dirty="0" err="1"/>
              <a:t>melhor</a:t>
            </a:r>
            <a:r>
              <a:rPr dirty="0"/>
              <a:t> dos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paradigmas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ARQUITETURA RAG</a:t>
            </a:r>
          </a:p>
          <a:p>
            <a:endParaRPr dirty="0"/>
          </a:p>
          <a:p>
            <a:r>
              <a:rPr dirty="0" err="1"/>
              <a:t>Componente</a:t>
            </a:r>
            <a:r>
              <a:rPr dirty="0"/>
              <a:t> de </a:t>
            </a:r>
            <a:r>
              <a:rPr dirty="0" err="1"/>
              <a:t>recuperação</a:t>
            </a:r>
            <a:r>
              <a:rPr dirty="0"/>
              <a:t> (Retriever): DPR (Dense Passage Retrieval) — bi-encoder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projeta</a:t>
            </a:r>
            <a:r>
              <a:rPr dirty="0"/>
              <a:t> query e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vetorial</a:t>
            </a:r>
            <a:r>
              <a:rPr dirty="0"/>
              <a:t> </a:t>
            </a:r>
            <a:r>
              <a:rPr dirty="0" err="1"/>
              <a:t>compartilhado</a:t>
            </a:r>
            <a:r>
              <a:rPr dirty="0"/>
              <a:t>. Para </a:t>
            </a:r>
            <a:r>
              <a:rPr dirty="0" err="1"/>
              <a:t>cada</a:t>
            </a:r>
            <a:r>
              <a:rPr dirty="0"/>
              <a:t> query, </a:t>
            </a:r>
            <a:r>
              <a:rPr dirty="0" err="1"/>
              <a:t>recupera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k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Componente</a:t>
            </a:r>
            <a:r>
              <a:rPr dirty="0"/>
              <a:t> de </a:t>
            </a:r>
            <a:r>
              <a:rPr dirty="0" err="1"/>
              <a:t>geração</a:t>
            </a:r>
            <a:r>
              <a:rPr dirty="0"/>
              <a:t> (Generator): BART (seq2seq com encoder-decoder)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condiciona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query original +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 </a:t>
            </a:r>
            <a:r>
              <a:rPr dirty="0" err="1"/>
              <a:t>concatenados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Duas </a:t>
            </a:r>
            <a:r>
              <a:rPr dirty="0" err="1"/>
              <a:t>variantes</a:t>
            </a:r>
            <a:r>
              <a:rPr dirty="0"/>
              <a:t> </a:t>
            </a:r>
            <a:r>
              <a:rPr dirty="0" err="1"/>
              <a:t>arquiteturais</a:t>
            </a:r>
            <a:r>
              <a:rPr dirty="0"/>
              <a:t>:</a:t>
            </a:r>
          </a:p>
          <a:p>
            <a:r>
              <a:rPr dirty="0"/>
              <a:t>• RAG-Sequence: um conjunto de </a:t>
            </a:r>
            <a:r>
              <a:rPr dirty="0" err="1"/>
              <a:t>documentos</a:t>
            </a:r>
            <a:r>
              <a:rPr dirty="0"/>
              <a:t> é </a:t>
            </a:r>
            <a:r>
              <a:rPr dirty="0" err="1"/>
              <a:t>usado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a </a:t>
            </a:r>
            <a:r>
              <a:rPr dirty="0" err="1"/>
              <a:t>sequência</a:t>
            </a:r>
            <a:r>
              <a:rPr dirty="0"/>
              <a:t> de </a:t>
            </a:r>
            <a:r>
              <a:rPr dirty="0" err="1"/>
              <a:t>saída</a:t>
            </a:r>
            <a:r>
              <a:rPr dirty="0"/>
              <a:t>. </a:t>
            </a:r>
            <a:r>
              <a:rPr dirty="0" err="1"/>
              <a:t>Melhor</a:t>
            </a:r>
            <a:r>
              <a:rPr dirty="0"/>
              <a:t> para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é </a:t>
            </a:r>
            <a:r>
              <a:rPr dirty="0" err="1"/>
              <a:t>fundamentada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.</a:t>
            </a:r>
          </a:p>
          <a:p>
            <a:r>
              <a:rPr dirty="0"/>
              <a:t>• RAG-Token: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</a:t>
            </a:r>
            <a:r>
              <a:rPr dirty="0" err="1"/>
              <a:t>usados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tokens da </a:t>
            </a:r>
            <a:r>
              <a:rPr dirty="0" err="1"/>
              <a:t>saída</a:t>
            </a:r>
            <a:r>
              <a:rPr dirty="0"/>
              <a:t>. Mais </a:t>
            </a:r>
            <a:r>
              <a:rPr dirty="0" err="1"/>
              <a:t>flexível</a:t>
            </a:r>
            <a:r>
              <a:rPr dirty="0"/>
              <a:t>,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combinam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fontes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TREINAMENTO</a:t>
            </a:r>
          </a:p>
          <a:p>
            <a:r>
              <a:rPr dirty="0"/>
              <a:t>End-to-end: o retriever e o generator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treinados</a:t>
            </a:r>
            <a:r>
              <a:rPr dirty="0"/>
              <a:t> </a:t>
            </a:r>
            <a:r>
              <a:rPr dirty="0" err="1"/>
              <a:t>conjuntamente</a:t>
            </a:r>
            <a:r>
              <a:rPr dirty="0"/>
              <a:t>, com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 </a:t>
            </a:r>
            <a:r>
              <a:rPr dirty="0" err="1"/>
              <a:t>tratados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latentes</a:t>
            </a:r>
            <a:r>
              <a:rPr dirty="0"/>
              <a:t>. O </a:t>
            </a:r>
            <a:r>
              <a:rPr dirty="0" err="1"/>
              <a:t>gradiente</a:t>
            </a:r>
            <a:r>
              <a:rPr dirty="0"/>
              <a:t> </a:t>
            </a:r>
            <a:r>
              <a:rPr dirty="0" err="1"/>
              <a:t>flui</a:t>
            </a:r>
            <a:r>
              <a:rPr dirty="0"/>
              <a:t> do generator para o retriever via </a:t>
            </a:r>
            <a:r>
              <a:rPr dirty="0" err="1"/>
              <a:t>marginalização</a:t>
            </a:r>
            <a:r>
              <a:rPr dirty="0"/>
              <a:t> —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supervisão</a:t>
            </a:r>
            <a:r>
              <a:rPr dirty="0"/>
              <a:t> </a:t>
            </a:r>
            <a:r>
              <a:rPr dirty="0" err="1"/>
              <a:t>explícita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quais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AVALIAÇÃO</a:t>
            </a:r>
          </a:p>
          <a:p>
            <a:r>
              <a:rPr dirty="0"/>
              <a:t>Benchmarks: Natural Questions, </a:t>
            </a:r>
            <a:r>
              <a:rPr dirty="0" err="1"/>
              <a:t>WebQuestions</a:t>
            </a:r>
            <a:r>
              <a:rPr dirty="0"/>
              <a:t>, </a:t>
            </a:r>
            <a:r>
              <a:rPr dirty="0" err="1"/>
              <a:t>CuratedTrec</a:t>
            </a:r>
            <a:r>
              <a:rPr dirty="0"/>
              <a:t>, </a:t>
            </a:r>
            <a:r>
              <a:rPr dirty="0" err="1"/>
              <a:t>TriviaQA</a:t>
            </a:r>
            <a:r>
              <a:rPr dirty="0"/>
              <a:t> (QA de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), MS-MARCO, Jeopardy (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perguntas</a:t>
            </a:r>
            <a:r>
              <a:rPr dirty="0"/>
              <a:t>), FEVER (</a:t>
            </a:r>
            <a:r>
              <a:rPr dirty="0" err="1"/>
              <a:t>verificação</a:t>
            </a:r>
            <a:r>
              <a:rPr dirty="0"/>
              <a:t> de </a:t>
            </a:r>
            <a:r>
              <a:rPr dirty="0" err="1"/>
              <a:t>fatos</a:t>
            </a:r>
            <a:r>
              <a:rPr dirty="0"/>
              <a:t>).</a:t>
            </a:r>
          </a:p>
          <a:p>
            <a:r>
              <a:rPr dirty="0" err="1"/>
              <a:t>Resultado</a:t>
            </a:r>
            <a:r>
              <a:rPr dirty="0"/>
              <a:t>: RAG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puramente</a:t>
            </a:r>
            <a:r>
              <a:rPr dirty="0"/>
              <a:t> </a:t>
            </a:r>
            <a:r>
              <a:rPr dirty="0" err="1"/>
              <a:t>paramétricos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benchmarks, com </a:t>
            </a:r>
            <a:r>
              <a:rPr dirty="0" err="1"/>
              <a:t>ganhos</a:t>
            </a:r>
            <a:r>
              <a:rPr dirty="0"/>
              <a:t> de 2-10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percentuais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QA de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. Em FEVER,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abordagens</a:t>
            </a:r>
            <a:r>
              <a:rPr dirty="0"/>
              <a:t> </a:t>
            </a:r>
            <a:r>
              <a:rPr dirty="0" err="1"/>
              <a:t>especializadas</a:t>
            </a:r>
            <a:r>
              <a:rPr dirty="0"/>
              <a:t> de </a:t>
            </a:r>
            <a:r>
              <a:rPr dirty="0" err="1"/>
              <a:t>verificação</a:t>
            </a:r>
            <a:r>
              <a:rPr dirty="0"/>
              <a:t> de </a:t>
            </a:r>
            <a:r>
              <a:rPr dirty="0" err="1"/>
              <a:t>fatos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VANTAGENS SOBRE MODELOS PARAMÉTRICOS</a:t>
            </a:r>
          </a:p>
          <a:p>
            <a:r>
              <a:rPr dirty="0"/>
              <a:t>• </a:t>
            </a:r>
            <a:r>
              <a:rPr dirty="0" err="1"/>
              <a:t>Rastreabilidade</a:t>
            </a:r>
            <a:r>
              <a:rPr dirty="0"/>
              <a:t>: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inspecionar</a:t>
            </a:r>
            <a:r>
              <a:rPr dirty="0"/>
              <a:t> quais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geraram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Atualização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retreinamento</a:t>
            </a:r>
            <a:r>
              <a:rPr dirty="0"/>
              <a:t>: </a:t>
            </a:r>
            <a:r>
              <a:rPr dirty="0" err="1"/>
              <a:t>substituir</a:t>
            </a:r>
            <a:r>
              <a:rPr dirty="0"/>
              <a:t> a base de </a:t>
            </a:r>
            <a:r>
              <a:rPr dirty="0" err="1"/>
              <a:t>recuperação</a:t>
            </a:r>
            <a:r>
              <a:rPr dirty="0"/>
              <a:t> é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atualizar</a:t>
            </a:r>
            <a:r>
              <a:rPr dirty="0"/>
              <a:t> o </a:t>
            </a:r>
            <a:r>
              <a:rPr dirty="0" err="1"/>
              <a:t>conhecimento</a:t>
            </a:r>
            <a:r>
              <a:rPr dirty="0"/>
              <a:t>.</a:t>
            </a:r>
          </a:p>
          <a:p>
            <a:r>
              <a:rPr dirty="0"/>
              <a:t>• Menor </a:t>
            </a:r>
            <a:r>
              <a:rPr dirty="0" err="1"/>
              <a:t>tendência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: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Generalização</a:t>
            </a:r>
            <a:r>
              <a:rPr dirty="0"/>
              <a:t> a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 fine-tune do retriever </a:t>
            </a:r>
            <a:r>
              <a:rPr dirty="0" err="1"/>
              <a:t>sobre</a:t>
            </a:r>
            <a:r>
              <a:rPr dirty="0"/>
              <a:t> corpus </a:t>
            </a:r>
            <a:r>
              <a:rPr dirty="0" err="1"/>
              <a:t>especializado</a:t>
            </a:r>
            <a:r>
              <a:rPr dirty="0"/>
              <a:t>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retreinamento</a:t>
            </a:r>
            <a:r>
              <a:rPr dirty="0"/>
              <a:t> do LLM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Latência</a:t>
            </a:r>
            <a:r>
              <a:rPr dirty="0"/>
              <a:t>: a </a:t>
            </a:r>
            <a:r>
              <a:rPr dirty="0" err="1"/>
              <a:t>recuperação</a:t>
            </a:r>
            <a:r>
              <a:rPr dirty="0"/>
              <a:t> </a:t>
            </a:r>
            <a:r>
              <a:rPr dirty="0" err="1"/>
              <a:t>adiciona</a:t>
            </a:r>
            <a:r>
              <a:rPr dirty="0"/>
              <a:t> tempo de </a:t>
            </a:r>
            <a:r>
              <a:rPr dirty="0" err="1"/>
              <a:t>processamento</a:t>
            </a:r>
            <a:r>
              <a:rPr dirty="0"/>
              <a:t> (</a:t>
            </a:r>
            <a:r>
              <a:rPr dirty="0" err="1"/>
              <a:t>tipicamente</a:t>
            </a:r>
            <a:r>
              <a:rPr dirty="0"/>
              <a:t> 200-500ms para corpus de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documentos</a:t>
            </a:r>
            <a:r>
              <a:rPr dirty="0"/>
              <a:t>). </a:t>
            </a:r>
            <a:r>
              <a:rPr dirty="0" err="1"/>
              <a:t>Qualidade</a:t>
            </a:r>
            <a:r>
              <a:rPr dirty="0"/>
              <a:t> do retriever é </a:t>
            </a:r>
            <a:r>
              <a:rPr dirty="0" err="1"/>
              <a:t>crítica</a:t>
            </a:r>
            <a:r>
              <a:rPr dirty="0"/>
              <a:t>: garbage retrieval → garbage generation. </a:t>
            </a:r>
            <a:r>
              <a:rPr dirty="0" err="1"/>
              <a:t>Documentos</a:t>
            </a:r>
            <a:r>
              <a:rPr dirty="0"/>
              <a:t> de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base </a:t>
            </a:r>
            <a:r>
              <a:rPr dirty="0" err="1"/>
              <a:t>degradam</a:t>
            </a:r>
            <a:r>
              <a:rPr dirty="0"/>
              <a:t> a </a:t>
            </a:r>
            <a:r>
              <a:rPr dirty="0" err="1"/>
              <a:t>saída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resolve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 (</a:t>
            </a:r>
            <a:r>
              <a:rPr dirty="0" err="1"/>
              <a:t>contradição</a:t>
            </a:r>
            <a:r>
              <a:rPr dirty="0"/>
              <a:t> com o </a:t>
            </a:r>
            <a:r>
              <a:rPr dirty="0" err="1"/>
              <a:t>próprio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recuperado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RAG é o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 o Retrieval slide </a:t>
            </a:r>
            <a:r>
              <a:rPr dirty="0" err="1"/>
              <a:t>operacional</a:t>
            </a:r>
            <a:r>
              <a:rPr dirty="0"/>
              <a:t>. No </a:t>
            </a:r>
            <a:r>
              <a:rPr dirty="0" err="1"/>
              <a:t>sistema</a:t>
            </a:r>
            <a:r>
              <a:rPr dirty="0"/>
              <a:t> da academia, o histórico </a:t>
            </a:r>
            <a:r>
              <a:rPr dirty="0" err="1"/>
              <a:t>clínico</a:t>
            </a:r>
            <a:r>
              <a:rPr dirty="0"/>
              <a:t> do </a:t>
            </a:r>
            <a:r>
              <a:rPr dirty="0" err="1"/>
              <a:t>aluno</a:t>
            </a:r>
            <a:r>
              <a:rPr dirty="0"/>
              <a:t>, as </a:t>
            </a:r>
            <a:r>
              <a:rPr dirty="0" err="1"/>
              <a:t>avaliações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 e o plano de </a:t>
            </a:r>
            <a:r>
              <a:rPr dirty="0" err="1"/>
              <a:t>treino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a "base de </a:t>
            </a:r>
            <a:r>
              <a:rPr dirty="0" err="1"/>
              <a:t>recuperação</a:t>
            </a:r>
            <a:r>
              <a:rPr dirty="0"/>
              <a:t>" — </a:t>
            </a:r>
            <a:r>
              <a:rPr dirty="0" err="1"/>
              <a:t>ancoram</a:t>
            </a:r>
            <a:r>
              <a:rPr dirty="0"/>
              <a:t> as </a:t>
            </a:r>
            <a:r>
              <a:rPr dirty="0" err="1"/>
              <a:t>respostas</a:t>
            </a:r>
            <a:r>
              <a:rPr dirty="0"/>
              <a:t> da IA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invés</a:t>
            </a:r>
            <a:r>
              <a:rPr dirty="0"/>
              <a:t> de </a:t>
            </a:r>
            <a:r>
              <a:rPr dirty="0" err="1"/>
              <a:t>deixá</a:t>
            </a:r>
            <a:r>
              <a:rPr dirty="0"/>
              <a:t>-la confabular. Lewis (2020) </a:t>
            </a:r>
            <a:r>
              <a:rPr dirty="0" err="1"/>
              <a:t>demonstra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arquitetura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puramente</a:t>
            </a:r>
            <a:r>
              <a:rPr dirty="0"/>
              <a:t> </a:t>
            </a:r>
            <a:r>
              <a:rPr dirty="0" err="1"/>
              <a:t>paramétricos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 </a:t>
            </a:r>
            <a:r>
              <a:rPr dirty="0" err="1"/>
              <a:t>importam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</a:t>
            </a:r>
            <a:r>
              <a:rPr dirty="0" err="1"/>
              <a:t>Karpukhin</a:t>
            </a:r>
            <a:r>
              <a:rPr dirty="0"/>
              <a:t> et al. (2020)</a:t>
            </a:r>
          </a:p>
          <a:p>
            <a:r>
              <a:rPr dirty="0"/>
              <a:t>"Dense Passage Retrieval for Open-Domain Question Answering"</a:t>
            </a:r>
          </a:p>
          <a:p>
            <a:r>
              <a:rPr dirty="0"/>
              <a:t>EMNLP 2020 | https://arxiv.org/abs/2004.04906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/>
              <a:t>Sistemas de QA de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 </a:t>
            </a:r>
            <a:r>
              <a:rPr dirty="0" err="1"/>
              <a:t>dependem</a:t>
            </a:r>
            <a:r>
              <a:rPr dirty="0"/>
              <a:t> de </a:t>
            </a:r>
            <a:r>
              <a:rPr dirty="0" err="1"/>
              <a:t>recuperação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de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de corpora </a:t>
            </a:r>
            <a:r>
              <a:rPr dirty="0" err="1"/>
              <a:t>massivos</a:t>
            </a:r>
            <a:r>
              <a:rPr dirty="0"/>
              <a:t>. TF-IDF e BM25 (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esparsa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palavras-chave</a:t>
            </a:r>
            <a:r>
              <a:rPr dirty="0"/>
              <a:t>) </a:t>
            </a:r>
            <a:r>
              <a:rPr dirty="0" err="1"/>
              <a:t>dominavam</a:t>
            </a:r>
            <a:r>
              <a:rPr dirty="0"/>
              <a:t> o campo. A </a:t>
            </a:r>
            <a:r>
              <a:rPr dirty="0" err="1"/>
              <a:t>hipótese</a:t>
            </a:r>
            <a:r>
              <a:rPr dirty="0"/>
              <a:t>: embeddings </a:t>
            </a:r>
            <a:r>
              <a:rPr dirty="0" err="1"/>
              <a:t>densos</a:t>
            </a:r>
            <a:r>
              <a:rPr dirty="0"/>
              <a:t> </a:t>
            </a:r>
            <a:r>
              <a:rPr dirty="0" err="1"/>
              <a:t>aprendidos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capturar</a:t>
            </a:r>
            <a:r>
              <a:rPr dirty="0"/>
              <a:t> </a:t>
            </a:r>
            <a:r>
              <a:rPr dirty="0" err="1"/>
              <a:t>relevância</a:t>
            </a:r>
            <a:r>
              <a:rPr dirty="0"/>
              <a:t> </a:t>
            </a:r>
            <a:r>
              <a:rPr dirty="0" err="1"/>
              <a:t>semântica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efetivamente</a:t>
            </a:r>
            <a:r>
              <a:rPr dirty="0"/>
              <a:t>,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a </a:t>
            </a:r>
            <a:r>
              <a:rPr dirty="0" err="1"/>
              <a:t>formulação</a:t>
            </a:r>
            <a:r>
              <a:rPr dirty="0"/>
              <a:t> da </a:t>
            </a: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compartilha</a:t>
            </a:r>
            <a:r>
              <a:rPr dirty="0"/>
              <a:t> </a:t>
            </a:r>
            <a:r>
              <a:rPr dirty="0" err="1"/>
              <a:t>vocabulário</a:t>
            </a:r>
            <a:r>
              <a:rPr dirty="0"/>
              <a:t> com a </a:t>
            </a:r>
            <a:r>
              <a:rPr dirty="0" err="1"/>
              <a:t>resposta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ARQUITETURA DPR (Dense Passage Retrieval)</a:t>
            </a:r>
          </a:p>
          <a:p>
            <a:endParaRPr dirty="0"/>
          </a:p>
          <a:p>
            <a:r>
              <a:rPr dirty="0"/>
              <a:t>Bi-encoder:</a:t>
            </a:r>
          </a:p>
          <a:p>
            <a:r>
              <a:rPr dirty="0"/>
              <a:t>• Encoder de </a:t>
            </a:r>
            <a:r>
              <a:rPr dirty="0" err="1"/>
              <a:t>perguntas</a:t>
            </a:r>
            <a:r>
              <a:rPr dirty="0"/>
              <a:t>: BERT-base </a:t>
            </a:r>
            <a:r>
              <a:rPr dirty="0" err="1"/>
              <a:t>treinado</a:t>
            </a:r>
            <a:r>
              <a:rPr dirty="0"/>
              <a:t> para </a:t>
            </a:r>
            <a:r>
              <a:rPr dirty="0" err="1"/>
              <a:t>mapear</a:t>
            </a:r>
            <a:r>
              <a:rPr dirty="0"/>
              <a:t> </a:t>
            </a:r>
            <a:r>
              <a:rPr dirty="0" err="1"/>
              <a:t>perguntas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vetores</a:t>
            </a:r>
            <a:r>
              <a:rPr dirty="0"/>
              <a:t> de 768 </a:t>
            </a:r>
            <a:r>
              <a:rPr dirty="0" err="1"/>
              <a:t>dimensões</a:t>
            </a:r>
            <a:r>
              <a:rPr dirty="0"/>
              <a:t>.</a:t>
            </a:r>
          </a:p>
          <a:p>
            <a:r>
              <a:rPr dirty="0"/>
              <a:t>• Encoder de </a:t>
            </a:r>
            <a:r>
              <a:rPr dirty="0" err="1"/>
              <a:t>passagens</a:t>
            </a:r>
            <a:r>
              <a:rPr dirty="0"/>
              <a:t>: BERT-base </a:t>
            </a:r>
            <a:r>
              <a:rPr dirty="0" err="1"/>
              <a:t>independente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mapeia</a:t>
            </a:r>
            <a:r>
              <a:rPr dirty="0"/>
              <a:t>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vetores</a:t>
            </a:r>
            <a:r>
              <a:rPr dirty="0"/>
              <a:t> do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Similaridade</a:t>
            </a:r>
            <a:r>
              <a:rPr dirty="0"/>
              <a:t>: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(dot product) entre </a:t>
            </a:r>
            <a:r>
              <a:rPr dirty="0" err="1"/>
              <a:t>vetor</a:t>
            </a:r>
            <a:r>
              <a:rPr dirty="0"/>
              <a:t> de </a:t>
            </a:r>
            <a:r>
              <a:rPr dirty="0" err="1"/>
              <a:t>pergunta</a:t>
            </a:r>
            <a:r>
              <a:rPr dirty="0"/>
              <a:t> e </a:t>
            </a:r>
            <a:r>
              <a:rPr dirty="0" err="1"/>
              <a:t>vetor</a:t>
            </a:r>
            <a:r>
              <a:rPr dirty="0"/>
              <a:t> de </a:t>
            </a:r>
            <a:r>
              <a:rPr dirty="0" err="1"/>
              <a:t>passagem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: FAISS (Facebook AI Similarity Search) para </a:t>
            </a:r>
            <a:r>
              <a:rPr dirty="0" err="1"/>
              <a:t>indexação</a:t>
            </a:r>
            <a:r>
              <a:rPr dirty="0"/>
              <a:t> e </a:t>
            </a:r>
            <a:r>
              <a:rPr dirty="0" err="1"/>
              <a:t>busca</a:t>
            </a:r>
            <a:r>
              <a:rPr dirty="0"/>
              <a:t> ANN (Approximate Nearest Neighbor) </a:t>
            </a:r>
            <a:r>
              <a:rPr dirty="0" err="1"/>
              <a:t>em</a:t>
            </a:r>
            <a:r>
              <a:rPr dirty="0"/>
              <a:t> corpora de 21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passagens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ESTRATÉGIA DE TREINAMENTO</a:t>
            </a:r>
          </a:p>
          <a:p>
            <a:r>
              <a:rPr dirty="0"/>
              <a:t>• Pares </a:t>
            </a:r>
            <a:r>
              <a:rPr dirty="0" err="1"/>
              <a:t>positivos</a:t>
            </a:r>
            <a:r>
              <a:rPr dirty="0"/>
              <a:t>: </a:t>
            </a:r>
            <a:r>
              <a:rPr dirty="0" err="1"/>
              <a:t>pergunta</a:t>
            </a:r>
            <a:r>
              <a:rPr dirty="0"/>
              <a:t> + </a:t>
            </a:r>
            <a:r>
              <a:rPr dirty="0" err="1"/>
              <a:t>passagem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contém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correta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Negativos</a:t>
            </a:r>
            <a:r>
              <a:rPr dirty="0"/>
              <a:t> </a:t>
            </a:r>
            <a:r>
              <a:rPr dirty="0" err="1"/>
              <a:t>difíceis</a:t>
            </a:r>
            <a:r>
              <a:rPr dirty="0"/>
              <a:t> (hard negatives):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retornadas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BM25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contêm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—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 </a:t>
            </a:r>
            <a:r>
              <a:rPr dirty="0" err="1"/>
              <a:t>relacionadas</a:t>
            </a:r>
            <a:r>
              <a:rPr dirty="0"/>
              <a:t> mas </a:t>
            </a:r>
            <a:r>
              <a:rPr dirty="0" err="1"/>
              <a:t>incorretas</a:t>
            </a:r>
            <a:r>
              <a:rPr dirty="0"/>
              <a:t>.</a:t>
            </a:r>
          </a:p>
          <a:p>
            <a:r>
              <a:rPr dirty="0"/>
              <a:t>• In-batch negatives: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positivas</a:t>
            </a:r>
            <a:r>
              <a:rPr dirty="0"/>
              <a:t> do batch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negativos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 —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computacionalmente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a </a:t>
            </a:r>
            <a:r>
              <a:rPr dirty="0" err="1"/>
              <a:t>diversidade</a:t>
            </a:r>
            <a:r>
              <a:rPr dirty="0"/>
              <a:t> de </a:t>
            </a:r>
            <a:r>
              <a:rPr dirty="0" err="1"/>
              <a:t>negativos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extra de </a:t>
            </a:r>
            <a:r>
              <a:rPr dirty="0" err="1"/>
              <a:t>computação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maximizar</a:t>
            </a:r>
            <a:r>
              <a:rPr dirty="0"/>
              <a:t> </a:t>
            </a:r>
            <a:r>
              <a:rPr dirty="0" err="1"/>
              <a:t>similaridade</a:t>
            </a:r>
            <a:r>
              <a:rPr dirty="0"/>
              <a:t> entre </a:t>
            </a:r>
            <a:r>
              <a:rPr dirty="0" err="1"/>
              <a:t>pergunta</a:t>
            </a:r>
            <a:r>
              <a:rPr dirty="0"/>
              <a:t> e </a:t>
            </a:r>
            <a:r>
              <a:rPr dirty="0" err="1"/>
              <a:t>passagem</a:t>
            </a:r>
            <a:r>
              <a:rPr dirty="0"/>
              <a:t> </a:t>
            </a:r>
            <a:r>
              <a:rPr dirty="0" err="1"/>
              <a:t>positiva</a:t>
            </a:r>
            <a:r>
              <a:rPr dirty="0"/>
              <a:t>, </a:t>
            </a:r>
            <a:r>
              <a:rPr dirty="0" err="1"/>
              <a:t>minimizar</a:t>
            </a:r>
            <a:r>
              <a:rPr dirty="0"/>
              <a:t> com </a:t>
            </a:r>
            <a:r>
              <a:rPr dirty="0" err="1"/>
              <a:t>negativos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AVALIAÇÃO</a:t>
            </a:r>
          </a:p>
          <a:p>
            <a:r>
              <a:rPr dirty="0"/>
              <a:t>Benchmarks: Natural Questions, </a:t>
            </a:r>
            <a:r>
              <a:rPr dirty="0" err="1"/>
              <a:t>TriviaQA</a:t>
            </a:r>
            <a:r>
              <a:rPr dirty="0"/>
              <a:t>, </a:t>
            </a:r>
            <a:r>
              <a:rPr dirty="0" err="1"/>
              <a:t>WebQuestions</a:t>
            </a:r>
            <a:r>
              <a:rPr dirty="0"/>
              <a:t>, </a:t>
            </a:r>
            <a:r>
              <a:rPr dirty="0" err="1"/>
              <a:t>CuratedTrec</a:t>
            </a:r>
            <a:r>
              <a:rPr dirty="0"/>
              <a:t>, </a:t>
            </a:r>
            <a:r>
              <a:rPr dirty="0" err="1"/>
              <a:t>SQuAD</a:t>
            </a:r>
            <a:r>
              <a:rPr dirty="0"/>
              <a:t>.</a:t>
            </a:r>
          </a:p>
          <a:p>
            <a:r>
              <a:rPr dirty="0" err="1"/>
              <a:t>Resultado</a:t>
            </a:r>
            <a:r>
              <a:rPr dirty="0"/>
              <a:t>: DPR </a:t>
            </a:r>
            <a:r>
              <a:rPr dirty="0" err="1"/>
              <a:t>supera</a:t>
            </a:r>
            <a:r>
              <a:rPr dirty="0"/>
              <a:t> BM25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benchmarks com </a:t>
            </a:r>
            <a:r>
              <a:rPr dirty="0" err="1"/>
              <a:t>margem</a:t>
            </a:r>
            <a:r>
              <a:rPr dirty="0"/>
              <a:t> </a:t>
            </a:r>
            <a:r>
              <a:rPr dirty="0" err="1"/>
              <a:t>significativa</a:t>
            </a:r>
            <a:r>
              <a:rPr dirty="0"/>
              <a:t> (ex: Natural Questions: +9.8% </a:t>
            </a:r>
            <a:r>
              <a:rPr dirty="0" err="1"/>
              <a:t>em</a:t>
            </a:r>
            <a:r>
              <a:rPr dirty="0"/>
              <a:t> top-20 retrieval accuracy). O </a:t>
            </a:r>
            <a:r>
              <a:rPr dirty="0" err="1"/>
              <a:t>ganho</a:t>
            </a:r>
            <a:r>
              <a:rPr dirty="0"/>
              <a:t> é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 e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compartilham</a:t>
            </a:r>
            <a:r>
              <a:rPr dirty="0"/>
              <a:t> </a:t>
            </a:r>
            <a:r>
              <a:rPr dirty="0" err="1"/>
              <a:t>vocabulário</a:t>
            </a:r>
            <a:r>
              <a:rPr dirty="0"/>
              <a:t> — </a:t>
            </a:r>
            <a:r>
              <a:rPr dirty="0" err="1"/>
              <a:t>confirmando</a:t>
            </a:r>
            <a:r>
              <a:rPr dirty="0"/>
              <a:t> a </a:t>
            </a:r>
            <a:r>
              <a:rPr dirty="0" err="1"/>
              <a:t>hipótese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ANÁLISE DE ERROS</a:t>
            </a:r>
          </a:p>
          <a:p>
            <a:r>
              <a:rPr dirty="0"/>
              <a:t>Casos </a:t>
            </a:r>
            <a:r>
              <a:rPr dirty="0" err="1"/>
              <a:t>onde</a:t>
            </a:r>
            <a:r>
              <a:rPr dirty="0"/>
              <a:t> BM25 </a:t>
            </a:r>
            <a:r>
              <a:rPr dirty="0" err="1"/>
              <a:t>supera</a:t>
            </a:r>
            <a:r>
              <a:rPr dirty="0"/>
              <a:t> DPR: </a:t>
            </a:r>
            <a:r>
              <a:rPr dirty="0" err="1"/>
              <a:t>perguntas</a:t>
            </a:r>
            <a:r>
              <a:rPr dirty="0"/>
              <a:t> com </a:t>
            </a:r>
            <a:r>
              <a:rPr dirty="0" err="1"/>
              <a:t>entidades</a:t>
            </a:r>
            <a:r>
              <a:rPr dirty="0"/>
              <a:t> </a:t>
            </a:r>
            <a:r>
              <a:rPr dirty="0" err="1"/>
              <a:t>raras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nomes</a:t>
            </a:r>
            <a:r>
              <a:rPr dirty="0"/>
              <a:t> </a:t>
            </a:r>
            <a:r>
              <a:rPr dirty="0" err="1"/>
              <a:t>próprios</a:t>
            </a:r>
            <a:r>
              <a:rPr dirty="0"/>
              <a:t> </a:t>
            </a:r>
            <a:r>
              <a:rPr dirty="0" err="1"/>
              <a:t>incomuns</a:t>
            </a:r>
            <a:r>
              <a:rPr dirty="0"/>
              <a:t>,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sobreposição</a:t>
            </a:r>
            <a:r>
              <a:rPr dirty="0"/>
              <a:t> lexical é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informativa</a:t>
            </a:r>
            <a:r>
              <a:rPr dirty="0"/>
              <a:t>. </a:t>
            </a:r>
            <a:r>
              <a:rPr dirty="0" err="1"/>
              <a:t>Combinação</a:t>
            </a:r>
            <a:r>
              <a:rPr dirty="0"/>
              <a:t> BM25 + DPR (ensemble) </a:t>
            </a:r>
            <a:r>
              <a:rPr dirty="0" err="1"/>
              <a:t>frequentemente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ambos </a:t>
            </a:r>
            <a:r>
              <a:rPr dirty="0" err="1"/>
              <a:t>individualmente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DPR é a </a:t>
            </a:r>
            <a:r>
              <a:rPr dirty="0" err="1"/>
              <a:t>fundação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 o retrieval </a:t>
            </a:r>
            <a:r>
              <a:rPr dirty="0" err="1"/>
              <a:t>semântico</a:t>
            </a:r>
            <a:r>
              <a:rPr dirty="0"/>
              <a:t> </a:t>
            </a:r>
            <a:r>
              <a:rPr dirty="0" err="1"/>
              <a:t>prático</a:t>
            </a:r>
            <a:r>
              <a:rPr dirty="0"/>
              <a:t>. No </a:t>
            </a:r>
            <a:r>
              <a:rPr dirty="0" err="1"/>
              <a:t>contexto</a:t>
            </a:r>
            <a:r>
              <a:rPr dirty="0"/>
              <a:t> da aula: </a:t>
            </a:r>
            <a:r>
              <a:rPr dirty="0" err="1"/>
              <a:t>buscar</a:t>
            </a:r>
            <a:r>
              <a:rPr dirty="0"/>
              <a:t> o histórico de </a:t>
            </a:r>
            <a:r>
              <a:rPr dirty="0" err="1"/>
              <a:t>avaliação</a:t>
            </a:r>
            <a:r>
              <a:rPr dirty="0"/>
              <a:t> de um </a:t>
            </a:r>
            <a:r>
              <a:rPr dirty="0" err="1"/>
              <a:t>aluno</a:t>
            </a:r>
            <a:r>
              <a:rPr dirty="0"/>
              <a:t> pela </a:t>
            </a:r>
            <a:r>
              <a:rPr dirty="0" err="1"/>
              <a:t>pergunta</a:t>
            </a:r>
            <a:r>
              <a:rPr dirty="0"/>
              <a:t> "</a:t>
            </a:r>
            <a:r>
              <a:rPr dirty="0" err="1"/>
              <a:t>aluno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restrição</a:t>
            </a:r>
            <a:r>
              <a:rPr dirty="0"/>
              <a:t> </a:t>
            </a:r>
            <a:r>
              <a:rPr dirty="0" err="1"/>
              <a:t>cardíaca</a:t>
            </a:r>
            <a:r>
              <a:rPr dirty="0"/>
              <a:t>?"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semântica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palavra-chave</a:t>
            </a:r>
            <a:r>
              <a:rPr dirty="0"/>
              <a:t>. DPR (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sucessores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ColBERT</a:t>
            </a:r>
            <a:r>
              <a:rPr dirty="0"/>
              <a:t>, E5, BGE) é o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slide amarra a aula conceitualmente. Não é só método: é arquitetura de interação com LLM.</a:t>
            </a:r>
          </a:p>
          <a:p>
            <a:endParaRPr/>
          </a:p>
          <a:p>
            <a:r>
              <a:t>Cada camada tem responsabilidade específica. Projetos que confundem essas camadas tendem a ser frágeis e difíceis de depurar.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Bender et al. (2021)</a:t>
            </a:r>
          </a:p>
          <a:p>
            <a:r>
              <a:t>"On the Dangers of Stochastic Parrots: Can Language Models Be Too Big?"</a:t>
            </a:r>
          </a:p>
          <a:p>
            <a:r>
              <a:t>FAccT 2021 | https://dl.acm.org/doi/10.1145/3442188.3445922</a:t>
            </a:r>
          </a:p>
          <a:p>
            <a:endParaRPr/>
          </a:p>
          <a:p>
            <a:r>
              <a:t>PROBLEMA DE PESQUISA</a:t>
            </a:r>
          </a:p>
          <a:p>
            <a:r>
              <a:t>O artigo questiona a tendência da área de NLP de maximizar escala de modelos sem considerar custos e riscos sistêmicos. A pergunta central não é técnica — é ética e epistemológica: o que os LLMs realmente fazem quando "compreendem" linguagem?</a:t>
            </a:r>
          </a:p>
          <a:p>
            <a:endParaRPr/>
          </a:p>
          <a:p>
            <a:r>
              <a:t>ARGUMENTO CENTRAL</a:t>
            </a:r>
          </a:p>
          <a:p>
            <a:r>
              <a:t>Os autores introduzem a metáfora do "papagaio estocástico": LLMs concatenam sequências de tokens probabilisticamente plausíveis sem que haja, em nenhum ponto do processo, acesso a significado, intenção ou referência ao mundo. O modelo opera sobre forma linguística (tokens, posições, atenção), não sobre conteúdo semântico. A distinção forma/significado, derivada da semântica formal e da filosofia da linguagem, é o núcleo teórico do argumento.</a:t>
            </a:r>
          </a:p>
          <a:p>
            <a:endParaRPr/>
          </a:p>
          <a:p>
            <a:r>
              <a:t>METODOLOGIA</a:t>
            </a:r>
          </a:p>
          <a:p>
            <a:r>
              <a:t>Análise crítica e teórica, não estudo empírico. Os autores revisam literatura de NLP, linguística computacional, ética em IA e estudos de ciência e tecnologia. Identificam quatro dimensões de risco: custo ambiental e financeiro do treinamento em escala; concentração de poder em poucos atores; amplificação de viés a partir de dados históricos; e falsa impressão de compreensão e progresso em direção a AGI.</a:t>
            </a:r>
          </a:p>
          <a:p>
            <a:endParaRPr/>
          </a:p>
          <a:p>
            <a:r>
              <a:t>PRINCIPAIS ACHADOS</a:t>
            </a:r>
          </a:p>
          <a:p>
            <a:r>
              <a:t>1. Custo de treinamento: treinar um modelo de grande escala emite CO2 comparável a cinco automóveis ao longo de toda a sua vida útil. Esse custo é distribuído de forma desigual — concentrado em países de alta renda, mas com impacto climático global.</a:t>
            </a:r>
          </a:p>
          <a:p>
            <a:r>
              <a:t>2. Viés e dano: dados de treinamento refletem e amplificam preconceitos históricos. LLMs treinados em texto da internet reproduzem e até intensificam estereótipos de gênero, raça e religião.</a:t>
            </a:r>
          </a:p>
          <a:p>
            <a:r>
              <a:t>3. Falsa compreensão: profissionais e usuários tendem a atribuir compreensão, intencionalidade e veracidade ao texto gerado — um erro de categoria. O modelo não sabe se o que gera é verdadeiro.</a:t>
            </a:r>
          </a:p>
          <a:p>
            <a:r>
              <a:t>4. Coerência sem fundamentação (groundedness): o texto pode ser gramaticalmente correto, coerente estilísticamente e factualmente errado ao mesmo tempo. A fluência mascara a ausência de verificação factual.</a:t>
            </a:r>
          </a:p>
          <a:p>
            <a:endParaRPr/>
          </a:p>
          <a:p>
            <a:r>
              <a:t>LIMITAÇÕES</a:t>
            </a:r>
          </a:p>
          <a:p>
            <a:r>
              <a:t>O artigo é prescritivo e teórico — não apresenta experimentos controlados. A distinção forma/significado é controversa em filosofia da linguagem (alguns cognitivistas argumentam que o processamento estatístico pode emergir em compreensão funcional). Os autores são deliberadamente provocativos, o que gerou debate sobre a extensão das afirmações.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é o alicerce epistemológico da aula. Se modelos não compreendem — apenas associam padrões — então a qualidade da saída é função direta da qualidade da entrada. Context Engineering é a resposta prática à limitação teórica identificada por Bender: se o modelo não "entende" o domínio, cabe ao engenheiro injetar o domínio no contexto com precisão.</a:t>
            </a:r>
          </a:p>
          <a:p>
            <a:endParaRPr/>
          </a:p>
          <a:p>
            <a:r>
              <a:t>IMPLICAÇÃO PARA ENGENHEIROS SÊNIORES</a:t>
            </a:r>
          </a:p>
          <a:p>
            <a:r>
              <a:t>Ao revisar saída de LLM, não avalie pela fluidez. Avalie pela fundamentação factual e aderência ao domínio. Um texto bem escrito e incorreto é mais perigoso do que um texto mal escrito e correto, porque passa por revisão sem ser questionado.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Jiang et al. (2024)</a:t>
            </a:r>
          </a:p>
          <a:p>
            <a:r>
              <a:t>"LongLLMLingua: Accelerating and Enhancing LLMs in Long Context Scenarios via Prompt Compression"</a:t>
            </a:r>
          </a:p>
          <a:p>
            <a:r>
              <a:t>arXiv:2310.06839 | https://arxiv.org/abs/2310.06839</a:t>
            </a:r>
          </a:p>
          <a:p>
            <a:endParaRPr/>
          </a:p>
          <a:p>
            <a:r>
              <a:t>PROBLEMA DE PESQUISA</a:t>
            </a:r>
          </a:p>
          <a:p>
            <a:r>
              <a:t>Contextos longos degradam o desempenho de LLMs (fenômeno "lost in the middle": informação no meio do contexto é menos utilizada que informação no início e fim) e aumentam custo de inferência quadraticamente. Como comprimir prompts longos preservando a informação semanticamente relevante para uma query específica?</a:t>
            </a:r>
          </a:p>
          <a:p>
            <a:endParaRPr/>
          </a:p>
          <a:p>
            <a:r>
              <a:t>LIMITAÇÃO DO PROBLEMA ANTECESSOR (LLMLingua)</a:t>
            </a:r>
          </a:p>
          <a:p>
            <a:r>
              <a:t>LLMLingua (Jiang et al., 2023) introduziu compressão de prompt via perplexidade — tokens com baixa perplexidade (previsíveis pelo modelo) são removidos. Limitação: compressão query-agnostic — remove tokens "genéricos" sem considerar o que é relevante para a pergunta específica.</a:t>
            </a:r>
          </a:p>
          <a:p>
            <a:endParaRPr/>
          </a:p>
          <a:p>
            <a:r>
              <a:t>INOVAÇÕES DE LONGLLLMLINGUA</a:t>
            </a:r>
          </a:p>
          <a:p>
            <a:endParaRPr/>
          </a:p>
          <a:p>
            <a:r>
              <a:t>1. Compressão coarse-to-fine em dois estágios:</a:t>
            </a:r>
          </a:p>
          <a:p>
            <a:r>
              <a:t>   - Estágio grosseiro (coarse): ranquear e filtrar documentos inteiros por relevância à query (redução de 50-80% dos documentos).</a:t>
            </a:r>
          </a:p>
          <a:p>
            <a:r>
              <a:t>   - Estágio fino (fine): comprimir passagens selecionadas no nível de token, condicionado na query.</a:t>
            </a:r>
          </a:p>
          <a:p>
            <a:endParaRPr/>
          </a:p>
          <a:p>
            <a:r>
              <a:t>2. Compressão query-aware:</a:t>
            </a:r>
          </a:p>
          <a:p>
            <a:r>
              <a:t>   Calcular perplexidade de cada token condicionado na query (P(token | query, contexto)) em vez de perplexidade incondicional. Tokens que o modelo encontra menos surpreendentes dado a query são candidatos à remoção.</a:t>
            </a:r>
          </a:p>
          <a:p>
            <a:endParaRPr/>
          </a:p>
          <a:p>
            <a:r>
              <a:t>3. Document reordering:</a:t>
            </a:r>
          </a:p>
          <a:p>
            <a:r>
              <a:t>   Reposicionar documentos mais relevantes para as extremidades do contexto (início e fim), explorando o viés posicional dos Transformers (lost-in-the-middle). Passagens relevantes no meio são movidas para posições com maior atenção do modelo.</a:t>
            </a:r>
          </a:p>
          <a:p>
            <a:endParaRPr/>
          </a:p>
          <a:p>
            <a:r>
              <a:t>4. Subsequence recovery:</a:t>
            </a:r>
          </a:p>
          <a:p>
            <a:r>
              <a:t>   Pós-processamento que recupera a resposta no texto original a partir da resposta gerada com o contexto comprimido — mapeia de volta para o documento fonte, aumentando rastreabilidade.</a:t>
            </a:r>
          </a:p>
          <a:p>
            <a:endParaRPr/>
          </a:p>
          <a:p>
            <a:r>
              <a:t>AVALIAÇÃO</a:t>
            </a:r>
          </a:p>
          <a:p>
            <a:r>
              <a:t>Benchmarks: LongBench (7 tarefas de compreensão de contexto longo), ZeroScrolls (contextos de até 100k tokens).</a:t>
            </a:r>
          </a:p>
          <a:p>
            <a:r>
              <a:t>Compressão de até 6x com degradação de desempenho &lt; 5% na maioria das tarefas.</a:t>
            </a:r>
          </a:p>
          <a:p>
            <a:r>
              <a:t>Redução de latência: 1.4-2.6x em sistemas RAG reais.</a:t>
            </a:r>
          </a:p>
          <a:p>
            <a:r>
              <a:t>Redução de custo: proporcional à redução de tokens (impacto direto em custo de API).</a:t>
            </a:r>
          </a:p>
          <a:p>
            <a:endParaRPr/>
          </a:p>
          <a:p>
            <a:r>
              <a:t>LIMITAÇÕES</a:t>
            </a:r>
          </a:p>
          <a:p>
            <a:r>
              <a:t>Performance degrada em tarefas que requerem integração de informações de múltiplas partes do contexto. Estágio de coarse filtering pode eliminar documentos relevantes em casos ambíguos. Adiciona latência de pré-processamento que pode ser maior que o ganho em inferência para contextos pequenos.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LongLLMLingua operacionaliza o princípio "mais tokens não significa mais inteligência". Em sistemas de produção com Memory Bank + RAG, o contexto pode crescer indefinidamente. Compressão inteligente é necessária para manter custo controlado sem degradar qualidade — o trade-off exato que o slide de eficiência contextual discute.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Gastar mais tokens não significa pensar melhor; significa, muitas vezes, introduzir ruído.</a:t>
            </a:r>
          </a:p>
          <a:p>
            <a:endParaRPr/>
          </a:p>
          <a:p>
            <a:r>
              <a:t>Janela de contexto não é ilimitada. Mesmo quando é grande, tokens irrelevantes competem com tokens decisivos pela atenção do modelo.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Jiang et al. (2024)</a:t>
            </a:r>
          </a:p>
          <a:p>
            <a:r>
              <a:t>"LongLLMLingua: Accelerating and Enhancing LLMs in Long Context Scenarios via Prompt Compression"</a:t>
            </a:r>
          </a:p>
          <a:p>
            <a:r>
              <a:t>arXiv:2310.06839 | https://arxiv.org/abs/2310.06839</a:t>
            </a:r>
          </a:p>
          <a:p>
            <a:endParaRPr/>
          </a:p>
          <a:p>
            <a:r>
              <a:t>PROBLEMA DE PESQUISA</a:t>
            </a:r>
          </a:p>
          <a:p>
            <a:r>
              <a:t>Contextos longos degradam o desempenho de LLMs (fenômeno "lost in the middle": informação no meio do contexto é menos utilizada que informação no início e fim) e aumentam custo de inferência quadraticamente. Como comprimir prompts longos preservando a informação semanticamente relevante para uma query específica?</a:t>
            </a:r>
          </a:p>
          <a:p>
            <a:endParaRPr/>
          </a:p>
          <a:p>
            <a:r>
              <a:t>LIMITAÇÃO DO PROBLEMA ANTECESSOR (LLMLingua)</a:t>
            </a:r>
          </a:p>
          <a:p>
            <a:r>
              <a:t>LLMLingua (Jiang et al., 2023) introduziu compressão de prompt via perplexidade — tokens com baixa perplexidade (previsíveis pelo modelo) são removidos. Limitação: compressão query-agnostic — remove tokens "genéricos" sem considerar o que é relevante para a pergunta específica.</a:t>
            </a:r>
          </a:p>
          <a:p>
            <a:endParaRPr/>
          </a:p>
          <a:p>
            <a:r>
              <a:t>INOVAÇÕES DE LONGLLLMLINGUA</a:t>
            </a:r>
          </a:p>
          <a:p>
            <a:endParaRPr/>
          </a:p>
          <a:p>
            <a:r>
              <a:t>1. Compressão coarse-to-fine em dois estágios:</a:t>
            </a:r>
          </a:p>
          <a:p>
            <a:r>
              <a:t>   - Estágio grosseiro (coarse): ranquear e filtrar documentos inteiros por relevância à query (redução de 50-80% dos documentos).</a:t>
            </a:r>
          </a:p>
          <a:p>
            <a:r>
              <a:t>   - Estágio fino (fine): comprimir passagens selecionadas no nível de token, condicionado na query.</a:t>
            </a:r>
          </a:p>
          <a:p>
            <a:endParaRPr/>
          </a:p>
          <a:p>
            <a:r>
              <a:t>2. Compressão query-aware:</a:t>
            </a:r>
          </a:p>
          <a:p>
            <a:r>
              <a:t>   Calcular perplexidade de cada token condicionado na query (P(token | query, contexto)) em vez de perplexidade incondicional. Tokens que o modelo encontra menos surpreendentes dado a query são candidatos à remoção.</a:t>
            </a:r>
          </a:p>
          <a:p>
            <a:endParaRPr/>
          </a:p>
          <a:p>
            <a:r>
              <a:t>3. Document reordering:</a:t>
            </a:r>
          </a:p>
          <a:p>
            <a:r>
              <a:t>   Reposicionar documentos mais relevantes para as extremidades do contexto (início e fim), explorando o viés posicional dos Transformers (lost-in-the-middle). Passagens relevantes no meio são movidas para posições com maior atenção do modelo.</a:t>
            </a:r>
          </a:p>
          <a:p>
            <a:endParaRPr/>
          </a:p>
          <a:p>
            <a:r>
              <a:t>4. Subsequence recovery:</a:t>
            </a:r>
          </a:p>
          <a:p>
            <a:r>
              <a:t>   Pós-processamento que recupera a resposta no texto original a partir da resposta gerada com o contexto comprimido — mapeia de volta para o documento fonte, aumentando rastreabilidade.</a:t>
            </a:r>
          </a:p>
          <a:p>
            <a:endParaRPr/>
          </a:p>
          <a:p>
            <a:r>
              <a:t>AVALIAÇÃO</a:t>
            </a:r>
          </a:p>
          <a:p>
            <a:r>
              <a:t>Benchmarks: LongBench (7 tarefas de compreensão de contexto longo), ZeroScrolls (contextos de até 100k tokens).</a:t>
            </a:r>
          </a:p>
          <a:p>
            <a:r>
              <a:t>Compressão de até 6x com degradação de desempenho &lt; 5% na maioria das tarefas.</a:t>
            </a:r>
          </a:p>
          <a:p>
            <a:r>
              <a:t>Redução de latência: 1.4-2.6x em sistemas RAG reais.</a:t>
            </a:r>
          </a:p>
          <a:p>
            <a:r>
              <a:t>Redução de custo: proporcional à redução de tokens (impacto direto em custo de API).</a:t>
            </a:r>
          </a:p>
          <a:p>
            <a:endParaRPr/>
          </a:p>
          <a:p>
            <a:r>
              <a:t>LIMITAÇÕES</a:t>
            </a:r>
          </a:p>
          <a:p>
            <a:r>
              <a:t>Performance degrada em tarefas que requerem integração de informações de múltiplas partes do contexto. Estágio de coarse filtering pode eliminar documentos relevantes em casos ambíguos. Adiciona latência de pré-processamento que pode ser maior que o ganho em inferência para contextos pequenos.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LongLLMLingua operacionaliza o princípio "mais tokens não significa mais inteligência". Em sistemas de produção com Memory Bank + RAG, o contexto pode crescer indefinidamente. Compressão inteligente é necessária para manter custo controlado sem degradar qualidade — o trade-off exato que o slide de eficiência contextual discute.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slide sobe o nível para pós. Não existe solução gratuita; existe compromisso entre qualidade, custo, tempo e risco.</a:t>
            </a:r>
          </a:p>
          <a:p>
            <a:endParaRPr/>
          </a:p>
          <a:p>
            <a:r>
              <a:t>Decisão de engenharia: calibrar trade-offs para o perfil de risco do projeto.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Jiang et al. (2024)</a:t>
            </a:r>
          </a:p>
          <a:p>
            <a:r>
              <a:t>"LongLLMLingua: Accelerating and Enhancing LLMs in Long Context Scenarios via Prompt Compression"</a:t>
            </a:r>
          </a:p>
          <a:p>
            <a:r>
              <a:t>arXiv:2310.06839 | https://arxiv.org/abs/2310.06839</a:t>
            </a:r>
          </a:p>
          <a:p>
            <a:endParaRPr/>
          </a:p>
          <a:p>
            <a:r>
              <a:t>PROBLEMA DE PESQUISA</a:t>
            </a:r>
          </a:p>
          <a:p>
            <a:r>
              <a:t>Contextos longos degradam o desempenho de LLMs (fenômeno "lost in the middle": informação no meio do contexto é menos utilizada que informação no início e fim) e aumentam custo de inferência quadraticamente. Como comprimir prompts longos preservando a informação semanticamente relevante para uma query específica?</a:t>
            </a:r>
          </a:p>
          <a:p>
            <a:endParaRPr/>
          </a:p>
          <a:p>
            <a:r>
              <a:t>LIMITAÇÃO DO PROBLEMA ANTECESSOR (LLMLingua)</a:t>
            </a:r>
          </a:p>
          <a:p>
            <a:r>
              <a:t>LLMLingua (Jiang et al., 2023) introduziu compressão de prompt via perplexidade — tokens com baixa perplexidade (previsíveis pelo modelo) são removidos. Limitação: compressão query-agnostic — remove tokens "genéricos" sem considerar o que é relevante para a pergunta específica.</a:t>
            </a:r>
          </a:p>
          <a:p>
            <a:endParaRPr/>
          </a:p>
          <a:p>
            <a:r>
              <a:t>INOVAÇÕES DE LONGLLLMLINGUA</a:t>
            </a:r>
          </a:p>
          <a:p>
            <a:endParaRPr/>
          </a:p>
          <a:p>
            <a:r>
              <a:t>1. Compressão coarse-to-fine em dois estágios:</a:t>
            </a:r>
          </a:p>
          <a:p>
            <a:r>
              <a:t>   - Estágio grosseiro (coarse): ranquear e filtrar documentos inteiros por relevância à query (redução de 50-80% dos documentos).</a:t>
            </a:r>
          </a:p>
          <a:p>
            <a:r>
              <a:t>   - Estágio fino (fine): comprimir passagens selecionadas no nível de token, condicionado na query.</a:t>
            </a:r>
          </a:p>
          <a:p>
            <a:endParaRPr/>
          </a:p>
          <a:p>
            <a:r>
              <a:t>2. Compressão query-aware:</a:t>
            </a:r>
          </a:p>
          <a:p>
            <a:r>
              <a:t>   Calcular perplexidade de cada token condicionado na query (P(token | query, contexto)) em vez de perplexidade incondicional. Tokens que o modelo encontra menos surpreendentes dado a query são candidatos à remoção.</a:t>
            </a:r>
          </a:p>
          <a:p>
            <a:endParaRPr/>
          </a:p>
          <a:p>
            <a:r>
              <a:t>3. Document reordering:</a:t>
            </a:r>
          </a:p>
          <a:p>
            <a:r>
              <a:t>   Reposicionar documentos mais relevantes para as extremidades do contexto (início e fim), explorando o viés posicional dos Transformers (lost-in-the-middle). Passagens relevantes no meio são movidas para posições com maior atenção do modelo.</a:t>
            </a:r>
          </a:p>
          <a:p>
            <a:endParaRPr/>
          </a:p>
          <a:p>
            <a:r>
              <a:t>4. Subsequence recovery:</a:t>
            </a:r>
          </a:p>
          <a:p>
            <a:r>
              <a:t>   Pós-processamento que recupera a resposta no texto original a partir da resposta gerada com o contexto comprimido — mapeia de volta para o documento fonte, aumentando rastreabilidade.</a:t>
            </a:r>
          </a:p>
          <a:p>
            <a:endParaRPr/>
          </a:p>
          <a:p>
            <a:r>
              <a:t>AVALIAÇÃO</a:t>
            </a:r>
          </a:p>
          <a:p>
            <a:r>
              <a:t>Benchmarks: LongBench (7 tarefas de compreensão de contexto longo), ZeroScrolls (contextos de até 100k tokens).</a:t>
            </a:r>
          </a:p>
          <a:p>
            <a:r>
              <a:t>Compressão de até 6x com degradação de desempenho &lt; 5% na maioria das tarefas.</a:t>
            </a:r>
          </a:p>
          <a:p>
            <a:r>
              <a:t>Redução de latência: 1.4-2.6x em sistemas RAG reais.</a:t>
            </a:r>
          </a:p>
          <a:p>
            <a:r>
              <a:t>Redução de custo: proporcional à redução de tokens (impacto direto em custo de API).</a:t>
            </a:r>
          </a:p>
          <a:p>
            <a:endParaRPr/>
          </a:p>
          <a:p>
            <a:r>
              <a:t>LIMITAÇÕES</a:t>
            </a:r>
          </a:p>
          <a:p>
            <a:r>
              <a:t>Performance degrada em tarefas que requerem integração de informações de múltiplas partes do contexto. Estágio de coarse filtering pode eliminar documentos relevantes em casos ambíguos. Adiciona latência de pré-processamento que pode ser maior que o ganho em inferência para contextos pequenos.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LongLLMLingua operacionaliza o princípio "mais tokens não significa mais inteligência". Em sistemas de produção com Memory Bank + RAG, o contexto pode crescer indefinidamente. Compressão inteligente é necessária para manter custo controlado sem degradar qualidade — o trade-off exato que o slide de eficiência contextual discute.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Amershi et al. (2019)</a:t>
            </a:r>
          </a:p>
          <a:p>
            <a:r>
              <a:t>"Guidelines for Human-AI Interaction"</a:t>
            </a:r>
          </a:p>
          <a:p>
            <a:r>
              <a:t>CHI 2019 | https://dl.acm.org/doi/10.1145/3290605.3300233</a:t>
            </a:r>
          </a:p>
          <a:p>
            <a:endParaRPr/>
          </a:p>
          <a:p>
            <a:r>
              <a:t>PROBLEMA DE PESQUISA</a:t>
            </a:r>
          </a:p>
          <a:p>
            <a:r>
              <a:t>Derivar um conjunto de diretrizes de design aplicáveis e testáveis para sistemas de IA interativos, que sejam suficientemente gerais para cobrir múltiplos domínios e suficientemente específicas para orientar decisões de design concretas.</a:t>
            </a:r>
          </a:p>
          <a:p>
            <a:endParaRPr/>
          </a:p>
          <a:p>
            <a:r>
              <a:t>METODOLOGIA</a:t>
            </a:r>
          </a:p>
          <a:p>
            <a:r>
              <a:t>Processo iterativo em três fases: (1) revisão e síntese de 168 princípios de design de IA de literatura existente, resultando em 20 heurísticas candidatas; (2) avaliação por 49 designers e pesquisadores de IA em contextos de design real, com análise de incidentes críticos; (3) refinamento para 18 diretrizes finais com exemplos concretos, avaliadas em um estudo com 169 participantes usando 18 produtos de IA existentes da Microsoft.</a:t>
            </a:r>
          </a:p>
          <a:p>
            <a:endParaRPr/>
          </a:p>
          <a:p>
            <a:r>
              <a:t>AS 18 DIRETRIZES (organizadas em 4 fases temporais)</a:t>
            </a:r>
          </a:p>
          <a:p>
            <a:endParaRPr/>
          </a:p>
          <a:p>
            <a:r>
              <a:t>FASE 1 — Inicialmente (quando o usuário encontra o sistema):</a:t>
            </a:r>
          </a:p>
          <a:p>
            <a:r>
              <a:t>G1. Deixar claro o que o sistema de IA pode fazer.</a:t>
            </a:r>
          </a:p>
          <a:p>
            <a:r>
              <a:t>G2. Deixar claro o quão bem o sistema de IA faz o que faz.</a:t>
            </a:r>
          </a:p>
          <a:p>
            <a:r>
              <a:t>G3. Calibrar a confiança do usuário com base na frequência e no impacto dos erros.</a:t>
            </a:r>
          </a:p>
          <a:p>
            <a:r>
              <a:t>G4. Apresentar as limitações do sistema de forma que não afaste usuários sem motivo.</a:t>
            </a:r>
          </a:p>
          <a:p>
            <a:endParaRPr/>
          </a:p>
          <a:p>
            <a:r>
              <a:t>FASE 2 — Durante a interação:</a:t>
            </a:r>
          </a:p>
          <a:p>
            <a:r>
              <a:t>G5. Combinar o comportamento do sistema com as normas sociais do contexto.</a:t>
            </a:r>
          </a:p>
          <a:p>
            <a:r>
              <a:t>G6. Mitigar o impacto social de erros do sistema.</a:t>
            </a:r>
          </a:p>
          <a:p>
            <a:r>
              <a:t>G7. Apoiar ações de eficiência para usuários experientes.</a:t>
            </a:r>
          </a:p>
          <a:p>
            <a:r>
              <a:t>G8. Ser contextualmente relevante: mostrar informações adequadas ao momento.</a:t>
            </a:r>
          </a:p>
          <a:p>
            <a:r>
              <a:t>G9. Apoiar o controle do usuário.</a:t>
            </a:r>
          </a:p>
          <a:p>
            <a:r>
              <a:t>G10. Notificar o usuário em tempo hábil quando o sistema não consegue executar a tarefa.</a:t>
            </a:r>
          </a:p>
          <a:p>
            <a:endParaRPr/>
          </a:p>
          <a:p>
            <a:r>
              <a:t>FASE 3 — Quando algo dá errado:</a:t>
            </a:r>
          </a:p>
          <a:p>
            <a:r>
              <a:t>G11. Tornar claro por que o sistema fez o que fez.</a:t>
            </a:r>
          </a:p>
          <a:p>
            <a:r>
              <a:t>G12. Lembrar ao usuário que o sistema é falível.</a:t>
            </a:r>
          </a:p>
          <a:p>
            <a:r>
              <a:t>G13. Facilitar ao usuário a reversão de erros do sistema.</a:t>
            </a:r>
          </a:p>
          <a:p>
            <a:r>
              <a:t>G14. Facilitar ao usuário a avaliação da saída do sistema.</a:t>
            </a:r>
          </a:p>
          <a:p>
            <a:endParaRPr/>
          </a:p>
          <a:p>
            <a:r>
              <a:t>FASE 4 — Ao longo do tempo:</a:t>
            </a:r>
          </a:p>
          <a:p>
            <a:r>
              <a:t>G15. Monitorar e notificar o usuário sobre mudanças no comportamento do sistema.</a:t>
            </a:r>
          </a:p>
          <a:p>
            <a:r>
              <a:t>G16. Permitir ao usuário adaptar o comportamento do sistema.</a:t>
            </a:r>
          </a:p>
          <a:p>
            <a:r>
              <a:t>G17. Preservar a privacidade do usuário ao personalizar.</a:t>
            </a:r>
          </a:p>
          <a:p>
            <a:r>
              <a:t>G18. Respeitar as normas sociais ao longo do tempo.</a:t>
            </a:r>
          </a:p>
          <a:p>
            <a:endParaRPr/>
          </a:p>
          <a:p>
            <a:r>
              <a:t>PRINCIPAIS ACHADOS</a:t>
            </a:r>
          </a:p>
          <a:p>
            <a:r>
              <a:t>Designers acham as diretrizes mais úteis nas fases "quando algo dá errado" e "ao longo do tempo" — justamente as menos consideradas em práticas correntes de design. A diretriz G2 (deixar claro o quão bem o sistema faz) é a mais frequentemente violada em produtos reais.</a:t>
            </a:r>
          </a:p>
          <a:p>
            <a:endParaRPr/>
          </a:p>
          <a:p>
            <a:r>
              <a:t>LIMITAÇÕES</a:t>
            </a:r>
          </a:p>
          <a:p>
            <a:r>
              <a:t>Diretrizes derivadas principalmente de produtos de produtividade e assistentes conversacionais da Microsoft. Aplicabilidade direta a domínios de alto risco (medicina, direito, segurança) requer validação adicional. As diretrizes são descritivas, não algoritmos de design — exigem julgamento contextual.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Amershi (2019) é o framework de governança implícito em toda a aula. Cada decisão de design do sistema da academia — quando alertar o professor sobre restrição médica, como mostrar histórico de forma acionável, como registrar mudanças de plano — é uma instância dessas diretrizes. O human-in-the-loop não é opção de design: é diretriz G9.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claro que a aula não defende terceirizar julgamento para o modelo.</a:t>
            </a:r>
          </a:p>
          <a:p>
            <a:endParaRPr/>
          </a:p>
          <a:p>
            <a:r>
              <a:t>O loop correto: gerar → revisar → corrigir → iterar. A IA acelera o 'gerar'. O humano continua responsável pelo 'revisar' e 'corrigir'.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Amershi et al. (2019)</a:t>
            </a:r>
          </a:p>
          <a:p>
            <a:r>
              <a:t>"Guidelines for Human-AI Interaction"</a:t>
            </a:r>
          </a:p>
          <a:p>
            <a:r>
              <a:t>CHI 2019 | https://dl.acm.org/doi/10.1145/3290605.3300233</a:t>
            </a:r>
          </a:p>
          <a:p>
            <a:endParaRPr/>
          </a:p>
          <a:p>
            <a:r>
              <a:t>PROBLEMA DE PESQUISA</a:t>
            </a:r>
          </a:p>
          <a:p>
            <a:r>
              <a:t>Derivar um conjunto de diretrizes de design aplicáveis e testáveis para sistemas de IA interativos, que sejam suficientemente gerais para cobrir múltiplos domínios e suficientemente específicas para orientar decisões de design concretas.</a:t>
            </a:r>
          </a:p>
          <a:p>
            <a:endParaRPr/>
          </a:p>
          <a:p>
            <a:r>
              <a:t>METODOLOGIA</a:t>
            </a:r>
          </a:p>
          <a:p>
            <a:r>
              <a:t>Processo iterativo em três fases: (1) revisão e síntese de 168 princípios de design de IA de literatura existente, resultando em 20 heurísticas candidatas; (2) avaliação por 49 designers e pesquisadores de IA em contextos de design real, com análise de incidentes críticos; (3) refinamento para 18 diretrizes finais com exemplos concretos, avaliadas em um estudo com 169 participantes usando 18 produtos de IA existentes da Microsoft.</a:t>
            </a:r>
          </a:p>
          <a:p>
            <a:endParaRPr/>
          </a:p>
          <a:p>
            <a:r>
              <a:t>AS 18 DIRETRIZES (organizadas em 4 fases temporais)</a:t>
            </a:r>
          </a:p>
          <a:p>
            <a:endParaRPr/>
          </a:p>
          <a:p>
            <a:r>
              <a:t>FASE 1 — Inicialmente (quando o usuário encontra o sistema):</a:t>
            </a:r>
          </a:p>
          <a:p>
            <a:r>
              <a:t>G1. Deixar claro o que o sistema de IA pode fazer.</a:t>
            </a:r>
          </a:p>
          <a:p>
            <a:r>
              <a:t>G2. Deixar claro o quão bem o sistema de IA faz o que faz.</a:t>
            </a:r>
          </a:p>
          <a:p>
            <a:r>
              <a:t>G3. Calibrar a confiança do usuário com base na frequência e no impacto dos erros.</a:t>
            </a:r>
          </a:p>
          <a:p>
            <a:r>
              <a:t>G4. Apresentar as limitações do sistema de forma que não afaste usuários sem motivo.</a:t>
            </a:r>
          </a:p>
          <a:p>
            <a:endParaRPr/>
          </a:p>
          <a:p>
            <a:r>
              <a:t>FASE 2 — Durante a interação:</a:t>
            </a:r>
          </a:p>
          <a:p>
            <a:r>
              <a:t>G5. Combinar o comportamento do sistema com as normas sociais do contexto.</a:t>
            </a:r>
          </a:p>
          <a:p>
            <a:r>
              <a:t>G6. Mitigar o impacto social de erros do sistema.</a:t>
            </a:r>
          </a:p>
          <a:p>
            <a:r>
              <a:t>G7. Apoiar ações de eficiência para usuários experientes.</a:t>
            </a:r>
          </a:p>
          <a:p>
            <a:r>
              <a:t>G8. Ser contextualmente relevante: mostrar informações adequadas ao momento.</a:t>
            </a:r>
          </a:p>
          <a:p>
            <a:r>
              <a:t>G9. Apoiar o controle do usuário.</a:t>
            </a:r>
          </a:p>
          <a:p>
            <a:r>
              <a:t>G10. Notificar o usuário em tempo hábil quando o sistema não consegue executar a tarefa.</a:t>
            </a:r>
          </a:p>
          <a:p>
            <a:endParaRPr/>
          </a:p>
          <a:p>
            <a:r>
              <a:t>FASE 3 — Quando algo dá errado:</a:t>
            </a:r>
          </a:p>
          <a:p>
            <a:r>
              <a:t>G11. Tornar claro por que o sistema fez o que fez.</a:t>
            </a:r>
          </a:p>
          <a:p>
            <a:r>
              <a:t>G12. Lembrar ao usuário que o sistema é falível.</a:t>
            </a:r>
          </a:p>
          <a:p>
            <a:r>
              <a:t>G13. Facilitar ao usuário a reversão de erros do sistema.</a:t>
            </a:r>
          </a:p>
          <a:p>
            <a:r>
              <a:t>G14. Facilitar ao usuário a avaliação da saída do sistema.</a:t>
            </a:r>
          </a:p>
          <a:p>
            <a:endParaRPr/>
          </a:p>
          <a:p>
            <a:r>
              <a:t>FASE 4 — Ao longo do tempo:</a:t>
            </a:r>
          </a:p>
          <a:p>
            <a:r>
              <a:t>G15. Monitorar e notificar o usuário sobre mudanças no comportamento do sistema.</a:t>
            </a:r>
          </a:p>
          <a:p>
            <a:r>
              <a:t>G16. Permitir ao usuário adaptar o comportamento do sistema.</a:t>
            </a:r>
          </a:p>
          <a:p>
            <a:r>
              <a:t>G17. Preservar a privacidade do usuário ao personalizar.</a:t>
            </a:r>
          </a:p>
          <a:p>
            <a:r>
              <a:t>G18. Respeitar as normas sociais ao longo do tempo.</a:t>
            </a:r>
          </a:p>
          <a:p>
            <a:endParaRPr/>
          </a:p>
          <a:p>
            <a:r>
              <a:t>PRINCIPAIS ACHADOS</a:t>
            </a:r>
          </a:p>
          <a:p>
            <a:r>
              <a:t>Designers acham as diretrizes mais úteis nas fases "quando algo dá errado" e "ao longo do tempo" — justamente as menos consideradas em práticas correntes de design. A diretriz G2 (deixar claro o quão bem o sistema faz) é a mais frequentemente violada em produtos reais.</a:t>
            </a:r>
          </a:p>
          <a:p>
            <a:endParaRPr/>
          </a:p>
          <a:p>
            <a:r>
              <a:t>LIMITAÇÕES</a:t>
            </a:r>
          </a:p>
          <a:p>
            <a:r>
              <a:t>Diretrizes derivadas principalmente de produtos de produtividade e assistentes conversacionais da Microsoft. Aplicabilidade direta a domínios de alto risco (medicina, direito, segurança) requer validação adicional. As diretrizes são descritivas, não algoritmos de design — exigem julgamento contextual.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Amershi (2019) é o framework de governança implícito em toda a aula. Cada decisão de design do sistema da academia — quando alertar o professor sobre restrição médica, como mostrar histórico de forma acionável, como registrar mudanças de plano — é uma instância dessas diretrizes. O human-in-the-loop não é opção de design: é diretriz G9.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Ji et al. (2023)</a:t>
            </a:r>
          </a:p>
          <a:p>
            <a:r>
              <a:t>"Survey of Hallucination in Natural Language Generation"</a:t>
            </a:r>
          </a:p>
          <a:p>
            <a:r>
              <a:t>ACM Computing Surveys, vol. 55, no. 12 | https://dl.acm.org/doi/10.1145/3571730</a:t>
            </a:r>
          </a:p>
          <a:p>
            <a:endParaRPr/>
          </a:p>
          <a:p>
            <a:r>
              <a:t>PROBLEMA DE PESQUISA</a:t>
            </a:r>
          </a:p>
          <a:p>
            <a:r>
              <a:t>Sistematizar o estado da arte sobre alucinação em NLG — sua definição, taxonomia, causas, métricas de avaliação e estratégias de mitigação — em uma referência unificada para a área.</a:t>
            </a:r>
          </a:p>
          <a:p>
            <a:endParaRPr/>
          </a:p>
          <a:p>
            <a:r>
              <a:t>DEFINIÇÃO FORMAL</a:t>
            </a:r>
          </a:p>
          <a:p>
            <a:r>
              <a:t>Alucinação em NLG é definida como a geração de conteúdo que é fluente e plausível linguisticamente, mas factualmente incorreto, inconsistente com a fonte de referência, ou não verificável. Os autores distinguem dois tipos fundamentais:</a:t>
            </a:r>
          </a:p>
          <a:p>
            <a:r>
              <a:t>• Alucinação intrínseca: o conteúdo gerado contradiz diretamente o documento-fonte (ex: sumarização que inverte fatos do original).</a:t>
            </a:r>
          </a:p>
          <a:p>
            <a:r>
              <a:t>• Alucinação extrínseca: o conteúdo gerado não pode ser verificado na fonte (ex: detalhes inventados que não estão no documento original, podendo ser verdadeiros ou falsos no mundo real).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de mais de 150 artigos publicados entre 2017 e 2022, cobrindo tarefas de NLG como sumarização, tradução, diálogo, geração de código, QA e geração de dados. Os autores constroem uma taxonomia unificada que permite comparar resultados entre diferentes tarefas.</a:t>
            </a:r>
          </a:p>
          <a:p>
            <a:endParaRPr/>
          </a:p>
          <a:p>
            <a:r>
              <a:t>CAUSAS DE ALUCINAÇÃO (análise por camada)</a:t>
            </a:r>
          </a:p>
          <a:p>
            <a:r>
              <a:t>1. Dados de treinamento: corpus ruidosos, inconsistentes ou desatualizados. Correlações espúrias no pré-treinamento. Dados de alinhamento (RLHF) que recompensam fluência sem penalizar incorreção factual.</a:t>
            </a:r>
          </a:p>
          <a:p>
            <a:r>
              <a:t>2. Estratégias de decodificação: amostragem com temperatura alta aumenta criatividade mas também alucinação. Beam search pode selecionar sequências coerentes mas incorretas.</a:t>
            </a:r>
          </a:p>
          <a:p>
            <a:r>
              <a:t>3. Arquitetura: mecanismo de atenção pode distribuir peso em tokens irrelevantes. Projeções de camadas superiores podem "confabular" ao integrar informações de diferentes partes do contexto.</a:t>
            </a:r>
          </a:p>
          <a:p>
            <a:r>
              <a:t>4. Treinamento de alinhamento: modelos RLHF aprendem a gerar texto que humanos aprovam — humanos são melhores em avaliar fluência do que veracidade.</a:t>
            </a:r>
          </a:p>
          <a:p>
            <a:endParaRPr/>
          </a:p>
          <a:p>
            <a:r>
              <a:t>MÉTRICAS DE AVALIAÇÃO</a:t>
            </a:r>
          </a:p>
          <a:p>
            <a:r>
              <a:t>• Faithfulness: grau em que a geração está ancorada na fonte. Medido por NLI (Natural Language Inference) ou modelos de QA.</a:t>
            </a:r>
          </a:p>
          <a:p>
            <a:r>
              <a:t>• Factuality: alinhamento com conhecimento factual externo. Mais difícil de medir automaticamente.</a:t>
            </a:r>
          </a:p>
          <a:p>
            <a:r>
              <a:t>• ROUGE, BERTScore: métricas comuns mas insensíveis a alucinação — um texto alucinado pode ter ROUGE alto se o estilo for similar.</a:t>
            </a:r>
          </a:p>
          <a:p>
            <a:r>
              <a:t>• FactScore: métrica recente que decompõe afirmações e verifica cada uma individualmente.</a:t>
            </a:r>
          </a:p>
          <a:p>
            <a:endParaRPr/>
          </a:p>
          <a:p>
            <a:r>
              <a:t>ESTRATÉGIAS DE MITIGAÇÃO</a:t>
            </a:r>
          </a:p>
          <a:p>
            <a:r>
              <a:t>1. Retrieval-Augmented Generation (RAG): ancora a geração em documentos recuperados, convertendo alucinação extrínseca em verificável.</a:t>
            </a:r>
          </a:p>
          <a:p>
            <a:r>
              <a:t>2. Faithfulness training: treinar modelos com penalização específica para inconsistências com a fonte.</a:t>
            </a:r>
          </a:p>
          <a:p>
            <a:r>
              <a:t>3. Post-hoc correction: verificadores externos que detectam e corrigem afirmações incorretas após a geração.</a:t>
            </a:r>
          </a:p>
          <a:p>
            <a:r>
              <a:t>4. Chain-of-thought: raciocínio passo a passo reduz alucinação em tarefas de raciocínio complexo.</a:t>
            </a:r>
          </a:p>
          <a:p>
            <a:r>
              <a:t>5. Self-consistency: gerar múltiplas respostas e selecionar a mais frequente.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Alucinação não é um bug a ser corrigido em versões futuras — é uma propriedade emergente de como LLMs funcionam. Qualquer sistema de IA de alto desempenho deve ter mecanismos explícitos de grounding (retrieval), validação (human-in-the-loop) e monitoramento de faithfulness. Ignorar alucinação é aceitar risco sistêmico.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Deixar</a:t>
            </a:r>
            <a:r>
              <a:rPr dirty="0"/>
              <a:t> claro </a:t>
            </a:r>
            <a:r>
              <a:rPr dirty="0" err="1"/>
              <a:t>que</a:t>
            </a:r>
            <a:r>
              <a:rPr dirty="0"/>
              <a:t> a aula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defende</a:t>
            </a:r>
            <a:r>
              <a:rPr dirty="0"/>
              <a:t> </a:t>
            </a:r>
            <a:r>
              <a:rPr dirty="0" err="1"/>
              <a:t>terceirizar</a:t>
            </a:r>
            <a:r>
              <a:rPr dirty="0"/>
              <a:t> </a:t>
            </a:r>
            <a:r>
              <a:rPr dirty="0" err="1"/>
              <a:t>julgamento</a:t>
            </a:r>
            <a:r>
              <a:rPr dirty="0"/>
              <a:t> para o </a:t>
            </a:r>
            <a:r>
              <a:rPr dirty="0" err="1"/>
              <a:t>modelo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loop </a:t>
            </a:r>
            <a:r>
              <a:rPr dirty="0" err="1"/>
              <a:t>correto</a:t>
            </a:r>
            <a:r>
              <a:rPr dirty="0"/>
              <a:t>: </a:t>
            </a:r>
            <a:r>
              <a:rPr dirty="0" err="1"/>
              <a:t>gerar</a:t>
            </a:r>
            <a:r>
              <a:rPr dirty="0"/>
              <a:t> → </a:t>
            </a:r>
            <a:r>
              <a:rPr dirty="0" err="1"/>
              <a:t>revisar</a:t>
            </a:r>
            <a:r>
              <a:rPr dirty="0"/>
              <a:t> → </a:t>
            </a:r>
            <a:r>
              <a:rPr dirty="0" err="1"/>
              <a:t>corrigir</a:t>
            </a:r>
            <a:r>
              <a:rPr dirty="0"/>
              <a:t> → </a:t>
            </a:r>
            <a:r>
              <a:rPr dirty="0" err="1"/>
              <a:t>iterar</a:t>
            </a:r>
            <a:r>
              <a:rPr dirty="0"/>
              <a:t>. A IA </a:t>
            </a:r>
            <a:r>
              <a:rPr dirty="0" err="1"/>
              <a:t>acelera</a:t>
            </a:r>
            <a:r>
              <a:rPr dirty="0"/>
              <a:t> o '</a:t>
            </a:r>
            <a:r>
              <a:rPr dirty="0" err="1"/>
              <a:t>gerar</a:t>
            </a:r>
            <a:r>
              <a:rPr dirty="0"/>
              <a:t>'. O </a:t>
            </a:r>
            <a:r>
              <a:rPr dirty="0" err="1"/>
              <a:t>humano</a:t>
            </a:r>
            <a:r>
              <a:rPr dirty="0"/>
              <a:t> continua </a:t>
            </a:r>
            <a:r>
              <a:rPr dirty="0" err="1"/>
              <a:t>responsável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'</a:t>
            </a:r>
            <a:r>
              <a:rPr dirty="0" err="1"/>
              <a:t>revisar</a:t>
            </a:r>
            <a:r>
              <a:rPr dirty="0"/>
              <a:t>' e '</a:t>
            </a:r>
            <a:r>
              <a:rPr dirty="0" err="1"/>
              <a:t>corrigir</a:t>
            </a:r>
            <a:r>
              <a:rPr dirty="0"/>
              <a:t>'.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</a:t>
            </a:r>
            <a:r>
              <a:rPr dirty="0" err="1"/>
              <a:t>Amershi</a:t>
            </a:r>
            <a:r>
              <a:rPr dirty="0"/>
              <a:t> et al. (2019)</a:t>
            </a:r>
          </a:p>
          <a:p>
            <a:r>
              <a:rPr dirty="0"/>
              <a:t>"Guidelines for Human-AI Interaction"</a:t>
            </a:r>
          </a:p>
          <a:p>
            <a:r>
              <a:rPr dirty="0"/>
              <a:t>CHI 2019 | https://dl.acm.org/doi/10.1145/3290605.3300233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Derivar</a:t>
            </a:r>
            <a:r>
              <a:rPr dirty="0"/>
              <a:t> um conjunto de </a:t>
            </a:r>
            <a:r>
              <a:rPr dirty="0" err="1"/>
              <a:t>diretrizes</a:t>
            </a:r>
            <a:r>
              <a:rPr dirty="0"/>
              <a:t> de design </a:t>
            </a:r>
            <a:r>
              <a:rPr dirty="0" err="1"/>
              <a:t>aplicáveis</a:t>
            </a:r>
            <a:r>
              <a:rPr dirty="0"/>
              <a:t> e </a:t>
            </a:r>
            <a:r>
              <a:rPr dirty="0" err="1"/>
              <a:t>testáveis</a:t>
            </a:r>
            <a:r>
              <a:rPr dirty="0"/>
              <a:t> para </a:t>
            </a:r>
            <a:r>
              <a:rPr dirty="0" err="1"/>
              <a:t>sistemas</a:t>
            </a:r>
            <a:r>
              <a:rPr dirty="0"/>
              <a:t> de IA </a:t>
            </a:r>
            <a:r>
              <a:rPr dirty="0" err="1"/>
              <a:t>interativos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gerais</a:t>
            </a:r>
            <a:r>
              <a:rPr dirty="0"/>
              <a:t> para </a:t>
            </a:r>
            <a:r>
              <a:rPr dirty="0" err="1"/>
              <a:t>cobrir</a:t>
            </a:r>
            <a:r>
              <a:rPr dirty="0"/>
              <a:t>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e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 para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de design </a:t>
            </a:r>
            <a:r>
              <a:rPr dirty="0" err="1"/>
              <a:t>concretas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iterativo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: (1) </a:t>
            </a:r>
            <a:r>
              <a:rPr dirty="0" err="1"/>
              <a:t>revisão</a:t>
            </a:r>
            <a:r>
              <a:rPr dirty="0"/>
              <a:t> e </a:t>
            </a:r>
            <a:r>
              <a:rPr dirty="0" err="1"/>
              <a:t>síntese</a:t>
            </a:r>
            <a:r>
              <a:rPr dirty="0"/>
              <a:t> de 168 </a:t>
            </a:r>
            <a:r>
              <a:rPr dirty="0" err="1"/>
              <a:t>princípios</a:t>
            </a:r>
            <a:r>
              <a:rPr dirty="0"/>
              <a:t> de design de IA de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</a:t>
            </a:r>
            <a:r>
              <a:rPr dirty="0" err="1"/>
              <a:t>resultando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 </a:t>
            </a:r>
            <a:r>
              <a:rPr dirty="0" err="1"/>
              <a:t>heurísticas</a:t>
            </a:r>
            <a:r>
              <a:rPr dirty="0"/>
              <a:t> </a:t>
            </a:r>
            <a:r>
              <a:rPr dirty="0" err="1"/>
              <a:t>candidatas</a:t>
            </a:r>
            <a:r>
              <a:rPr dirty="0"/>
              <a:t>; (2)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49 designers e </a:t>
            </a:r>
            <a:r>
              <a:rPr dirty="0" err="1"/>
              <a:t>pesquisadores</a:t>
            </a:r>
            <a:r>
              <a:rPr dirty="0"/>
              <a:t> de 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contextos</a:t>
            </a:r>
            <a:r>
              <a:rPr dirty="0"/>
              <a:t> de design real, com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; (3) </a:t>
            </a:r>
            <a:r>
              <a:rPr dirty="0" err="1"/>
              <a:t>refinamento</a:t>
            </a:r>
            <a:r>
              <a:rPr dirty="0"/>
              <a:t> para 18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finais</a:t>
            </a:r>
            <a:r>
              <a:rPr dirty="0"/>
              <a:t> com </a:t>
            </a: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, </a:t>
            </a:r>
            <a:r>
              <a:rPr dirty="0" err="1"/>
              <a:t>avaliadas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estudo</a:t>
            </a:r>
            <a:r>
              <a:rPr dirty="0"/>
              <a:t> com 169 </a:t>
            </a:r>
            <a:r>
              <a:rPr dirty="0" err="1"/>
              <a:t>participantes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18 </a:t>
            </a:r>
            <a:r>
              <a:rPr dirty="0" err="1"/>
              <a:t>produtos</a:t>
            </a:r>
            <a:r>
              <a:rPr dirty="0"/>
              <a:t> de IA </a:t>
            </a:r>
            <a:r>
              <a:rPr dirty="0" err="1"/>
              <a:t>existentes</a:t>
            </a:r>
            <a:r>
              <a:rPr dirty="0"/>
              <a:t> da Microsoft.</a:t>
            </a:r>
          </a:p>
          <a:p>
            <a:endParaRPr dirty="0"/>
          </a:p>
          <a:p>
            <a:r>
              <a:rPr dirty="0"/>
              <a:t>AS 18 DIRETRIZES (</a:t>
            </a:r>
            <a:r>
              <a:rPr dirty="0" err="1"/>
              <a:t>organizadas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4 </a:t>
            </a:r>
            <a:r>
              <a:rPr dirty="0" err="1"/>
              <a:t>fases</a:t>
            </a:r>
            <a:r>
              <a:rPr dirty="0"/>
              <a:t> </a:t>
            </a:r>
            <a:r>
              <a:rPr dirty="0" err="1"/>
              <a:t>temporais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FASE 1 — </a:t>
            </a:r>
            <a:r>
              <a:rPr dirty="0" err="1"/>
              <a:t>Inicialmente</a:t>
            </a:r>
            <a:r>
              <a:rPr dirty="0"/>
              <a:t> (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encontra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):</a:t>
            </a:r>
          </a:p>
          <a:p>
            <a:r>
              <a:rPr dirty="0"/>
              <a:t>G1.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fazer</a:t>
            </a:r>
            <a:r>
              <a:rPr dirty="0"/>
              <a:t>.</a:t>
            </a:r>
          </a:p>
          <a:p>
            <a:r>
              <a:rPr dirty="0"/>
              <a:t>G2.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faz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.</a:t>
            </a:r>
          </a:p>
          <a:p>
            <a:r>
              <a:rPr dirty="0"/>
              <a:t>G3. </a:t>
            </a:r>
            <a:r>
              <a:rPr dirty="0" err="1"/>
              <a:t>Calibrar</a:t>
            </a:r>
            <a:r>
              <a:rPr dirty="0"/>
              <a:t> a </a:t>
            </a:r>
            <a:r>
              <a:rPr dirty="0" err="1"/>
              <a:t>confiança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com base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 e no </a:t>
            </a:r>
            <a:r>
              <a:rPr dirty="0" err="1"/>
              <a:t>impacto</a:t>
            </a:r>
            <a:r>
              <a:rPr dirty="0"/>
              <a:t> dos </a:t>
            </a:r>
            <a:r>
              <a:rPr dirty="0" err="1"/>
              <a:t>erros</a:t>
            </a:r>
            <a:r>
              <a:rPr dirty="0"/>
              <a:t>.</a:t>
            </a:r>
          </a:p>
          <a:p>
            <a:r>
              <a:rPr dirty="0"/>
              <a:t>G4. </a:t>
            </a:r>
            <a:r>
              <a:rPr dirty="0" err="1"/>
              <a:t>Apresentar</a:t>
            </a:r>
            <a:r>
              <a:rPr dirty="0"/>
              <a:t> as </a:t>
            </a:r>
            <a:r>
              <a:rPr dirty="0" err="1"/>
              <a:t>limitações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de forma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afaste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motivo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2 — Durante a </a:t>
            </a:r>
            <a:r>
              <a:rPr dirty="0" err="1"/>
              <a:t>interação</a:t>
            </a:r>
            <a:r>
              <a:rPr dirty="0"/>
              <a:t>:</a:t>
            </a:r>
          </a:p>
          <a:p>
            <a:r>
              <a:rPr dirty="0"/>
              <a:t>G5. </a:t>
            </a:r>
            <a:r>
              <a:rPr dirty="0" err="1"/>
              <a:t>Combinar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com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G6. </a:t>
            </a:r>
            <a:r>
              <a:rPr dirty="0" err="1"/>
              <a:t>Mitigar</a:t>
            </a:r>
            <a:r>
              <a:rPr dirty="0"/>
              <a:t> o </a:t>
            </a:r>
            <a:r>
              <a:rPr dirty="0" err="1"/>
              <a:t>impacto</a:t>
            </a:r>
            <a:r>
              <a:rPr dirty="0"/>
              <a:t> social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G7.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eficiência</a:t>
            </a:r>
            <a:r>
              <a:rPr dirty="0"/>
              <a:t> para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experientes</a:t>
            </a:r>
            <a:r>
              <a:rPr dirty="0"/>
              <a:t>.</a:t>
            </a:r>
          </a:p>
          <a:p>
            <a:r>
              <a:rPr dirty="0"/>
              <a:t>G8. Ser </a:t>
            </a:r>
            <a:r>
              <a:rPr dirty="0" err="1"/>
              <a:t>contextualmente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: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adequadas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.</a:t>
            </a:r>
          </a:p>
          <a:p>
            <a:r>
              <a:rPr dirty="0"/>
              <a:t>G9. </a:t>
            </a:r>
            <a:r>
              <a:rPr dirty="0" err="1"/>
              <a:t>Apoiar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.</a:t>
            </a:r>
          </a:p>
          <a:p>
            <a:r>
              <a:rPr dirty="0"/>
              <a:t>G10.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</a:t>
            </a:r>
            <a:r>
              <a:rPr dirty="0" err="1"/>
              <a:t>hábil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consegue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a </a:t>
            </a:r>
            <a:r>
              <a:rPr dirty="0" err="1"/>
              <a:t>tarefa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3 — Quando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:</a:t>
            </a:r>
          </a:p>
          <a:p>
            <a:r>
              <a:rPr dirty="0"/>
              <a:t>G11. </a:t>
            </a:r>
            <a:r>
              <a:rPr dirty="0" err="1"/>
              <a:t>Tornar</a:t>
            </a:r>
            <a:r>
              <a:rPr dirty="0"/>
              <a:t> claro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fez o </a:t>
            </a:r>
            <a:r>
              <a:rPr dirty="0" err="1"/>
              <a:t>que</a:t>
            </a:r>
            <a:r>
              <a:rPr dirty="0"/>
              <a:t> fez.</a:t>
            </a:r>
          </a:p>
          <a:p>
            <a:r>
              <a:rPr dirty="0"/>
              <a:t>G12. </a:t>
            </a:r>
            <a:r>
              <a:rPr dirty="0" err="1"/>
              <a:t>Lembrar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é </a:t>
            </a:r>
            <a:r>
              <a:rPr dirty="0" err="1"/>
              <a:t>falível</a:t>
            </a:r>
            <a:r>
              <a:rPr dirty="0"/>
              <a:t>.</a:t>
            </a:r>
          </a:p>
          <a:p>
            <a:r>
              <a:rPr dirty="0"/>
              <a:t>G13.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reversão</a:t>
            </a:r>
            <a:r>
              <a:rPr dirty="0"/>
              <a:t>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G14.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avaliação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4 — Ao </a:t>
            </a:r>
            <a:r>
              <a:rPr dirty="0" err="1"/>
              <a:t>longo</a:t>
            </a:r>
            <a:r>
              <a:rPr dirty="0"/>
              <a:t> do tempo:</a:t>
            </a:r>
          </a:p>
          <a:p>
            <a:r>
              <a:rPr dirty="0"/>
              <a:t>G15. </a:t>
            </a:r>
            <a:r>
              <a:rPr dirty="0" err="1"/>
              <a:t>Monitorar</a:t>
            </a:r>
            <a:r>
              <a:rPr dirty="0"/>
              <a:t> e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mudanças</a:t>
            </a:r>
            <a:r>
              <a:rPr dirty="0"/>
              <a:t> no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G16.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adaptar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G17. </a:t>
            </a:r>
            <a:r>
              <a:rPr dirty="0" err="1"/>
              <a:t>Preservar</a:t>
            </a:r>
            <a:r>
              <a:rPr dirty="0"/>
              <a:t> a </a:t>
            </a:r>
            <a:r>
              <a:rPr dirty="0" err="1"/>
              <a:t>privacidade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personalizar</a:t>
            </a:r>
            <a:r>
              <a:rPr dirty="0"/>
              <a:t>.</a:t>
            </a:r>
          </a:p>
          <a:p>
            <a:r>
              <a:rPr dirty="0"/>
              <a:t>G18. </a:t>
            </a:r>
            <a:r>
              <a:rPr dirty="0" err="1"/>
              <a:t>Respeitar</a:t>
            </a:r>
            <a:r>
              <a:rPr dirty="0"/>
              <a:t>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Designers </a:t>
            </a:r>
            <a:r>
              <a:rPr dirty="0" err="1"/>
              <a:t>acham</a:t>
            </a:r>
            <a:r>
              <a:rPr dirty="0"/>
              <a:t>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úteis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 "</a:t>
            </a:r>
            <a:r>
              <a:rPr dirty="0" err="1"/>
              <a:t>quando</a:t>
            </a:r>
            <a:r>
              <a:rPr dirty="0"/>
              <a:t>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" e "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tempo" — </a:t>
            </a:r>
            <a:r>
              <a:rPr dirty="0" err="1"/>
              <a:t>justamente</a:t>
            </a:r>
            <a:r>
              <a:rPr dirty="0"/>
              <a:t> as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consideradas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práticas</a:t>
            </a:r>
            <a:r>
              <a:rPr dirty="0"/>
              <a:t> </a:t>
            </a:r>
            <a:r>
              <a:rPr dirty="0" err="1"/>
              <a:t>correntes</a:t>
            </a:r>
            <a:r>
              <a:rPr dirty="0"/>
              <a:t> de design. A </a:t>
            </a:r>
            <a:r>
              <a:rPr dirty="0" err="1"/>
              <a:t>diretriz</a:t>
            </a:r>
            <a:r>
              <a:rPr dirty="0"/>
              <a:t> G2 (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) é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frequentemente</a:t>
            </a:r>
            <a:r>
              <a:rPr dirty="0"/>
              <a:t> </a:t>
            </a:r>
            <a:r>
              <a:rPr dirty="0" err="1"/>
              <a:t>violada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 reais.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derivadas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de </a:t>
            </a:r>
            <a:r>
              <a:rPr dirty="0" err="1"/>
              <a:t>produtos</a:t>
            </a:r>
            <a:r>
              <a:rPr dirty="0"/>
              <a:t> de </a:t>
            </a:r>
            <a:r>
              <a:rPr dirty="0" err="1"/>
              <a:t>produtividade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conversacionais</a:t>
            </a:r>
            <a:r>
              <a:rPr dirty="0"/>
              <a:t> da Microsoft. </a:t>
            </a:r>
            <a:r>
              <a:rPr dirty="0" err="1"/>
              <a:t>Aplicabilidade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a </a:t>
            </a:r>
            <a:r>
              <a:rPr dirty="0" err="1"/>
              <a:t>domínios</a:t>
            </a:r>
            <a:r>
              <a:rPr dirty="0"/>
              <a:t> de alto </a:t>
            </a:r>
            <a:r>
              <a:rPr dirty="0" err="1"/>
              <a:t>risco</a:t>
            </a:r>
            <a:r>
              <a:rPr dirty="0"/>
              <a:t> (</a:t>
            </a:r>
            <a:r>
              <a:rPr dirty="0" err="1"/>
              <a:t>medicina</a:t>
            </a:r>
            <a:r>
              <a:rPr dirty="0"/>
              <a:t>, </a:t>
            </a:r>
            <a:r>
              <a:rPr dirty="0" err="1"/>
              <a:t>direito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)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descritivas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algoritmos</a:t>
            </a:r>
            <a:r>
              <a:rPr dirty="0"/>
              <a:t> de design —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julgamento</a:t>
            </a:r>
            <a:r>
              <a:rPr dirty="0"/>
              <a:t> contextual.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Amershi</a:t>
            </a:r>
            <a:r>
              <a:rPr dirty="0"/>
              <a:t> (2019) é o framework de </a:t>
            </a:r>
            <a:r>
              <a:rPr dirty="0" err="1"/>
              <a:t>governança</a:t>
            </a:r>
            <a:r>
              <a:rPr dirty="0"/>
              <a:t> </a:t>
            </a:r>
            <a:r>
              <a:rPr dirty="0" err="1"/>
              <a:t>implícito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a aula. Cada </a:t>
            </a:r>
            <a:r>
              <a:rPr dirty="0" err="1"/>
              <a:t>decisão</a:t>
            </a:r>
            <a:r>
              <a:rPr dirty="0"/>
              <a:t> de design do </a:t>
            </a:r>
            <a:r>
              <a:rPr dirty="0" err="1"/>
              <a:t>sistema</a:t>
            </a:r>
            <a:r>
              <a:rPr dirty="0"/>
              <a:t> da academia —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alertar</a:t>
            </a:r>
            <a:r>
              <a:rPr dirty="0"/>
              <a:t> o professor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restrição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mostrar</a:t>
            </a:r>
            <a:r>
              <a:rPr dirty="0"/>
              <a:t> histórico de forma </a:t>
            </a:r>
            <a:r>
              <a:rPr dirty="0" err="1"/>
              <a:t>acionável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registrar </a:t>
            </a:r>
            <a:r>
              <a:rPr dirty="0" err="1"/>
              <a:t>mudanças</a:t>
            </a:r>
            <a:r>
              <a:rPr dirty="0"/>
              <a:t> de plano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instância</a:t>
            </a:r>
            <a:r>
              <a:rPr dirty="0"/>
              <a:t> dessas </a:t>
            </a:r>
            <a:r>
              <a:rPr dirty="0" err="1"/>
              <a:t>diretrizes</a:t>
            </a:r>
            <a:r>
              <a:rPr dirty="0"/>
              <a:t>. O human-in-the-loop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opção</a:t>
            </a:r>
            <a:r>
              <a:rPr dirty="0"/>
              <a:t> de design: é </a:t>
            </a:r>
            <a:r>
              <a:rPr dirty="0" err="1"/>
              <a:t>diretriz</a:t>
            </a:r>
            <a:r>
              <a:rPr dirty="0"/>
              <a:t> G9.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Ji et al. (2023)</a:t>
            </a:r>
          </a:p>
          <a:p>
            <a:r>
              <a:rPr dirty="0"/>
              <a:t>"Survey of Hallucination in Natural Language Generation"</a:t>
            </a:r>
          </a:p>
          <a:p>
            <a:r>
              <a:rPr dirty="0"/>
              <a:t>ACM Computing Surveys, vol. 55, no. 12 | https://dl.acm.org/doi/10.1145/3571730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Sistematizar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—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r>
              <a:rPr dirty="0"/>
              <a:t>, </a:t>
            </a:r>
            <a:r>
              <a:rPr dirty="0" err="1"/>
              <a:t>taxonomia</a:t>
            </a:r>
            <a:r>
              <a:rPr dirty="0"/>
              <a:t>, </a:t>
            </a:r>
            <a:r>
              <a:rPr dirty="0" err="1"/>
              <a:t>causas</a:t>
            </a:r>
            <a:r>
              <a:rPr dirty="0"/>
              <a:t>,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mitigação</a:t>
            </a:r>
            <a:r>
              <a:rPr dirty="0"/>
              <a:t> —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para a </a:t>
            </a:r>
            <a:r>
              <a:rPr dirty="0" err="1"/>
              <a:t>área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DEFINIÇÃO FORMAL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é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fluente</a:t>
            </a:r>
            <a:r>
              <a:rPr dirty="0"/>
              <a:t> e </a:t>
            </a:r>
            <a:r>
              <a:rPr dirty="0" err="1"/>
              <a:t>plausível</a:t>
            </a:r>
            <a:r>
              <a:rPr dirty="0"/>
              <a:t> </a:t>
            </a:r>
            <a:r>
              <a:rPr dirty="0" err="1"/>
              <a:t>linguisticamente</a:t>
            </a:r>
            <a:r>
              <a:rPr dirty="0"/>
              <a:t>, mas </a:t>
            </a:r>
            <a:r>
              <a:rPr dirty="0" err="1"/>
              <a:t>factualmente</a:t>
            </a:r>
            <a:r>
              <a:rPr dirty="0"/>
              <a:t> </a:t>
            </a:r>
            <a:r>
              <a:rPr dirty="0" err="1"/>
              <a:t>incorreto</a:t>
            </a:r>
            <a:r>
              <a:rPr dirty="0"/>
              <a:t>, </a:t>
            </a:r>
            <a:r>
              <a:rPr dirty="0" err="1"/>
              <a:t>inconsistente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distinguem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fundamentais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contradiz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o </a:t>
            </a:r>
            <a:r>
              <a:rPr dirty="0" err="1"/>
              <a:t>documento-fonte</a:t>
            </a:r>
            <a:r>
              <a:rPr dirty="0"/>
              <a:t> (ex: </a:t>
            </a:r>
            <a:r>
              <a:rPr dirty="0" err="1"/>
              <a:t>sumarização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inverte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do original).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verificado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(ex: </a:t>
            </a:r>
            <a:r>
              <a:rPr dirty="0" err="1"/>
              <a:t>detalhes</a:t>
            </a:r>
            <a:r>
              <a:rPr dirty="0"/>
              <a:t> </a:t>
            </a:r>
            <a:r>
              <a:rPr dirty="0" err="1"/>
              <a:t>inventados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documento</a:t>
            </a:r>
            <a:r>
              <a:rPr dirty="0"/>
              <a:t> original, </a:t>
            </a:r>
            <a:r>
              <a:rPr dirty="0" err="1"/>
              <a:t>podendo</a:t>
            </a:r>
            <a:r>
              <a:rPr dirty="0"/>
              <a:t> ser </a:t>
            </a:r>
            <a:r>
              <a:rPr dirty="0" err="1"/>
              <a:t>verdadeiros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real).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sistemática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de 150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2017 e 2022, </a:t>
            </a:r>
            <a:r>
              <a:rPr dirty="0" err="1"/>
              <a:t>cobrindo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NLG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sumarização</a:t>
            </a:r>
            <a:r>
              <a:rPr dirty="0"/>
              <a:t>, </a:t>
            </a:r>
            <a:r>
              <a:rPr dirty="0" err="1"/>
              <a:t>tradução</a:t>
            </a:r>
            <a:r>
              <a:rPr dirty="0"/>
              <a:t>, </a:t>
            </a:r>
            <a:r>
              <a:rPr dirty="0" err="1"/>
              <a:t>diálogo</a:t>
            </a:r>
            <a:r>
              <a:rPr dirty="0"/>
              <a:t>,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, QA e </a:t>
            </a:r>
            <a:r>
              <a:rPr dirty="0" err="1"/>
              <a:t>geração</a:t>
            </a:r>
            <a:r>
              <a:rPr dirty="0"/>
              <a:t> de dados.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constroem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taxonomia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entre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CAUSAS DE ALUCINAÇÃO (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)</a:t>
            </a:r>
          </a:p>
          <a:p>
            <a:r>
              <a:rPr dirty="0"/>
              <a:t>1. Dados de </a:t>
            </a:r>
            <a:r>
              <a:rPr dirty="0" err="1"/>
              <a:t>treinamento</a:t>
            </a:r>
            <a:r>
              <a:rPr dirty="0"/>
              <a:t>: corpus </a:t>
            </a:r>
            <a:r>
              <a:rPr dirty="0" err="1"/>
              <a:t>ruidosos</a:t>
            </a:r>
            <a:r>
              <a:rPr dirty="0"/>
              <a:t>, </a:t>
            </a:r>
            <a:r>
              <a:rPr dirty="0" err="1"/>
              <a:t>inconsistentes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. </a:t>
            </a:r>
            <a:r>
              <a:rPr dirty="0" err="1"/>
              <a:t>Correlações</a:t>
            </a:r>
            <a:r>
              <a:rPr dirty="0"/>
              <a:t> </a:t>
            </a:r>
            <a:r>
              <a:rPr dirty="0" err="1"/>
              <a:t>espúrias</a:t>
            </a:r>
            <a:r>
              <a:rPr dirty="0"/>
              <a:t> no </a:t>
            </a:r>
            <a:r>
              <a:rPr dirty="0" err="1"/>
              <a:t>pré-treinamento</a:t>
            </a:r>
            <a:r>
              <a:rPr dirty="0"/>
              <a:t>. Dados de </a:t>
            </a:r>
            <a:r>
              <a:rPr dirty="0" err="1"/>
              <a:t>alinhamento</a:t>
            </a:r>
            <a:r>
              <a:rPr dirty="0"/>
              <a:t> (RLHF)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recompensam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incorreção</a:t>
            </a:r>
            <a:r>
              <a:rPr dirty="0"/>
              <a:t> factual.</a:t>
            </a:r>
          </a:p>
          <a:p>
            <a:r>
              <a:rPr dirty="0"/>
              <a:t>2.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decodificação</a:t>
            </a:r>
            <a:r>
              <a:rPr dirty="0"/>
              <a:t>: </a:t>
            </a:r>
            <a:r>
              <a:rPr dirty="0" err="1"/>
              <a:t>amostragem</a:t>
            </a:r>
            <a:r>
              <a:rPr dirty="0"/>
              <a:t> com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criatividade</a:t>
            </a:r>
            <a:r>
              <a:rPr dirty="0"/>
              <a:t> mas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. Beam search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 </a:t>
            </a:r>
            <a:r>
              <a:rPr dirty="0" err="1"/>
              <a:t>coerentes</a:t>
            </a:r>
            <a:r>
              <a:rPr dirty="0"/>
              <a:t> mas </a:t>
            </a:r>
            <a:r>
              <a:rPr dirty="0" err="1"/>
              <a:t>incorretas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Arquitetura</a:t>
            </a:r>
            <a:r>
              <a:rPr dirty="0"/>
              <a:t>: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atenção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distribuir</a:t>
            </a:r>
            <a:r>
              <a:rPr dirty="0"/>
              <a:t> peso </a:t>
            </a:r>
            <a:r>
              <a:rPr dirty="0" err="1"/>
              <a:t>em</a:t>
            </a:r>
            <a:r>
              <a:rPr dirty="0"/>
              <a:t> tokens </a:t>
            </a:r>
            <a:r>
              <a:rPr dirty="0" err="1"/>
              <a:t>irrelevantes</a:t>
            </a:r>
            <a:r>
              <a:rPr dirty="0"/>
              <a:t>.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"confabular"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partes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Treinamento</a:t>
            </a:r>
            <a:r>
              <a:rPr dirty="0"/>
              <a:t> de </a:t>
            </a:r>
            <a:r>
              <a:rPr dirty="0" err="1"/>
              <a:t>alinhamento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RLHF </a:t>
            </a:r>
            <a:r>
              <a:rPr dirty="0" err="1"/>
              <a:t>aprendem</a:t>
            </a:r>
            <a:r>
              <a:rPr dirty="0"/>
              <a:t> 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aprovam</a:t>
            </a:r>
            <a:r>
              <a:rPr dirty="0"/>
              <a:t> —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veracidade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MÉTRICAS DE AVALIAÇÃO</a:t>
            </a:r>
          </a:p>
          <a:p>
            <a:r>
              <a:rPr dirty="0"/>
              <a:t>• Faithfulness: </a:t>
            </a:r>
            <a:r>
              <a:rPr dirty="0" err="1"/>
              <a:t>grau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.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NLI (Natural Language Inference)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QA.</a:t>
            </a:r>
          </a:p>
          <a:p>
            <a:r>
              <a:rPr dirty="0"/>
              <a:t>• Factuality: </a:t>
            </a:r>
            <a:r>
              <a:rPr dirty="0" err="1"/>
              <a:t>alinhamento</a:t>
            </a:r>
            <a:r>
              <a:rPr dirty="0"/>
              <a:t> com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externo</a:t>
            </a:r>
            <a:r>
              <a:rPr dirty="0"/>
              <a:t>. Mais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r>
              <a:rPr dirty="0"/>
              <a:t>• ROUGE, </a:t>
            </a:r>
            <a:r>
              <a:rPr dirty="0" err="1"/>
              <a:t>BERTScore</a:t>
            </a:r>
            <a:r>
              <a:rPr dirty="0"/>
              <a:t>: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mas </a:t>
            </a:r>
            <a:r>
              <a:rPr dirty="0" err="1"/>
              <a:t>insensíveis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 — um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alucinado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ter ROUGE alto se o </a:t>
            </a:r>
            <a:r>
              <a:rPr dirty="0" err="1"/>
              <a:t>estilo</a:t>
            </a:r>
            <a:r>
              <a:rPr dirty="0"/>
              <a:t> for similar.</a:t>
            </a:r>
          </a:p>
          <a:p>
            <a:r>
              <a:rPr dirty="0"/>
              <a:t>• </a:t>
            </a:r>
            <a:r>
              <a:rPr dirty="0" err="1"/>
              <a:t>FactScore</a:t>
            </a:r>
            <a:r>
              <a:rPr dirty="0"/>
              <a:t>: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recente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decompõe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e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ESTRATÉGIAS DE MITIGAÇÃO</a:t>
            </a:r>
          </a:p>
          <a:p>
            <a:r>
              <a:rPr dirty="0"/>
              <a:t>1. Retrieval-Augmented Generation (RAG): </a:t>
            </a:r>
            <a:r>
              <a:rPr dirty="0" err="1"/>
              <a:t>ancora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, </a:t>
            </a:r>
            <a:r>
              <a:rPr dirty="0" err="1"/>
              <a:t>convertendo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</a:t>
            </a:r>
          </a:p>
          <a:p>
            <a:r>
              <a:rPr dirty="0"/>
              <a:t>2. Faithfulness training: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com </a:t>
            </a:r>
            <a:r>
              <a:rPr dirty="0" err="1"/>
              <a:t>penalização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para </a:t>
            </a:r>
            <a:r>
              <a:rPr dirty="0" err="1"/>
              <a:t>inconsistências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.</a:t>
            </a:r>
          </a:p>
          <a:p>
            <a:r>
              <a:rPr dirty="0"/>
              <a:t>3. Post-hoc correction: </a:t>
            </a:r>
            <a:r>
              <a:rPr dirty="0" err="1"/>
              <a:t>verificadores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detectam</a:t>
            </a:r>
            <a:r>
              <a:rPr dirty="0"/>
              <a:t> e </a:t>
            </a:r>
            <a:r>
              <a:rPr dirty="0" err="1"/>
              <a:t>corrigem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</a:t>
            </a:r>
            <a:r>
              <a:rPr dirty="0" err="1"/>
              <a:t>incorretas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.</a:t>
            </a:r>
          </a:p>
          <a:p>
            <a:r>
              <a:rPr dirty="0"/>
              <a:t>4. Chain-of-thought: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complexo</a:t>
            </a:r>
            <a:r>
              <a:rPr dirty="0"/>
              <a:t>.</a:t>
            </a:r>
          </a:p>
          <a:p>
            <a:r>
              <a:rPr dirty="0"/>
              <a:t>5. Self-consistency: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respostas</a:t>
            </a:r>
            <a:r>
              <a:rPr dirty="0"/>
              <a:t> e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bug a ser </a:t>
            </a:r>
            <a:r>
              <a:rPr dirty="0" err="1"/>
              <a:t>corrigido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emergente</a:t>
            </a:r>
            <a:r>
              <a:rPr dirty="0"/>
              <a:t> de </a:t>
            </a:r>
            <a:r>
              <a:rPr dirty="0" err="1"/>
              <a:t>como</a:t>
            </a:r>
            <a:r>
              <a:rPr dirty="0"/>
              <a:t> LLMs </a:t>
            </a:r>
            <a:r>
              <a:rPr dirty="0" err="1"/>
              <a:t>funcionam</a:t>
            </a:r>
            <a:r>
              <a:rPr dirty="0"/>
              <a:t>.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IA de alto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ter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de grounding (retrieval), </a:t>
            </a:r>
            <a:r>
              <a:rPr dirty="0" err="1"/>
              <a:t>validação</a:t>
            </a:r>
            <a:r>
              <a:rPr dirty="0"/>
              <a:t> (human-in-the-loop) e </a:t>
            </a:r>
            <a:r>
              <a:rPr dirty="0" err="1"/>
              <a:t>monitoramento</a:t>
            </a:r>
            <a:r>
              <a:rPr dirty="0"/>
              <a:t> de faithfulness. </a:t>
            </a:r>
            <a:r>
              <a:rPr dirty="0" err="1"/>
              <a:t>Ignorar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é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sistêmico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Narrar com calma. O ponto não é tecnologia; é falha estrutural de informação em contexto de risco físico.</a:t>
            </a:r>
          </a:p>
          <a:p>
            <a:endParaRPr/>
          </a:p>
          <a:p>
            <a:r>
              <a:t>A academia parece bem estruturada por fora. Mas a infraestrutura informacional é zero. Esse é o problema que vamos resolver.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Ahmad et al. (2023)</a:t>
            </a:r>
          </a:p>
          <a:p>
            <a:r>
              <a:t>"Requirements Engineering for Artificial Intelligence Systems: A Systematic Mapping Study"</a:t>
            </a:r>
          </a:p>
          <a:p>
            <a:r>
              <a:t>Information and Software Technology | https://doi.org/10.1016/j.infsof.2023.107176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como a comunidade de Engenharia de Requisitos está abordando os desafios específicos de sistemas baseados em IA/ML — identificando categorias de requisitos, técnicas propostas, domínios de aplicação e lacunas críticas.</a:t>
            </a:r>
          </a:p>
          <a:p>
            <a:endParaRPr/>
          </a:p>
          <a:p>
            <a:r>
              <a:t>METODOLOGIA</a:t>
            </a:r>
          </a:p>
          <a:p>
            <a:r>
              <a:t>Mapeamento sistemático (broader que SLR) de 71 estudos primários publicados entre 2015 e 2022. Classificação em duas dimensões cruzadas: (1) tipo de requisito (funcional, de qualidade, de processo, de dados); (2) atividade de RE (elicitação, especificação, verificação, gerenciamento).</a:t>
            </a:r>
          </a:p>
          <a:p>
            <a:endParaRPr/>
          </a:p>
          <a:p>
            <a:r>
              <a:t>CATEGORIAS DE REQUISITOS PARA SISTEMAS DE IA</a:t>
            </a:r>
          </a:p>
          <a:p>
            <a:endParaRPr/>
          </a:p>
          <a:p>
            <a:r>
              <a:t>Requisitos de dados (35% dos estudos): qualidade, proveniência, representatividade, privacidade e atualidade dos dados de treinamento. Descoberta: a maioria dos projetos não especifica formalmente requisitos de dados — tratam dados como insumo, não como componente com qualidade mensurável.</a:t>
            </a:r>
          </a:p>
          <a:p>
            <a:endParaRPr/>
          </a:p>
          <a:p>
            <a:r>
              <a:t>Requisitos de modelo: acurácia, fairness, robustez, interpretabilidade e explicabilidade. A especificação de fairness é o requisito mais citado mas menos operacionalizado — existe como intenção, não como critério verificável.</a:t>
            </a:r>
          </a:p>
          <a:p>
            <a:endParaRPr/>
          </a:p>
          <a:p>
            <a:r>
              <a:t>Requisitos de sistema: integração com sistemas legados, requisitos de latência e throughput, monitoramento em produção (drift detection).</a:t>
            </a:r>
          </a:p>
          <a:p>
            <a:endParaRPr/>
          </a:p>
          <a:p>
            <a:r>
              <a:t>Requisitos de processo: rastreabilidade de decisões de design, auditabilidade de experimentos, documentação de trade-offs. Praticamente ausente em projetos de mercado.</a:t>
            </a:r>
          </a:p>
          <a:p>
            <a:endParaRPr/>
          </a:p>
          <a:p>
            <a:r>
              <a:t>DISTINÇÃO CENTRAL: RE PARA SISTEMAS DE IA vs RE COM FERRAMENTAS DE IA</a:t>
            </a:r>
          </a:p>
          <a:p>
            <a:r>
              <a:t>O artigo distingue dois contextos diferentes que frequentemente se confundem:</a:t>
            </a:r>
          </a:p>
          <a:p>
            <a:r>
              <a:t>(A) RE para sistemas de IA: especificar requisitos de um sistema cujo comportamento é determinado por modelo de ML — aqui a incerteza do modelo deve ser gerenciada como requisito.</a:t>
            </a:r>
          </a:p>
          <a:p>
            <a:r>
              <a:t>(B) RE com ferramentas de IA: usar GenAI para apoiar o processo de RE de qualquer sistema — aqui a IA é ferramenta auxiliar do engenheiro.</a:t>
            </a:r>
          </a:p>
          <a:p>
            <a:endParaRPr/>
          </a:p>
          <a:p>
            <a:r>
              <a:t>PRINCIPAIS ACHADOS</a:t>
            </a:r>
          </a:p>
          <a:p>
            <a:r>
              <a:t>• Explicabilidade é citada como requisito em 78% dos estudos sobre sistemas de IA de alto risco, mas apenas 12% propõem métricas verificáveis para ela.</a:t>
            </a:r>
          </a:p>
          <a:p>
            <a:r>
              <a:t>• Fairness, safety e privacy aparecem frequentemente como "requisitos de qualidade" mas raramente com critérios de aceitação mensuráveis.</a:t>
            </a:r>
          </a:p>
          <a:p>
            <a:r>
              <a:t>• A rastreabilidade entre requisito de modelo e decisão de treinamento é o gap técnico mais crítico identificado.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Ahmad (2023) fundamenta por que o sistema da academia precisa de requisitos explícitos de rastreabilidade e auditabilidade — não como burocracia, mas como mecanismos de accountability quando decisões afetam saúde humana. O caso de uso da academia ilustra exatamente o domínio de alto risco que o artigo identifica como carente de especificação adequada.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primeiro prompt não pede sistema; pede decomposição analítica do problema.</a:t>
            </a:r>
          </a:p>
          <a:p>
            <a:endParaRPr/>
          </a:p>
          <a:p>
            <a:r>
              <a:t>O prompt de abertura da demo: 'a partir desta narrativa, identifique as falhas estruturais de informação, os riscos operacionais e as decisões que dependem de contexto não disponível'.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Cheng et al. (2024)</a:t>
            </a:r>
          </a:p>
          <a:p>
            <a:r>
              <a:t>"Generative AI for Requirements Engineering: A Systematic Literature Review"</a:t>
            </a:r>
          </a:p>
          <a:p>
            <a:r>
              <a:t>arXiv:2401.01041 | https://arxiv.org/abs/2401.01041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o uso de IA generativa (GenAI) em todas as atividades de Engenharia de Requisitos, identificar o estado da arte, lacunas de pesquisa e tendências emergentes.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seguindo protocolo PRISMA. Corpus: 89 artigos selecionados de 342 candidatos publicados entre 2018 e 2023. Critério de inclusão: uso explícito de modelos generativos (Transformers, LLMs, modelos de difusão) em alguma atividade de RE. Classificação por atividade de RE, tipo de modelo, domínio de aplicação e nível de automação.</a:t>
            </a:r>
          </a:p>
          <a:p>
            <a:endParaRPr/>
          </a:p>
          <a:p>
            <a:r>
              <a:t>MAPEAMENTO POR ATIVIDADE DE RE</a:t>
            </a:r>
          </a:p>
          <a:p>
            <a:endParaRPr/>
          </a:p>
          <a:p>
            <a:r>
              <a:t>Elicitação (23% dos estudos): GenAI como facilitador de entrevistas, geração de perguntas para stakeholders, análise de sentimento em feedback de usuários. Maturidade: baixa. Principal limitação: modelos não capturam contexto organizacional e político.</a:t>
            </a:r>
          </a:p>
          <a:p>
            <a:endParaRPr/>
          </a:p>
          <a:p>
            <a:r>
              <a:t>Especificação (41% dos estudos — área mais estudada): geração de histórias de usuário, casos de uso, SRS formais e semi-formais. Maturidade: média-alta. GPT-4 consegue gerar templates válidos; limitação em domínios específicos.</a:t>
            </a:r>
          </a:p>
          <a:p>
            <a:endParaRPr/>
          </a:p>
          <a:p>
            <a:r>
              <a:t>Análise e modelagem (18%): geração de diagramas conceituais (UML, BPMN) a partir de texto. Maturidade: média. Ferramentas baseadas em LLM como ChatUML mostram resultados promissores mas requerem validação especializada.</a:t>
            </a:r>
          </a:p>
          <a:p>
            <a:endParaRPr/>
          </a:p>
          <a:p>
            <a:r>
              <a:t>Verificação e validação (12%): detecção de inconsistências, ambiguidades e completude. Maturidade: baixa-média. LLMs são razoáveis para detecção de ambiguidade mas fracos para verificação formal.</a:t>
            </a:r>
          </a:p>
          <a:p>
            <a:endParaRPr/>
          </a:p>
          <a:p>
            <a:r>
              <a:t>Gerenciamento de rastreabilidade (6%): geração e manutenção de links entre artefatos de RE. Maturidade: emergente.</a:t>
            </a:r>
          </a:p>
          <a:p>
            <a:endParaRPr/>
          </a:p>
          <a:p>
            <a:r>
              <a:t>PRINCIPAIS ACHADOS</a:t>
            </a:r>
          </a:p>
          <a:p>
            <a:r>
              <a:t>• A integração de GenAI em RE é mais efetiva em tarefas de geração/transformação (NL → formal) do que em tarefas de análise crítica.</a:t>
            </a:r>
          </a:p>
          <a:p>
            <a:r>
              <a:t>• Domínios com alta especificidade (sistemas embarcados, sistemas de segurança crítica) mostram degradação mais acentuada.</a:t>
            </a:r>
          </a:p>
          <a:p>
            <a:r>
              <a:t>• Nenhum estudo avaliado demonstrou uso de GenAI em requisitos de privacidade e segurança com rigor suficiente.</a:t>
            </a:r>
          </a:p>
          <a:p>
            <a:r>
              <a:t>• Rastreabilidade automatizada é o gap mais relevante identificado — área com maior potencial de impacto.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Cheng (2024) situa o Spec Kit dentro do estado da arte: usar GenAI para transformação NL → especificação é a aplicação mais madura e com maior evidência de valor. A aula aplica exatamente esse padrão, com o cuidado adicional de estruturar o input (narrativa rica) antes de invocar a geração.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que requisito ruim compromete BPMN, banco, API e front-end.</a:t>
            </a:r>
          </a:p>
          <a:p>
            <a:endParaRPr/>
          </a:p>
          <a:p>
            <a:r>
              <a:t>Restrições de domínio são especialmente importantes: sem elas, a IA pode gerar sistema que funciona tecnicamente mas ignora realidade operacional.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Ahmad et al. (2023)</a:t>
            </a:r>
          </a:p>
          <a:p>
            <a:r>
              <a:t>"Requirements Engineering for Artificial Intelligence Systems: A Systematic Mapping Study"</a:t>
            </a:r>
          </a:p>
          <a:p>
            <a:r>
              <a:t>Information and Software Technology | https://doi.org/10.1016/j.infsof.2023.107176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como a comunidade de Engenharia de Requisitos está abordando os desafios específicos de sistemas baseados em IA/ML — identificando categorias de requisitos, técnicas propostas, domínios de aplicação e lacunas críticas.</a:t>
            </a:r>
          </a:p>
          <a:p>
            <a:endParaRPr/>
          </a:p>
          <a:p>
            <a:r>
              <a:t>METODOLOGIA</a:t>
            </a:r>
          </a:p>
          <a:p>
            <a:r>
              <a:t>Mapeamento sistemático (broader que SLR) de 71 estudos primários publicados entre 2015 e 2022. Classificação em duas dimensões cruzadas: (1) tipo de requisito (funcional, de qualidade, de processo, de dados); (2) atividade de RE (elicitação, especificação, verificação, gerenciamento).</a:t>
            </a:r>
          </a:p>
          <a:p>
            <a:endParaRPr/>
          </a:p>
          <a:p>
            <a:r>
              <a:t>CATEGORIAS DE REQUISITOS PARA SISTEMAS DE IA</a:t>
            </a:r>
          </a:p>
          <a:p>
            <a:endParaRPr/>
          </a:p>
          <a:p>
            <a:r>
              <a:t>Requisitos de dados (35% dos estudos): qualidade, proveniência, representatividade, privacidade e atualidade dos dados de treinamento. Descoberta: a maioria dos projetos não especifica formalmente requisitos de dados — tratam dados como insumo, não como componente com qualidade mensurável.</a:t>
            </a:r>
          </a:p>
          <a:p>
            <a:endParaRPr/>
          </a:p>
          <a:p>
            <a:r>
              <a:t>Requisitos de modelo: acurácia, fairness, robustez, interpretabilidade e explicabilidade. A especificação de fairness é o requisito mais citado mas menos operacionalizado — existe como intenção, não como critério verificável.</a:t>
            </a:r>
          </a:p>
          <a:p>
            <a:endParaRPr/>
          </a:p>
          <a:p>
            <a:r>
              <a:t>Requisitos de sistema: integração com sistemas legados, requisitos de latência e throughput, monitoramento em produção (drift detection).</a:t>
            </a:r>
          </a:p>
          <a:p>
            <a:endParaRPr/>
          </a:p>
          <a:p>
            <a:r>
              <a:t>Requisitos de processo: rastreabilidade de decisões de design, auditabilidade de experimentos, documentação de trade-offs. Praticamente ausente em projetos de mercado.</a:t>
            </a:r>
          </a:p>
          <a:p>
            <a:endParaRPr/>
          </a:p>
          <a:p>
            <a:r>
              <a:t>DISTINÇÃO CENTRAL: RE PARA SISTEMAS DE IA vs RE COM FERRAMENTAS DE IA</a:t>
            </a:r>
          </a:p>
          <a:p>
            <a:r>
              <a:t>O artigo distingue dois contextos diferentes que frequentemente se confundem:</a:t>
            </a:r>
          </a:p>
          <a:p>
            <a:r>
              <a:t>(A) RE para sistemas de IA: especificar requisitos de um sistema cujo comportamento é determinado por modelo de ML — aqui a incerteza do modelo deve ser gerenciada como requisito.</a:t>
            </a:r>
          </a:p>
          <a:p>
            <a:r>
              <a:t>(B) RE com ferramentas de IA: usar GenAI para apoiar o processo de RE de qualquer sistema — aqui a IA é ferramenta auxiliar do engenheiro.</a:t>
            </a:r>
          </a:p>
          <a:p>
            <a:endParaRPr/>
          </a:p>
          <a:p>
            <a:r>
              <a:t>PRINCIPAIS ACHADOS</a:t>
            </a:r>
          </a:p>
          <a:p>
            <a:r>
              <a:t>• Explicabilidade é citada como requisito em 78% dos estudos sobre sistemas de IA de alto risco, mas apenas 12% propõem métricas verificáveis para ela.</a:t>
            </a:r>
          </a:p>
          <a:p>
            <a:r>
              <a:t>• Fairness, safety e privacy aparecem frequentemente como "requisitos de qualidade" mas raramente com critérios de aceitação mensuráveis.</a:t>
            </a:r>
          </a:p>
          <a:p>
            <a:r>
              <a:t>• A rastreabilidade entre requisito de modelo e decisão de treinamento é o gap técnico mais crítico identificado.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Ahmad (2023) fundamenta por que o sistema da academia precisa de requisitos explícitos de rastreabilidade e auditabilidade — não como burocracia, mas como mecanismos de accountability quando decisões afetam saúde humana. O caso de uso da academia ilustra exatamente o domínio de alto risco que o artigo identifica como carente de especificação adequada.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Cheng et al. (2024)</a:t>
            </a:r>
          </a:p>
          <a:p>
            <a:r>
              <a:t>"Generative AI for Requirements Engineering: A Systematic Literature Review"</a:t>
            </a:r>
          </a:p>
          <a:p>
            <a:r>
              <a:t>arXiv:2401.01041 | https://arxiv.org/abs/2401.01041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o uso de IA generativa (GenAI) em todas as atividades de Engenharia de Requisitos, identificar o estado da arte, lacunas de pesquisa e tendências emergentes.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seguindo protocolo PRISMA. Corpus: 89 artigos selecionados de 342 candidatos publicados entre 2018 e 2023. Critério de inclusão: uso explícito de modelos generativos (Transformers, LLMs, modelos de difusão) em alguma atividade de RE. Classificação por atividade de RE, tipo de modelo, domínio de aplicação e nível de automação.</a:t>
            </a:r>
          </a:p>
          <a:p>
            <a:endParaRPr/>
          </a:p>
          <a:p>
            <a:r>
              <a:t>MAPEAMENTO POR ATIVIDADE DE RE</a:t>
            </a:r>
          </a:p>
          <a:p>
            <a:endParaRPr/>
          </a:p>
          <a:p>
            <a:r>
              <a:t>Elicitação (23% dos estudos): GenAI como facilitador de entrevistas, geração de perguntas para stakeholders, análise de sentimento em feedback de usuários. Maturidade: baixa. Principal limitação: modelos não capturam contexto organizacional e político.</a:t>
            </a:r>
          </a:p>
          <a:p>
            <a:endParaRPr/>
          </a:p>
          <a:p>
            <a:r>
              <a:t>Especificação (41% dos estudos — área mais estudada): geração de histórias de usuário, casos de uso, SRS formais e semi-formais. Maturidade: média-alta. GPT-4 consegue gerar templates válidos; limitação em domínios específicos.</a:t>
            </a:r>
          </a:p>
          <a:p>
            <a:endParaRPr/>
          </a:p>
          <a:p>
            <a:r>
              <a:t>Análise e modelagem (18%): geração de diagramas conceituais (UML, BPMN) a partir de texto. Maturidade: média. Ferramentas baseadas em LLM como ChatUML mostram resultados promissores mas requerem validação especializada.</a:t>
            </a:r>
          </a:p>
          <a:p>
            <a:endParaRPr/>
          </a:p>
          <a:p>
            <a:r>
              <a:t>Verificação e validação (12%): detecção de inconsistências, ambiguidades e completude. Maturidade: baixa-média. LLMs são razoáveis para detecção de ambiguidade mas fracos para verificação formal.</a:t>
            </a:r>
          </a:p>
          <a:p>
            <a:endParaRPr/>
          </a:p>
          <a:p>
            <a:r>
              <a:t>Gerenciamento de rastreabilidade (6%): geração e manutenção de links entre artefatos de RE. Maturidade: emergente.</a:t>
            </a:r>
          </a:p>
          <a:p>
            <a:endParaRPr/>
          </a:p>
          <a:p>
            <a:r>
              <a:t>PRINCIPAIS ACHADOS</a:t>
            </a:r>
          </a:p>
          <a:p>
            <a:r>
              <a:t>• A integração de GenAI em RE é mais efetiva em tarefas de geração/transformação (NL → formal) do que em tarefas de análise crítica.</a:t>
            </a:r>
          </a:p>
          <a:p>
            <a:r>
              <a:t>• Domínios com alta especificidade (sistemas embarcados, sistemas de segurança crítica) mostram degradação mais acentuada.</a:t>
            </a:r>
          </a:p>
          <a:p>
            <a:r>
              <a:t>• Nenhum estudo avaliado demonstrou uso de GenAI em requisitos de privacidade e segurança com rigor suficiente.</a:t>
            </a:r>
          </a:p>
          <a:p>
            <a:r>
              <a:t>• Rastreabilidade automatizada é o gap mais relevante identificado — área com maior potencial de impacto.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Cheng (2024) situa o Spec Kit dentro do estado da arte: usar GenAI para transformação NL → especificação é a aplicação mais madura e com maior evidência de valor. A aula aplica exatamente esse padrão, com o cuidado adicional de estruturar o input (narrativa rica) antes de invocar a geração.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Conectar modelagem de domínio com arquitetura e redução de retrabalho.</a:t>
            </a:r>
          </a:p>
          <a:p>
            <a:endParaRPr/>
          </a:p>
          <a:p>
            <a:r>
              <a:t>O modelo de domínio não é o schema do banco. É a representação conceitual do negócio. O banco deriva do modelo, não o contrário.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Ahmad et al. (2023)</a:t>
            </a:r>
          </a:p>
          <a:p>
            <a:r>
              <a:t>"Requirements Engineering for Artificial Intelligence Systems: A Systematic Mapping Study"</a:t>
            </a:r>
          </a:p>
          <a:p>
            <a:r>
              <a:t>Information and Software Technology | https://doi.org/10.1016/j.infsof.2023.107176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como a comunidade de Engenharia de Requisitos está abordando os desafios específicos de sistemas baseados em IA/ML — identificando categorias de requisitos, técnicas propostas, domínios de aplicação e lacunas críticas.</a:t>
            </a:r>
          </a:p>
          <a:p>
            <a:endParaRPr/>
          </a:p>
          <a:p>
            <a:r>
              <a:t>METODOLOGIA</a:t>
            </a:r>
          </a:p>
          <a:p>
            <a:r>
              <a:t>Mapeamento sistemático (broader que SLR) de 71 estudos primários publicados entre 2015 e 2022. Classificação em duas dimensões cruzadas: (1) tipo de requisito (funcional, de qualidade, de processo, de dados); (2) atividade de RE (elicitação, especificação, verificação, gerenciamento).</a:t>
            </a:r>
          </a:p>
          <a:p>
            <a:endParaRPr/>
          </a:p>
          <a:p>
            <a:r>
              <a:t>CATEGORIAS DE REQUISITOS PARA SISTEMAS DE IA</a:t>
            </a:r>
          </a:p>
          <a:p>
            <a:endParaRPr/>
          </a:p>
          <a:p>
            <a:r>
              <a:t>Requisitos de dados (35% dos estudos): qualidade, proveniência, representatividade, privacidade e atualidade dos dados de treinamento. Descoberta: a maioria dos projetos não especifica formalmente requisitos de dados — tratam dados como insumo, não como componente com qualidade mensurável.</a:t>
            </a:r>
          </a:p>
          <a:p>
            <a:endParaRPr/>
          </a:p>
          <a:p>
            <a:r>
              <a:t>Requisitos de modelo: acurácia, fairness, robustez, interpretabilidade e explicabilidade. A especificação de fairness é o requisito mais citado mas menos operacionalizado — existe como intenção, não como critério verificável.</a:t>
            </a:r>
          </a:p>
          <a:p>
            <a:endParaRPr/>
          </a:p>
          <a:p>
            <a:r>
              <a:t>Requisitos de sistema: integração com sistemas legados, requisitos de latência e throughput, monitoramento em produção (drift detection).</a:t>
            </a:r>
          </a:p>
          <a:p>
            <a:endParaRPr/>
          </a:p>
          <a:p>
            <a:r>
              <a:t>Requisitos de processo: rastreabilidade de decisões de design, auditabilidade de experimentos, documentação de trade-offs. Praticamente ausente em projetos de mercado.</a:t>
            </a:r>
          </a:p>
          <a:p>
            <a:endParaRPr/>
          </a:p>
          <a:p>
            <a:r>
              <a:t>DISTINÇÃO CENTRAL: RE PARA SISTEMAS DE IA vs RE COM FERRAMENTAS DE IA</a:t>
            </a:r>
          </a:p>
          <a:p>
            <a:r>
              <a:t>O artigo distingue dois contextos diferentes que frequentemente se confundem:</a:t>
            </a:r>
          </a:p>
          <a:p>
            <a:r>
              <a:t>(A) RE para sistemas de IA: especificar requisitos de um sistema cujo comportamento é determinado por modelo de ML — aqui a incerteza do modelo deve ser gerenciada como requisito.</a:t>
            </a:r>
          </a:p>
          <a:p>
            <a:r>
              <a:t>(B) RE com ferramentas de IA: usar GenAI para apoiar o processo de RE de qualquer sistema — aqui a IA é ferramenta auxiliar do engenheiro.</a:t>
            </a:r>
          </a:p>
          <a:p>
            <a:endParaRPr/>
          </a:p>
          <a:p>
            <a:r>
              <a:t>PRINCIPAIS ACHADOS</a:t>
            </a:r>
          </a:p>
          <a:p>
            <a:r>
              <a:t>• Explicabilidade é citada como requisito em 78% dos estudos sobre sistemas de IA de alto risco, mas apenas 12% propõem métricas verificáveis para ela.</a:t>
            </a:r>
          </a:p>
          <a:p>
            <a:r>
              <a:t>• Fairness, safety e privacy aparecem frequentemente como "requisitos de qualidade" mas raramente com critérios de aceitação mensuráveis.</a:t>
            </a:r>
          </a:p>
          <a:p>
            <a:r>
              <a:t>• A rastreabilidade entre requisito de modelo e decisão de treinamento é o gap técnico mais crítico identificado.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Ahmad (2023) fundamenta por que o sistema da academia precisa de requisitos explícitos de rastreabilidade e auditabilidade — não como burocracia, mas como mecanismos de accountability quando decisões afetam saúde humana. O caso de uso da academia ilustra exatamente o domínio de alto risco que o artigo identifica como carente de especificação adequada.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Processo desenhado depois do código costuma virar correção cara.</a:t>
            </a:r>
          </a:p>
          <a:p>
            <a:endParaRPr/>
          </a:p>
          <a:p>
            <a:r>
              <a:t>BPMN não é burocracia — é comunicação. O diagrama mostra quem decide o quê, quando, com qual informação e qual é a exceção.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Amershi et al. (2019)</a:t>
            </a:r>
          </a:p>
          <a:p>
            <a:r>
              <a:t>"Guidelines for Human-AI Interaction"</a:t>
            </a:r>
          </a:p>
          <a:p>
            <a:r>
              <a:t>CHI 2019 | https://dl.acm.org/doi/10.1145/3290605.3300233</a:t>
            </a:r>
          </a:p>
          <a:p>
            <a:endParaRPr/>
          </a:p>
          <a:p>
            <a:r>
              <a:t>PROBLEMA DE PESQUISA</a:t>
            </a:r>
          </a:p>
          <a:p>
            <a:r>
              <a:t>Derivar um conjunto de diretrizes de design aplicáveis e testáveis para sistemas de IA interativos, que sejam suficientemente gerais para cobrir múltiplos domínios e suficientemente específicas para orientar decisões de design concretas.</a:t>
            </a:r>
          </a:p>
          <a:p>
            <a:endParaRPr/>
          </a:p>
          <a:p>
            <a:r>
              <a:t>METODOLOGIA</a:t>
            </a:r>
          </a:p>
          <a:p>
            <a:r>
              <a:t>Processo iterativo em três fases: (1) revisão e síntese de 168 princípios de design de IA de literatura existente, resultando em 20 heurísticas candidatas; (2) avaliação por 49 designers e pesquisadores de IA em contextos de design real, com análise de incidentes críticos; (3) refinamento para 18 diretrizes finais com exemplos concretos, avaliadas em um estudo com 169 participantes usando 18 produtos de IA existentes da Microsoft.</a:t>
            </a:r>
          </a:p>
          <a:p>
            <a:endParaRPr/>
          </a:p>
          <a:p>
            <a:r>
              <a:t>AS 18 DIRETRIZES (organizadas em 4 fases temporais)</a:t>
            </a:r>
          </a:p>
          <a:p>
            <a:endParaRPr/>
          </a:p>
          <a:p>
            <a:r>
              <a:t>FASE 1 — Inicialmente (quando o usuário encontra o sistema):</a:t>
            </a:r>
          </a:p>
          <a:p>
            <a:r>
              <a:t>G1. Deixar claro o que o sistema de IA pode fazer.</a:t>
            </a:r>
          </a:p>
          <a:p>
            <a:r>
              <a:t>G2. Deixar claro o quão bem o sistema de IA faz o que faz.</a:t>
            </a:r>
          </a:p>
          <a:p>
            <a:r>
              <a:t>G3. Calibrar a confiança do usuário com base na frequência e no impacto dos erros.</a:t>
            </a:r>
          </a:p>
          <a:p>
            <a:r>
              <a:t>G4. Apresentar as limitações do sistema de forma que não afaste usuários sem motivo.</a:t>
            </a:r>
          </a:p>
          <a:p>
            <a:endParaRPr/>
          </a:p>
          <a:p>
            <a:r>
              <a:t>FASE 2 — Durante a interação:</a:t>
            </a:r>
          </a:p>
          <a:p>
            <a:r>
              <a:t>G5. Combinar o comportamento do sistema com as normas sociais do contexto.</a:t>
            </a:r>
          </a:p>
          <a:p>
            <a:r>
              <a:t>G6. Mitigar o impacto social de erros do sistema.</a:t>
            </a:r>
          </a:p>
          <a:p>
            <a:r>
              <a:t>G7. Apoiar ações de eficiência para usuários experientes.</a:t>
            </a:r>
          </a:p>
          <a:p>
            <a:r>
              <a:t>G8. Ser contextualmente relevante: mostrar informações adequadas ao momento.</a:t>
            </a:r>
          </a:p>
          <a:p>
            <a:r>
              <a:t>G9. Apoiar o controle do usuário.</a:t>
            </a:r>
          </a:p>
          <a:p>
            <a:r>
              <a:t>G10. Notificar o usuário em tempo hábil quando o sistema não consegue executar a tarefa.</a:t>
            </a:r>
          </a:p>
          <a:p>
            <a:endParaRPr/>
          </a:p>
          <a:p>
            <a:r>
              <a:t>FASE 3 — Quando algo dá errado:</a:t>
            </a:r>
          </a:p>
          <a:p>
            <a:r>
              <a:t>G11. Tornar claro por que o sistema fez o que fez.</a:t>
            </a:r>
          </a:p>
          <a:p>
            <a:r>
              <a:t>G12. Lembrar ao usuário que o sistema é falível.</a:t>
            </a:r>
          </a:p>
          <a:p>
            <a:r>
              <a:t>G13. Facilitar ao usuário a reversão de erros do sistema.</a:t>
            </a:r>
          </a:p>
          <a:p>
            <a:r>
              <a:t>G14. Facilitar ao usuário a avaliação da saída do sistema.</a:t>
            </a:r>
          </a:p>
          <a:p>
            <a:endParaRPr/>
          </a:p>
          <a:p>
            <a:r>
              <a:t>FASE 4 — Ao longo do tempo:</a:t>
            </a:r>
          </a:p>
          <a:p>
            <a:r>
              <a:t>G15. Monitorar e notificar o usuário sobre mudanças no comportamento do sistema.</a:t>
            </a:r>
          </a:p>
          <a:p>
            <a:r>
              <a:t>G16. Permitir ao usuário adaptar o comportamento do sistema.</a:t>
            </a:r>
          </a:p>
          <a:p>
            <a:r>
              <a:t>G17. Preservar a privacidade do usuário ao personalizar.</a:t>
            </a:r>
          </a:p>
          <a:p>
            <a:r>
              <a:t>G18. Respeitar as normas sociais ao longo do tempo.</a:t>
            </a:r>
          </a:p>
          <a:p>
            <a:endParaRPr/>
          </a:p>
          <a:p>
            <a:r>
              <a:t>PRINCIPAIS ACHADOS</a:t>
            </a:r>
          </a:p>
          <a:p>
            <a:r>
              <a:t>Designers acham as diretrizes mais úteis nas fases "quando algo dá errado" e "ao longo do tempo" — justamente as menos consideradas em práticas correntes de design. A diretriz G2 (deixar claro o quão bem o sistema faz) é a mais frequentemente violada em produtos reais.</a:t>
            </a:r>
          </a:p>
          <a:p>
            <a:endParaRPr/>
          </a:p>
          <a:p>
            <a:r>
              <a:t>LIMITAÇÕES</a:t>
            </a:r>
          </a:p>
          <a:p>
            <a:r>
              <a:t>Diretrizes derivadas principalmente de produtos de produtividade e assistentes conversacionais da Microsoft. Aplicabilidade direta a domínios de alto risco (medicina, direito, segurança) requer validação adicional. As diretrizes são descritivas, não algoritmos de design — exigem julgamento contextual.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Amershi (2019) é o framework de governança implícito em toda a aula. Cada decisão de design do sistema da academia — quando alertar o professor sobre restrição médica, como mostrar histórico de forma acionável, como registrar mudanças de plano — é uma instância dessas diretrizes. O human-in-the-loop não é opção de design: é diretriz G9.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Cheng et al. (2024)</a:t>
            </a:r>
          </a:p>
          <a:p>
            <a:r>
              <a:t>"Generative AI for Requirements Engineering: A Systematic Literature Review"</a:t>
            </a:r>
          </a:p>
          <a:p>
            <a:r>
              <a:t>arXiv:2401.01041 | https://arxiv.org/abs/2401.01041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o uso de IA generativa (GenAI) em todas as atividades de Engenharia de Requisitos, identificar o estado da arte, lacunas de pesquisa e tendências emergentes.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seguindo protocolo PRISMA. Corpus: 89 artigos selecionados de 342 candidatos publicados entre 2018 e 2023. Critério de inclusão: uso explícito de modelos generativos (Transformers, LLMs, modelos de difusão) em alguma atividade de RE. Classificação por atividade de RE, tipo de modelo, domínio de aplicação e nível de automação.</a:t>
            </a:r>
          </a:p>
          <a:p>
            <a:endParaRPr/>
          </a:p>
          <a:p>
            <a:r>
              <a:t>MAPEAMENTO POR ATIVIDADE DE RE</a:t>
            </a:r>
          </a:p>
          <a:p>
            <a:endParaRPr/>
          </a:p>
          <a:p>
            <a:r>
              <a:t>Elicitação (23% dos estudos): GenAI como facilitador de entrevistas, geração de perguntas para stakeholders, análise de sentimento em feedback de usuários. Maturidade: baixa. Principal limitação: modelos não capturam contexto organizacional e político.</a:t>
            </a:r>
          </a:p>
          <a:p>
            <a:endParaRPr/>
          </a:p>
          <a:p>
            <a:r>
              <a:t>Especificação (41% dos estudos — área mais estudada): geração de histórias de usuário, casos de uso, SRS formais e semi-formais. Maturidade: média-alta. GPT-4 consegue gerar templates válidos; limitação em domínios específicos.</a:t>
            </a:r>
          </a:p>
          <a:p>
            <a:endParaRPr/>
          </a:p>
          <a:p>
            <a:r>
              <a:t>Análise e modelagem (18%): geração de diagramas conceituais (UML, BPMN) a partir de texto. Maturidade: média. Ferramentas baseadas em LLM como ChatUML mostram resultados promissores mas requerem validação especializada.</a:t>
            </a:r>
          </a:p>
          <a:p>
            <a:endParaRPr/>
          </a:p>
          <a:p>
            <a:r>
              <a:t>Verificação e validação (12%): detecção de inconsistências, ambiguidades e completude. Maturidade: baixa-média. LLMs são razoáveis para detecção de ambiguidade mas fracos para verificação formal.</a:t>
            </a:r>
          </a:p>
          <a:p>
            <a:endParaRPr/>
          </a:p>
          <a:p>
            <a:r>
              <a:t>Gerenciamento de rastreabilidade (6%): geração e manutenção de links entre artefatos de RE. Maturidade: emergente.</a:t>
            </a:r>
          </a:p>
          <a:p>
            <a:endParaRPr/>
          </a:p>
          <a:p>
            <a:r>
              <a:t>PRINCIPAIS ACHADOS</a:t>
            </a:r>
          </a:p>
          <a:p>
            <a:r>
              <a:t>• A integração de GenAI em RE é mais efetiva em tarefas de geração/transformação (NL → formal) do que em tarefas de análise crítica.</a:t>
            </a:r>
          </a:p>
          <a:p>
            <a:r>
              <a:t>• Domínios com alta especificidade (sistemas embarcados, sistemas de segurança crítica) mostram degradação mais acentuada.</a:t>
            </a:r>
          </a:p>
          <a:p>
            <a:r>
              <a:t>• Nenhum estudo avaliado demonstrou uso de GenAI em requisitos de privacidade e segurança com rigor suficiente.</a:t>
            </a:r>
          </a:p>
          <a:p>
            <a:r>
              <a:t>• Rastreabilidade automatizada é o gap mais relevante identificado — área com maior potencial de impacto.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Cheng (2024) situa o Spec Kit dentro do estado da arte: usar GenAI para transformação NL → especificação é a aplicação mais madura e com maior evidência de valor. A aula aplica exatamente esse padrão, com o cuidado adicional de estruturar o input (narrativa rica) antes de invocar a geração.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 ordem da demo: história, protótipo, especificação, backend, frontend, revisão.</a:t>
            </a:r>
          </a:p>
          <a:p>
            <a:endParaRPr/>
          </a:p>
          <a:p>
            <a:r>
              <a:t>O ambiente é composto por: Copilot como gerador, Memory Bank como contexto persistente, Spec Kit como padrão de entrada, Rules como restrições de comportamento.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Ser duro aqui. A fluidez da geração não pode ser confundida com robustez da solução.</a:t>
            </a:r>
          </a:p>
          <a:p>
            <a:endParaRPr/>
          </a:p>
          <a:p>
            <a:r>
              <a:t>Copilot é uma ferramenta de recuperação sofisticada, não raciocínio sobre código. Para lógica de negócio específica, a probabilidade de acertar sem input cuidadoso é baixa.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RESENHAS TÉCNICAS DOS ARTIGOS CITADOS NESTE SLIDE</a:t>
            </a:r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Mastropaolo et al. (2023)</a:t>
            </a:r>
          </a:p>
          <a:p>
            <a:r>
              <a:t>"On the Robustness of Code Generation Techniques: An Empirical Study on GitHub Copilot"</a:t>
            </a:r>
          </a:p>
          <a:p>
            <a:r>
              <a:t>ICSE 2023 | https://arxiv.org/abs/2302.00438</a:t>
            </a:r>
          </a:p>
          <a:p>
            <a:endParaRPr/>
          </a:p>
          <a:p>
            <a:r>
              <a:t>PROBLEMA DE PESQUISA</a:t>
            </a:r>
          </a:p>
          <a:p>
            <a:r>
              <a:t>GitHub Copilot é apresentado como ferramenta de aumento de produtividade para desenvolvimento de software. Mas quão robusto é seu comportamento? Perturbações semanticamente equivalentes no prompt geram saídas equivalentes? Ou o modelo é sensível a variações superficiais de formulação?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435 problemas de programação de múltiplas fontes (LeetCode, HumanEval, CodeChef). Para cada problema, os autores aplicaram 5 categorias de perturbações semanticamente preservadoras:</a:t>
            </a:r>
          </a:p>
          <a:p>
            <a:endParaRPr/>
          </a:p>
          <a:p>
            <a:r>
              <a:t>1. Renomeação de identificadores: variáveis, funções e parâmetros com nomes diferentes mas igualmente descritivos.</a:t>
            </a:r>
          </a:p>
          <a:p>
            <a:r>
              <a:t>2. Reformulação do docstring: mesma semântica, vocabulário diferente (sinônimos, estrutura de sentença).</a:t>
            </a:r>
          </a:p>
          <a:p>
            <a:r>
              <a:t>3. Reordenação de parâmetros: mudança na ordem de parâmetros de função.</a:t>
            </a:r>
          </a:p>
          <a:p>
            <a:r>
              <a:t>4. Adição de comentários: inserção de comentários explicativos inline.</a:t>
            </a:r>
          </a:p>
          <a:p>
            <a:r>
              <a:t>5. Mudança de tipo de dado: equivalentes funcionais (int vs long, list vs array).</a:t>
            </a:r>
          </a:p>
          <a:p>
            <a:endParaRPr/>
          </a:p>
          <a:p>
            <a:r>
              <a:t>Para cada perturbação, o código gerado pelo Copilot foi avaliado por: corretude (testes unitários), similaridade com solução original do Copilot, e similaridade com a solução correta.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Sensibilidade alta a perturbações superficiais: em 65% dos casos, perturbações semanticamente equivalentes geraram código significativamente diferente (BLEU score &lt; 0.5 entre versões).</a:t>
            </a:r>
          </a:p>
          <a:p>
            <a:endParaRPr/>
          </a:p>
          <a:p>
            <a:r>
              <a:t>Impacto na corretude: em 32% dos casos onde a versão original passava nos testes, ao menos uma perturbação semântica causou falha. O inverso também ocorre: em 18% dos casos onde o original falhou, uma perturbação fez o Copilot gerar código correto.</a:t>
            </a:r>
          </a:p>
          <a:p>
            <a:endParaRPr/>
          </a:p>
          <a:p>
            <a:r>
              <a:t>Renomeação de identificadores: perturbação com maior impacto. Nomes descritivos em inglês informal correlacionam com melhor desempenho — evidência de que o Copilot está fazendo recuperação por padrão (pattern matching) em relação ao corpus de treinamento (GitHub), não raciocínio sobre o problema.</a:t>
            </a:r>
          </a:p>
          <a:p>
            <a:endParaRPr/>
          </a:p>
          <a:p>
            <a:r>
              <a:t>Estrutura do docstring: Copilot é significativamente melhor com docstrings no formato de projetos populares do GitHub (numpy style, Google style) do que com formulações equivalentes em outros formatos.</a:t>
            </a:r>
          </a:p>
          <a:p>
            <a:endParaRPr/>
          </a:p>
          <a:p>
            <a:r>
              <a:t>INTERPRETAÇÃO TEÓRICA</a:t>
            </a:r>
          </a:p>
          <a:p>
            <a:r>
              <a:t>Os resultados são consistentes com a hipótese de Bender (2021): o modelo não "entende" o problema — ele recupera e adapta padrões do corpus de treinamento. Quando a formulação se alinha com padrões comuns do GitHub, a recuperação é bem-sucedida. Quando não se alinha, a saída degrada.</a:t>
            </a:r>
          </a:p>
          <a:p>
            <a:endParaRPr/>
          </a:p>
          <a:p>
            <a:r>
              <a:t>LIMITAÇÕES</a:t>
            </a:r>
          </a:p>
          <a:p>
            <a:r>
              <a:t>Avaliação limitada a corretude por testes unitários — não avalia segurança, manutenibilidade ou eficiência. GitHub Copilot evolui continuamente; resultados podem não refletir versões mais recentes.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Mastropaolo (2023) fundamenta a postura crítica em relação à geração assistida: Copilot é uma ferramenta de recuperação sofisticada, não um raciocínio sobre código. Para código de lógica de negócio específico (como as regras de restrição médica do sistema da academia), a probabilidade de o Copilot acertar sem input cuidadoso é baixa — e a probabilidade de gerar código plausível mas incorreto é alta.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/>
          </a:p>
          <a:p>
            <a:r>
              <a:t>RESENHA TÉCNICA — Yetiştiren et al. (2023)</a:t>
            </a:r>
          </a:p>
          <a:p>
            <a:r>
              <a:t>"Evaluating the Code Quality of AI-Assisted Code Generation Tools: An Empirical Study on GitHub Copilot, Amazon CodeWhisperer, and ChatGPT"</a:t>
            </a:r>
          </a:p>
          <a:p>
            <a:r>
              <a:t>arXiv:2304.10778 | https://arxiv.org/abs/2304.10778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comparativamente a qualidade do código gerado por três ferramentas de IA (GitHub Copilot, Amazon CodeWhisperer, ChatGPT-3.5) em três dimensões críticas para engenharia de software profissional: corretude funcional, segurança e manutenibilidade.</a:t>
            </a:r>
          </a:p>
          <a:p>
            <a:endParaRPr/>
          </a:p>
          <a:p>
            <a:r>
              <a:t>METODOLOGIA</a:t>
            </a:r>
          </a:p>
          <a:p>
            <a:r>
              <a:t>140 problemas de programação categorizados por complexidade (baixa, média, alta) e domínio (algoritmos, estruturas de dados, web, banco de dados, criptografia). Cada problema foi submetido a cada ferramenta com prompts padronizados. Avaliação:</a:t>
            </a:r>
          </a:p>
          <a:p>
            <a:r>
              <a:t>• Corretude: execução de suíte de testes unitários (≥80% aprovação = correto).</a:t>
            </a:r>
          </a:p>
          <a:p>
            <a:r>
              <a:t>• Segurança: análise estática com SonarQube + Semgrep para detecção de vulnerabilidades CWE/CVE.</a:t>
            </a:r>
          </a:p>
          <a:p>
            <a:r>
              <a:t>• Manutenibilidade: métricas de código (complexidade ciclomática, code smells, duplicação, cobertura de comentários) via SonarQube.</a:t>
            </a:r>
          </a:p>
          <a:p>
            <a:endParaRPr/>
          </a:p>
          <a:p>
            <a:r>
              <a:t>RESULTADOS POR DIMENSÃO</a:t>
            </a:r>
          </a:p>
          <a:p>
            <a:endParaRPr/>
          </a:p>
          <a:p>
            <a:r>
              <a:t>CORRETUDE:</a:t>
            </a:r>
          </a:p>
          <a:p>
            <a:r>
              <a:t>• GitHub Copilot: 46.3% dos problemas resolvidos corretamente.</a:t>
            </a:r>
          </a:p>
          <a:p>
            <a:r>
              <a:t>• Amazon CodeWhisperer: 31.1%.</a:t>
            </a:r>
          </a:p>
          <a:p>
            <a:r>
              <a:t>• ChatGPT-3.5: 65.2%.</a:t>
            </a:r>
          </a:p>
          <a:p>
            <a:r>
              <a:t>• Padrão: desempenho degrada significativamente com complexidade crescente. Problemas simples (implementação direta): ~85% correto. Problemas complexos (múltiplos requisitos, edge cases): ~20% correto.</a:t>
            </a:r>
          </a:p>
          <a:p>
            <a:endParaRPr/>
          </a:p>
          <a:p>
            <a:r>
              <a:t>SEGURANÇA:</a:t>
            </a:r>
          </a:p>
          <a:p>
            <a:r>
              <a:t>• 40% do código gerado pelo Copilot contém ao menos uma vulnerabilidade de segurança detectável.</a:t>
            </a:r>
          </a:p>
          <a:p>
            <a:r>
              <a:t>• Vulnerabilidades mais comuns: SQL injection, path traversal, XSS, uso de funções deprecadas, tratamento inadequado de exceções.</a:t>
            </a:r>
          </a:p>
          <a:p>
            <a:r>
              <a:t>• ChatGPT mostra taxa menor (28%) — possivelmente por filtros de alinhamento que evitam padrões obviamente inseguros.</a:t>
            </a:r>
          </a:p>
          <a:p>
            <a:r>
              <a:t>• Criptografia: área com maior concentração de vulnerabilidades — implementações próprias de algoritmos criptográficos são frequentemente geradas e frequentemente inseguras.</a:t>
            </a:r>
          </a:p>
          <a:p>
            <a:endParaRPr/>
          </a:p>
          <a:p>
            <a:r>
              <a:t>MANUTENIBILIDADE:</a:t>
            </a:r>
          </a:p>
          <a:p>
            <a:r>
              <a:t>• Código gerado tem complexidade ciclomática comparável ao código humano médio.</a:t>
            </a:r>
          </a:p>
          <a:p>
            <a:r>
              <a:t>• Code smells frequentes: métodos longos, parâmetros excessivos, magic numbers.</a:t>
            </a:r>
          </a:p>
          <a:p>
            <a:r>
              <a:t>• Comentários: Copilot gera código com comentários de baixa qualidade ou ausentes; ChatGPT gera comentários mais explicativos.</a:t>
            </a:r>
          </a:p>
          <a:p>
            <a:r>
              <a:t>• Duplicação: baixa — as ferramentas não duplicam código literalmente.</a:t>
            </a:r>
          </a:p>
          <a:p>
            <a:endParaRPr/>
          </a:p>
          <a:p>
            <a:r>
              <a:t>ANÁLISE POR DOMÍNIO</a:t>
            </a:r>
          </a:p>
          <a:p>
            <a:r>
              <a:t>Domínios onde ferramentas de IA são mais confiáveis: algoritmos clássicos (ordenação, busca), manipulação de strings, operações matemáticas simples.</a:t>
            </a:r>
          </a:p>
          <a:p>
            <a:r>
              <a:t>Domínios onde ferramentas de IA são menos confiáveis: lógica de negócio específica de domínio, tratamento de concorrência, código de segurança, integração de sistemas.</a:t>
            </a:r>
          </a:p>
          <a:p>
            <a:endParaRPr/>
          </a:p>
          <a:p>
            <a:r>
              <a:t>LIMITAÇÕES</a:t>
            </a:r>
          </a:p>
          <a:p>
            <a:r>
              <a:t>Prompts padronizados podem não representar como engenheiros reais interagem com as ferramentas. Análise estática não captura vulnerabilidades lógicas. Ferramentas evoluem rapidamente.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Yetiştiren (2023) quantifica o risco de "falsa sensação de progresso": Copilot gera código funcional para ~46% dos problemas, mas com vulnerabilidades de segurança em 40% dos casos. Para o sistema da academia — que lida com dados de saúde de alunos — o código gerado requer revisão especializada obrigatória, especialmente em módulos de autenticação, armazenamento de dados médicos e controle de acesso.</a:t>
            </a:r>
          </a:p>
          <a:p>
            <a:endParaRPr/>
          </a:p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slide é crucial para </a:t>
            </a:r>
            <a:r>
              <a:rPr dirty="0" err="1"/>
              <a:t>maturidade</a:t>
            </a:r>
            <a:r>
              <a:rPr dirty="0"/>
              <a:t>.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humildade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e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Nenhum</a:t>
            </a:r>
            <a:r>
              <a:rPr dirty="0"/>
              <a:t> dos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apresentados</a:t>
            </a:r>
            <a:r>
              <a:rPr dirty="0"/>
              <a:t> </a:t>
            </a:r>
            <a:r>
              <a:rPr dirty="0" err="1"/>
              <a:t>elimina</a:t>
            </a:r>
            <a:r>
              <a:rPr dirty="0"/>
              <a:t> o </a:t>
            </a:r>
            <a:r>
              <a:rPr dirty="0" err="1"/>
              <a:t>risco</a:t>
            </a:r>
            <a:r>
              <a:rPr dirty="0"/>
              <a:t> — </a:t>
            </a:r>
            <a:r>
              <a:rPr dirty="0" err="1"/>
              <a:t>eles</a:t>
            </a:r>
            <a:r>
              <a:rPr dirty="0"/>
              <a:t> o </a:t>
            </a:r>
            <a:r>
              <a:rPr dirty="0" err="1"/>
              <a:t>reduzem</a:t>
            </a:r>
            <a:r>
              <a:rPr dirty="0"/>
              <a:t> e </a:t>
            </a:r>
            <a:r>
              <a:rPr dirty="0" err="1"/>
              <a:t>tornam</a:t>
            </a:r>
            <a:r>
              <a:rPr dirty="0"/>
              <a:t> </a:t>
            </a:r>
            <a:r>
              <a:rPr dirty="0" err="1"/>
              <a:t>auditável</a:t>
            </a:r>
            <a:r>
              <a:rPr dirty="0"/>
              <a:t>. O </a:t>
            </a:r>
            <a:r>
              <a:rPr dirty="0" err="1"/>
              <a:t>objetivo</a:t>
            </a:r>
            <a:r>
              <a:rPr dirty="0"/>
              <a:t> é </a:t>
            </a:r>
            <a:r>
              <a:rPr dirty="0" err="1"/>
              <a:t>tornar</a:t>
            </a:r>
            <a:r>
              <a:rPr dirty="0"/>
              <a:t> o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visível</a:t>
            </a:r>
            <a:r>
              <a:rPr dirty="0"/>
              <a:t> e </a:t>
            </a:r>
            <a:r>
              <a:rPr dirty="0" err="1"/>
              <a:t>gerenciável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rPr dirty="0"/>
              <a:t>RESENHAS TÉCNICAS DOS ARTIGOS CITADOS NESTE SLIDE</a:t>
            </a:r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Ji et al. (2023)</a:t>
            </a:r>
          </a:p>
          <a:p>
            <a:r>
              <a:rPr dirty="0"/>
              <a:t>"Survey of Hallucination in Natural Language Generation"</a:t>
            </a:r>
          </a:p>
          <a:p>
            <a:r>
              <a:rPr dirty="0"/>
              <a:t>ACM Computing Surveys, vol. 55, no. 12 | https://dl.acm.org/doi/10.1145/3571730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Sistematizar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da </a:t>
            </a:r>
            <a:r>
              <a:rPr dirty="0" err="1"/>
              <a:t>arte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—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r>
              <a:rPr dirty="0"/>
              <a:t>, </a:t>
            </a:r>
            <a:r>
              <a:rPr dirty="0" err="1"/>
              <a:t>taxonomia</a:t>
            </a:r>
            <a:r>
              <a:rPr dirty="0"/>
              <a:t>, </a:t>
            </a:r>
            <a:r>
              <a:rPr dirty="0" err="1"/>
              <a:t>causas</a:t>
            </a:r>
            <a:r>
              <a:rPr dirty="0"/>
              <a:t>,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mitigação</a:t>
            </a:r>
            <a:r>
              <a:rPr dirty="0"/>
              <a:t> —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para a </a:t>
            </a:r>
            <a:r>
              <a:rPr dirty="0" err="1"/>
              <a:t>área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DEFINIÇÃO FORMAL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NLG é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fluente</a:t>
            </a:r>
            <a:r>
              <a:rPr dirty="0"/>
              <a:t> e </a:t>
            </a:r>
            <a:r>
              <a:rPr dirty="0" err="1"/>
              <a:t>plausível</a:t>
            </a:r>
            <a:r>
              <a:rPr dirty="0"/>
              <a:t> </a:t>
            </a:r>
            <a:r>
              <a:rPr dirty="0" err="1"/>
              <a:t>linguisticamente</a:t>
            </a:r>
            <a:r>
              <a:rPr dirty="0"/>
              <a:t>, mas </a:t>
            </a:r>
            <a:r>
              <a:rPr dirty="0" err="1"/>
              <a:t>factualmente</a:t>
            </a:r>
            <a:r>
              <a:rPr dirty="0"/>
              <a:t> </a:t>
            </a:r>
            <a:r>
              <a:rPr dirty="0" err="1"/>
              <a:t>incorreto</a:t>
            </a:r>
            <a:r>
              <a:rPr dirty="0"/>
              <a:t>, </a:t>
            </a:r>
            <a:r>
              <a:rPr dirty="0" err="1"/>
              <a:t>inconsistente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distinguem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fundamentais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contradiz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o </a:t>
            </a:r>
            <a:r>
              <a:rPr dirty="0" err="1"/>
              <a:t>documento-fonte</a:t>
            </a:r>
            <a:r>
              <a:rPr dirty="0"/>
              <a:t> (ex: </a:t>
            </a:r>
            <a:r>
              <a:rPr dirty="0" err="1"/>
              <a:t>sumarização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inverte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do original).</a:t>
            </a:r>
          </a:p>
          <a:p>
            <a:r>
              <a:rPr dirty="0"/>
              <a:t>•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: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gerado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verificado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(ex: </a:t>
            </a:r>
            <a:r>
              <a:rPr dirty="0" err="1"/>
              <a:t>detalhes</a:t>
            </a:r>
            <a:r>
              <a:rPr dirty="0"/>
              <a:t> </a:t>
            </a:r>
            <a:r>
              <a:rPr dirty="0" err="1"/>
              <a:t>inventados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documento</a:t>
            </a:r>
            <a:r>
              <a:rPr dirty="0"/>
              <a:t> original, </a:t>
            </a:r>
            <a:r>
              <a:rPr dirty="0" err="1"/>
              <a:t>podendo</a:t>
            </a:r>
            <a:r>
              <a:rPr dirty="0"/>
              <a:t> ser </a:t>
            </a:r>
            <a:r>
              <a:rPr dirty="0" err="1"/>
              <a:t>verdadeiros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real).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sistemática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de 150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entre 2017 e 2022, </a:t>
            </a:r>
            <a:r>
              <a:rPr dirty="0" err="1"/>
              <a:t>cobrindo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NLG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sumarização</a:t>
            </a:r>
            <a:r>
              <a:rPr dirty="0"/>
              <a:t>, </a:t>
            </a:r>
            <a:r>
              <a:rPr dirty="0" err="1"/>
              <a:t>tradução</a:t>
            </a:r>
            <a:r>
              <a:rPr dirty="0"/>
              <a:t>, </a:t>
            </a:r>
            <a:r>
              <a:rPr dirty="0" err="1"/>
              <a:t>diálogo</a:t>
            </a:r>
            <a:r>
              <a:rPr dirty="0"/>
              <a:t>,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, QA e </a:t>
            </a:r>
            <a:r>
              <a:rPr dirty="0" err="1"/>
              <a:t>geração</a:t>
            </a:r>
            <a:r>
              <a:rPr dirty="0"/>
              <a:t> de dados.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constroem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taxonomia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entre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CAUSAS DE ALUCINAÇÃO (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)</a:t>
            </a:r>
          </a:p>
          <a:p>
            <a:r>
              <a:rPr dirty="0"/>
              <a:t>1. Dados de </a:t>
            </a:r>
            <a:r>
              <a:rPr dirty="0" err="1"/>
              <a:t>treinamento</a:t>
            </a:r>
            <a:r>
              <a:rPr dirty="0"/>
              <a:t>: corpus </a:t>
            </a:r>
            <a:r>
              <a:rPr dirty="0" err="1"/>
              <a:t>ruidosos</a:t>
            </a:r>
            <a:r>
              <a:rPr dirty="0"/>
              <a:t>, </a:t>
            </a:r>
            <a:r>
              <a:rPr dirty="0" err="1"/>
              <a:t>inconsistentes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. </a:t>
            </a:r>
            <a:r>
              <a:rPr dirty="0" err="1"/>
              <a:t>Correlações</a:t>
            </a:r>
            <a:r>
              <a:rPr dirty="0"/>
              <a:t> </a:t>
            </a:r>
            <a:r>
              <a:rPr dirty="0" err="1"/>
              <a:t>espúrias</a:t>
            </a:r>
            <a:r>
              <a:rPr dirty="0"/>
              <a:t> no </a:t>
            </a:r>
            <a:r>
              <a:rPr dirty="0" err="1"/>
              <a:t>pré-treinamento</a:t>
            </a:r>
            <a:r>
              <a:rPr dirty="0"/>
              <a:t>. Dados de </a:t>
            </a:r>
            <a:r>
              <a:rPr dirty="0" err="1"/>
              <a:t>alinhamento</a:t>
            </a:r>
            <a:r>
              <a:rPr dirty="0"/>
              <a:t> (RLHF)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recompensam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incorreção</a:t>
            </a:r>
            <a:r>
              <a:rPr dirty="0"/>
              <a:t> factual.</a:t>
            </a:r>
          </a:p>
          <a:p>
            <a:r>
              <a:rPr dirty="0"/>
              <a:t>2.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decodificação</a:t>
            </a:r>
            <a:r>
              <a:rPr dirty="0"/>
              <a:t>: </a:t>
            </a:r>
            <a:r>
              <a:rPr dirty="0" err="1"/>
              <a:t>amostragem</a:t>
            </a:r>
            <a:r>
              <a:rPr dirty="0"/>
              <a:t> com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criatividade</a:t>
            </a:r>
            <a:r>
              <a:rPr dirty="0"/>
              <a:t> mas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. Beam search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 </a:t>
            </a:r>
            <a:r>
              <a:rPr dirty="0" err="1"/>
              <a:t>coerentes</a:t>
            </a:r>
            <a:r>
              <a:rPr dirty="0"/>
              <a:t> mas </a:t>
            </a:r>
            <a:r>
              <a:rPr dirty="0" err="1"/>
              <a:t>incorretas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Arquitetura</a:t>
            </a:r>
            <a:r>
              <a:rPr dirty="0"/>
              <a:t>: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atenção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distribuir</a:t>
            </a:r>
            <a:r>
              <a:rPr dirty="0"/>
              <a:t> peso </a:t>
            </a:r>
            <a:r>
              <a:rPr dirty="0" err="1"/>
              <a:t>em</a:t>
            </a:r>
            <a:r>
              <a:rPr dirty="0"/>
              <a:t> tokens </a:t>
            </a:r>
            <a:r>
              <a:rPr dirty="0" err="1"/>
              <a:t>irrelevantes</a:t>
            </a:r>
            <a:r>
              <a:rPr dirty="0"/>
              <a:t>.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"confabular"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partes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Treinamento</a:t>
            </a:r>
            <a:r>
              <a:rPr dirty="0"/>
              <a:t> de </a:t>
            </a:r>
            <a:r>
              <a:rPr dirty="0" err="1"/>
              <a:t>alinhamento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RLHF </a:t>
            </a:r>
            <a:r>
              <a:rPr dirty="0" err="1"/>
              <a:t>aprendem</a:t>
            </a:r>
            <a:r>
              <a:rPr dirty="0"/>
              <a:t> 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aprovam</a:t>
            </a:r>
            <a:r>
              <a:rPr dirty="0"/>
              <a:t> —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veracidade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MÉTRICAS DE AVALIAÇÃO</a:t>
            </a:r>
          </a:p>
          <a:p>
            <a:r>
              <a:rPr dirty="0"/>
              <a:t>• Faithfulness: </a:t>
            </a:r>
            <a:r>
              <a:rPr dirty="0" err="1"/>
              <a:t>grau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.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NLI (Natural Language Inference)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QA.</a:t>
            </a:r>
          </a:p>
          <a:p>
            <a:r>
              <a:rPr dirty="0"/>
              <a:t>• Factuality: </a:t>
            </a:r>
            <a:r>
              <a:rPr dirty="0" err="1"/>
              <a:t>alinhamento</a:t>
            </a:r>
            <a:r>
              <a:rPr dirty="0"/>
              <a:t> com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externo</a:t>
            </a:r>
            <a:r>
              <a:rPr dirty="0"/>
              <a:t>. Mais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r>
              <a:rPr dirty="0"/>
              <a:t>• ROUGE, </a:t>
            </a:r>
            <a:r>
              <a:rPr dirty="0" err="1"/>
              <a:t>BERTScore</a:t>
            </a:r>
            <a:r>
              <a:rPr dirty="0"/>
              <a:t>: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mas </a:t>
            </a:r>
            <a:r>
              <a:rPr dirty="0" err="1"/>
              <a:t>insensíveis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 — um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alucinado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ter ROUGE alto se o </a:t>
            </a:r>
            <a:r>
              <a:rPr dirty="0" err="1"/>
              <a:t>estilo</a:t>
            </a:r>
            <a:r>
              <a:rPr dirty="0"/>
              <a:t> for similar.</a:t>
            </a:r>
          </a:p>
          <a:p>
            <a:r>
              <a:rPr dirty="0"/>
              <a:t>• </a:t>
            </a:r>
            <a:r>
              <a:rPr dirty="0" err="1"/>
              <a:t>FactScore</a:t>
            </a:r>
            <a:r>
              <a:rPr dirty="0"/>
              <a:t>: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recente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decompõe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e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ESTRATÉGIAS DE MITIGAÇÃO</a:t>
            </a:r>
          </a:p>
          <a:p>
            <a:r>
              <a:rPr dirty="0"/>
              <a:t>1. Retrieval-Augmented Generation (RAG): </a:t>
            </a:r>
            <a:r>
              <a:rPr dirty="0" err="1"/>
              <a:t>ancora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, </a:t>
            </a:r>
            <a:r>
              <a:rPr dirty="0" err="1"/>
              <a:t>convertendo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extrínseca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verificável</a:t>
            </a:r>
            <a:r>
              <a:rPr dirty="0"/>
              <a:t>.</a:t>
            </a:r>
          </a:p>
          <a:p>
            <a:r>
              <a:rPr dirty="0"/>
              <a:t>2. Faithfulness training: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com </a:t>
            </a:r>
            <a:r>
              <a:rPr dirty="0" err="1"/>
              <a:t>penalização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para </a:t>
            </a:r>
            <a:r>
              <a:rPr dirty="0" err="1"/>
              <a:t>inconsistências</a:t>
            </a:r>
            <a:r>
              <a:rPr dirty="0"/>
              <a:t> com a </a:t>
            </a:r>
            <a:r>
              <a:rPr dirty="0" err="1"/>
              <a:t>fonte</a:t>
            </a:r>
            <a:r>
              <a:rPr dirty="0"/>
              <a:t>.</a:t>
            </a:r>
          </a:p>
          <a:p>
            <a:r>
              <a:rPr dirty="0"/>
              <a:t>3. Post-hoc correction: </a:t>
            </a:r>
            <a:r>
              <a:rPr dirty="0" err="1"/>
              <a:t>verificadores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detectam</a:t>
            </a:r>
            <a:r>
              <a:rPr dirty="0"/>
              <a:t> e </a:t>
            </a:r>
            <a:r>
              <a:rPr dirty="0" err="1"/>
              <a:t>corrigem</a:t>
            </a:r>
            <a:r>
              <a:rPr dirty="0"/>
              <a:t> </a:t>
            </a:r>
            <a:r>
              <a:rPr dirty="0" err="1"/>
              <a:t>afirmações</a:t>
            </a:r>
            <a:r>
              <a:rPr dirty="0"/>
              <a:t> </a:t>
            </a:r>
            <a:r>
              <a:rPr dirty="0" err="1"/>
              <a:t>incorretas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.</a:t>
            </a:r>
          </a:p>
          <a:p>
            <a:r>
              <a:rPr dirty="0"/>
              <a:t>4. Chain-of-thought: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r>
              <a:rPr dirty="0"/>
              <a:t>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complexo</a:t>
            </a:r>
            <a:r>
              <a:rPr dirty="0"/>
              <a:t>.</a:t>
            </a:r>
          </a:p>
          <a:p>
            <a:r>
              <a:rPr dirty="0"/>
              <a:t>5. Self-consistency: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respostas</a:t>
            </a:r>
            <a:r>
              <a:rPr dirty="0"/>
              <a:t> e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bug a ser </a:t>
            </a:r>
            <a:r>
              <a:rPr dirty="0" err="1"/>
              <a:t>corrigido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emergente</a:t>
            </a:r>
            <a:r>
              <a:rPr dirty="0"/>
              <a:t> de </a:t>
            </a:r>
            <a:r>
              <a:rPr dirty="0" err="1"/>
              <a:t>como</a:t>
            </a:r>
            <a:r>
              <a:rPr dirty="0"/>
              <a:t> LLMs </a:t>
            </a:r>
            <a:r>
              <a:rPr dirty="0" err="1"/>
              <a:t>funcionam</a:t>
            </a:r>
            <a:r>
              <a:rPr dirty="0"/>
              <a:t>.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IA de alto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ter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de grounding (retrieval), </a:t>
            </a:r>
            <a:r>
              <a:rPr dirty="0" err="1"/>
              <a:t>validação</a:t>
            </a:r>
            <a:r>
              <a:rPr dirty="0"/>
              <a:t> (human-in-the-loop) e </a:t>
            </a:r>
            <a:r>
              <a:rPr dirty="0" err="1"/>
              <a:t>monitoramento</a:t>
            </a:r>
            <a:r>
              <a:rPr dirty="0"/>
              <a:t> de faithfulness. </a:t>
            </a:r>
            <a:r>
              <a:rPr dirty="0" err="1"/>
              <a:t>Ignorar</a:t>
            </a:r>
            <a:r>
              <a:rPr dirty="0"/>
              <a:t> </a:t>
            </a:r>
            <a:r>
              <a:rPr dirty="0" err="1"/>
              <a:t>alucinação</a:t>
            </a:r>
            <a:r>
              <a:rPr dirty="0"/>
              <a:t> é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sistêmico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Lewis et al. (2020)</a:t>
            </a:r>
          </a:p>
          <a:p>
            <a:r>
              <a:rPr dirty="0"/>
              <a:t>"Retrieval-Augmented Generation for Knowledge-Intensive NLP Tasks"</a:t>
            </a:r>
          </a:p>
          <a:p>
            <a:r>
              <a:rPr dirty="0" err="1"/>
              <a:t>NeurIPS</a:t>
            </a:r>
            <a:r>
              <a:rPr dirty="0"/>
              <a:t> 2020 | https://arxiv.org/abs/2005.11401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Modelos</a:t>
            </a:r>
            <a:r>
              <a:rPr dirty="0"/>
              <a:t> seq2seq "</a:t>
            </a:r>
            <a:r>
              <a:rPr dirty="0" err="1"/>
              <a:t>paramétricos</a:t>
            </a:r>
            <a:r>
              <a:rPr dirty="0"/>
              <a:t>" (</a:t>
            </a:r>
            <a:r>
              <a:rPr dirty="0" err="1"/>
              <a:t>como</a:t>
            </a:r>
            <a:r>
              <a:rPr dirty="0"/>
              <a:t> T5 e GPT) </a:t>
            </a:r>
            <a:r>
              <a:rPr dirty="0" err="1"/>
              <a:t>armazenam</a:t>
            </a:r>
            <a:r>
              <a:rPr dirty="0"/>
              <a:t> </a:t>
            </a:r>
            <a:r>
              <a:rPr dirty="0" err="1"/>
              <a:t>conhecimento</a:t>
            </a:r>
            <a:r>
              <a:rPr dirty="0"/>
              <a:t> factual </a:t>
            </a:r>
            <a:r>
              <a:rPr dirty="0" err="1"/>
              <a:t>nos</a:t>
            </a:r>
            <a:r>
              <a:rPr dirty="0"/>
              <a:t> pesos —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atualização</a:t>
            </a:r>
            <a:r>
              <a:rPr dirty="0"/>
              <a:t>, </a:t>
            </a:r>
            <a:r>
              <a:rPr dirty="0" err="1"/>
              <a:t>rastreabilidade</a:t>
            </a:r>
            <a:r>
              <a:rPr dirty="0"/>
              <a:t> e </a:t>
            </a:r>
            <a:r>
              <a:rPr dirty="0" err="1"/>
              <a:t>limitação</a:t>
            </a:r>
            <a:r>
              <a:rPr dirty="0"/>
              <a:t> de </a:t>
            </a:r>
            <a:r>
              <a:rPr dirty="0" err="1"/>
              <a:t>capacidade</a:t>
            </a:r>
            <a:r>
              <a:rPr dirty="0"/>
              <a:t>. Como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recuperação</a:t>
            </a:r>
            <a:r>
              <a:rPr dirty="0"/>
              <a:t> de </a:t>
            </a:r>
            <a:r>
              <a:rPr dirty="0" err="1"/>
              <a:t>informação</a:t>
            </a:r>
            <a:r>
              <a:rPr dirty="0"/>
              <a:t> com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linguagem</a:t>
            </a:r>
            <a:r>
              <a:rPr dirty="0"/>
              <a:t> para </a:t>
            </a:r>
            <a:r>
              <a:rPr dirty="0" err="1"/>
              <a:t>obter</a:t>
            </a:r>
            <a:r>
              <a:rPr dirty="0"/>
              <a:t> o </a:t>
            </a:r>
            <a:r>
              <a:rPr dirty="0" err="1"/>
              <a:t>melhor</a:t>
            </a:r>
            <a:r>
              <a:rPr dirty="0"/>
              <a:t> dos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paradigmas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ARQUITETURA RAG</a:t>
            </a:r>
          </a:p>
          <a:p>
            <a:endParaRPr dirty="0"/>
          </a:p>
          <a:p>
            <a:r>
              <a:rPr dirty="0" err="1"/>
              <a:t>Componente</a:t>
            </a:r>
            <a:r>
              <a:rPr dirty="0"/>
              <a:t> de </a:t>
            </a:r>
            <a:r>
              <a:rPr dirty="0" err="1"/>
              <a:t>recuperação</a:t>
            </a:r>
            <a:r>
              <a:rPr dirty="0"/>
              <a:t> (Retriever): DPR (Dense Passage Retrieval) — bi-encoder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projeta</a:t>
            </a:r>
            <a:r>
              <a:rPr dirty="0"/>
              <a:t> query e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vetorial</a:t>
            </a:r>
            <a:r>
              <a:rPr dirty="0"/>
              <a:t> </a:t>
            </a:r>
            <a:r>
              <a:rPr dirty="0" err="1"/>
              <a:t>compartilhado</a:t>
            </a:r>
            <a:r>
              <a:rPr dirty="0"/>
              <a:t>. Para </a:t>
            </a:r>
            <a:r>
              <a:rPr dirty="0" err="1"/>
              <a:t>cada</a:t>
            </a:r>
            <a:r>
              <a:rPr dirty="0"/>
              <a:t> query, </a:t>
            </a:r>
            <a:r>
              <a:rPr dirty="0" err="1"/>
              <a:t>recupera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k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Componente</a:t>
            </a:r>
            <a:r>
              <a:rPr dirty="0"/>
              <a:t> de </a:t>
            </a:r>
            <a:r>
              <a:rPr dirty="0" err="1"/>
              <a:t>geração</a:t>
            </a:r>
            <a:r>
              <a:rPr dirty="0"/>
              <a:t> (Generator): BART (seq2seq com encoder-decoder)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condiciona</a:t>
            </a:r>
            <a:r>
              <a:rPr dirty="0"/>
              <a:t> a </a:t>
            </a: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query original +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 </a:t>
            </a:r>
            <a:r>
              <a:rPr dirty="0" err="1"/>
              <a:t>concatenados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Duas </a:t>
            </a:r>
            <a:r>
              <a:rPr dirty="0" err="1"/>
              <a:t>variantes</a:t>
            </a:r>
            <a:r>
              <a:rPr dirty="0"/>
              <a:t> </a:t>
            </a:r>
            <a:r>
              <a:rPr dirty="0" err="1"/>
              <a:t>arquiteturais</a:t>
            </a:r>
            <a:r>
              <a:rPr dirty="0"/>
              <a:t>:</a:t>
            </a:r>
          </a:p>
          <a:p>
            <a:r>
              <a:rPr dirty="0"/>
              <a:t>• RAG-Sequence: um conjunto de </a:t>
            </a:r>
            <a:r>
              <a:rPr dirty="0" err="1"/>
              <a:t>documentos</a:t>
            </a:r>
            <a:r>
              <a:rPr dirty="0"/>
              <a:t> é </a:t>
            </a:r>
            <a:r>
              <a:rPr dirty="0" err="1"/>
              <a:t>usado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a </a:t>
            </a:r>
            <a:r>
              <a:rPr dirty="0" err="1"/>
              <a:t>sequência</a:t>
            </a:r>
            <a:r>
              <a:rPr dirty="0"/>
              <a:t> de </a:t>
            </a:r>
            <a:r>
              <a:rPr dirty="0" err="1"/>
              <a:t>saída</a:t>
            </a:r>
            <a:r>
              <a:rPr dirty="0"/>
              <a:t>. </a:t>
            </a:r>
            <a:r>
              <a:rPr dirty="0" err="1"/>
              <a:t>Melhor</a:t>
            </a:r>
            <a:r>
              <a:rPr dirty="0"/>
              <a:t> para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é </a:t>
            </a:r>
            <a:r>
              <a:rPr dirty="0" err="1"/>
              <a:t>fundamentada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.</a:t>
            </a:r>
          </a:p>
          <a:p>
            <a:r>
              <a:rPr dirty="0"/>
              <a:t>• RAG-Token: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</a:t>
            </a:r>
            <a:r>
              <a:rPr dirty="0" err="1"/>
              <a:t>usados</a:t>
            </a:r>
            <a:r>
              <a:rPr dirty="0"/>
              <a:t> para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tokens da </a:t>
            </a:r>
            <a:r>
              <a:rPr dirty="0" err="1"/>
              <a:t>saída</a:t>
            </a:r>
            <a:r>
              <a:rPr dirty="0"/>
              <a:t>. Mais </a:t>
            </a:r>
            <a:r>
              <a:rPr dirty="0" err="1"/>
              <a:t>flexível</a:t>
            </a:r>
            <a:r>
              <a:rPr dirty="0"/>
              <a:t>,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combinam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fontes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TREINAMENTO</a:t>
            </a:r>
          </a:p>
          <a:p>
            <a:r>
              <a:rPr dirty="0"/>
              <a:t>End-to-end: o retriever e o generator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treinados</a:t>
            </a:r>
            <a:r>
              <a:rPr dirty="0"/>
              <a:t> </a:t>
            </a:r>
            <a:r>
              <a:rPr dirty="0" err="1"/>
              <a:t>conjuntamente</a:t>
            </a:r>
            <a:r>
              <a:rPr dirty="0"/>
              <a:t>, com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 </a:t>
            </a:r>
            <a:r>
              <a:rPr dirty="0" err="1"/>
              <a:t>tratados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latentes</a:t>
            </a:r>
            <a:r>
              <a:rPr dirty="0"/>
              <a:t>. O </a:t>
            </a:r>
            <a:r>
              <a:rPr dirty="0" err="1"/>
              <a:t>gradiente</a:t>
            </a:r>
            <a:r>
              <a:rPr dirty="0"/>
              <a:t> </a:t>
            </a:r>
            <a:r>
              <a:rPr dirty="0" err="1"/>
              <a:t>flui</a:t>
            </a:r>
            <a:r>
              <a:rPr dirty="0"/>
              <a:t> do generator para o retriever via </a:t>
            </a:r>
            <a:r>
              <a:rPr dirty="0" err="1"/>
              <a:t>marginalização</a:t>
            </a:r>
            <a:r>
              <a:rPr dirty="0"/>
              <a:t> —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supervisão</a:t>
            </a:r>
            <a:r>
              <a:rPr dirty="0"/>
              <a:t> </a:t>
            </a:r>
            <a:r>
              <a:rPr dirty="0" err="1"/>
              <a:t>explícita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quais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AVALIAÇÃO</a:t>
            </a:r>
          </a:p>
          <a:p>
            <a:r>
              <a:rPr dirty="0"/>
              <a:t>Benchmarks: Natural Questions, </a:t>
            </a:r>
            <a:r>
              <a:rPr dirty="0" err="1"/>
              <a:t>WebQuestions</a:t>
            </a:r>
            <a:r>
              <a:rPr dirty="0"/>
              <a:t>, </a:t>
            </a:r>
            <a:r>
              <a:rPr dirty="0" err="1"/>
              <a:t>CuratedTrec</a:t>
            </a:r>
            <a:r>
              <a:rPr dirty="0"/>
              <a:t>, </a:t>
            </a:r>
            <a:r>
              <a:rPr dirty="0" err="1"/>
              <a:t>TriviaQA</a:t>
            </a:r>
            <a:r>
              <a:rPr dirty="0"/>
              <a:t> (QA de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), MS-MARCO, Jeopardy (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perguntas</a:t>
            </a:r>
            <a:r>
              <a:rPr dirty="0"/>
              <a:t>), FEVER (</a:t>
            </a:r>
            <a:r>
              <a:rPr dirty="0" err="1"/>
              <a:t>verificação</a:t>
            </a:r>
            <a:r>
              <a:rPr dirty="0"/>
              <a:t> de </a:t>
            </a:r>
            <a:r>
              <a:rPr dirty="0" err="1"/>
              <a:t>fatos</a:t>
            </a:r>
            <a:r>
              <a:rPr dirty="0"/>
              <a:t>).</a:t>
            </a:r>
          </a:p>
          <a:p>
            <a:r>
              <a:rPr dirty="0" err="1"/>
              <a:t>Resultado</a:t>
            </a:r>
            <a:r>
              <a:rPr dirty="0"/>
              <a:t>: RAG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puramente</a:t>
            </a:r>
            <a:r>
              <a:rPr dirty="0"/>
              <a:t> </a:t>
            </a:r>
            <a:r>
              <a:rPr dirty="0" err="1"/>
              <a:t>paramétricos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benchmarks, com </a:t>
            </a:r>
            <a:r>
              <a:rPr dirty="0" err="1"/>
              <a:t>ganhos</a:t>
            </a:r>
            <a:r>
              <a:rPr dirty="0"/>
              <a:t> de 2-10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percentuais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QA de </a:t>
            </a:r>
            <a:r>
              <a:rPr dirty="0" err="1"/>
              <a:t>domínio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. Em FEVER,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abordagens</a:t>
            </a:r>
            <a:r>
              <a:rPr dirty="0"/>
              <a:t> </a:t>
            </a:r>
            <a:r>
              <a:rPr dirty="0" err="1"/>
              <a:t>especializadas</a:t>
            </a:r>
            <a:r>
              <a:rPr dirty="0"/>
              <a:t> de </a:t>
            </a:r>
            <a:r>
              <a:rPr dirty="0" err="1"/>
              <a:t>verificação</a:t>
            </a:r>
            <a:r>
              <a:rPr dirty="0"/>
              <a:t> de </a:t>
            </a:r>
            <a:r>
              <a:rPr dirty="0" err="1"/>
              <a:t>fatos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VANTAGENS SOBRE MODELOS PARAMÉTRICOS</a:t>
            </a:r>
          </a:p>
          <a:p>
            <a:r>
              <a:rPr dirty="0"/>
              <a:t>• </a:t>
            </a:r>
            <a:r>
              <a:rPr dirty="0" err="1"/>
              <a:t>Rastreabilidade</a:t>
            </a:r>
            <a:r>
              <a:rPr dirty="0"/>
              <a:t>: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inspecionar</a:t>
            </a:r>
            <a:r>
              <a:rPr dirty="0"/>
              <a:t> quais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geraram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Atualização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retreinamento</a:t>
            </a:r>
            <a:r>
              <a:rPr dirty="0"/>
              <a:t>: </a:t>
            </a:r>
            <a:r>
              <a:rPr dirty="0" err="1"/>
              <a:t>substituir</a:t>
            </a:r>
            <a:r>
              <a:rPr dirty="0"/>
              <a:t> a base de </a:t>
            </a:r>
            <a:r>
              <a:rPr dirty="0" err="1"/>
              <a:t>recuperação</a:t>
            </a:r>
            <a:r>
              <a:rPr dirty="0"/>
              <a:t> é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atualizar</a:t>
            </a:r>
            <a:r>
              <a:rPr dirty="0"/>
              <a:t> o </a:t>
            </a:r>
            <a:r>
              <a:rPr dirty="0" err="1"/>
              <a:t>conhecimento</a:t>
            </a:r>
            <a:r>
              <a:rPr dirty="0"/>
              <a:t>.</a:t>
            </a:r>
          </a:p>
          <a:p>
            <a:r>
              <a:rPr dirty="0"/>
              <a:t>• Menor </a:t>
            </a:r>
            <a:r>
              <a:rPr dirty="0" err="1"/>
              <a:t>tendência</a:t>
            </a:r>
            <a:r>
              <a:rPr dirty="0"/>
              <a:t> a </a:t>
            </a:r>
            <a:r>
              <a:rPr dirty="0" err="1"/>
              <a:t>alucinação</a:t>
            </a:r>
            <a:r>
              <a:rPr dirty="0"/>
              <a:t>: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ancorado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Generalização</a:t>
            </a:r>
            <a:r>
              <a:rPr dirty="0"/>
              <a:t> a </a:t>
            </a:r>
            <a:r>
              <a:rPr dirty="0" err="1"/>
              <a:t>domínios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 fine-tune do retriever </a:t>
            </a:r>
            <a:r>
              <a:rPr dirty="0" err="1"/>
              <a:t>sobre</a:t>
            </a:r>
            <a:r>
              <a:rPr dirty="0"/>
              <a:t> corpus </a:t>
            </a:r>
            <a:r>
              <a:rPr dirty="0" err="1"/>
              <a:t>especializado</a:t>
            </a:r>
            <a:r>
              <a:rPr dirty="0"/>
              <a:t>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retreinamento</a:t>
            </a:r>
            <a:r>
              <a:rPr dirty="0"/>
              <a:t> do LLM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Latência</a:t>
            </a:r>
            <a:r>
              <a:rPr dirty="0"/>
              <a:t>: a </a:t>
            </a:r>
            <a:r>
              <a:rPr dirty="0" err="1"/>
              <a:t>recuperação</a:t>
            </a:r>
            <a:r>
              <a:rPr dirty="0"/>
              <a:t> </a:t>
            </a:r>
            <a:r>
              <a:rPr dirty="0" err="1"/>
              <a:t>adiciona</a:t>
            </a:r>
            <a:r>
              <a:rPr dirty="0"/>
              <a:t> tempo de </a:t>
            </a:r>
            <a:r>
              <a:rPr dirty="0" err="1"/>
              <a:t>processamento</a:t>
            </a:r>
            <a:r>
              <a:rPr dirty="0"/>
              <a:t> (</a:t>
            </a:r>
            <a:r>
              <a:rPr dirty="0" err="1"/>
              <a:t>tipicamente</a:t>
            </a:r>
            <a:r>
              <a:rPr dirty="0"/>
              <a:t> 200-500ms para corpus de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documentos</a:t>
            </a:r>
            <a:r>
              <a:rPr dirty="0"/>
              <a:t>). </a:t>
            </a:r>
            <a:r>
              <a:rPr dirty="0" err="1"/>
              <a:t>Qualidade</a:t>
            </a:r>
            <a:r>
              <a:rPr dirty="0"/>
              <a:t> do retriever é </a:t>
            </a:r>
            <a:r>
              <a:rPr dirty="0" err="1"/>
              <a:t>crítica</a:t>
            </a:r>
            <a:r>
              <a:rPr dirty="0"/>
              <a:t>: garbage retrieval → garbage generation. </a:t>
            </a:r>
            <a:r>
              <a:rPr dirty="0" err="1"/>
              <a:t>Documentos</a:t>
            </a:r>
            <a:r>
              <a:rPr dirty="0"/>
              <a:t> de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desatualizados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base </a:t>
            </a:r>
            <a:r>
              <a:rPr dirty="0" err="1"/>
              <a:t>degradam</a:t>
            </a:r>
            <a:r>
              <a:rPr dirty="0"/>
              <a:t> a </a:t>
            </a:r>
            <a:r>
              <a:rPr dirty="0" err="1"/>
              <a:t>saída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resolve </a:t>
            </a:r>
            <a:r>
              <a:rPr dirty="0" err="1"/>
              <a:t>alucinação</a:t>
            </a:r>
            <a:r>
              <a:rPr dirty="0"/>
              <a:t> </a:t>
            </a:r>
            <a:r>
              <a:rPr dirty="0" err="1"/>
              <a:t>intrínseca</a:t>
            </a:r>
            <a:r>
              <a:rPr dirty="0"/>
              <a:t> (</a:t>
            </a:r>
            <a:r>
              <a:rPr dirty="0" err="1"/>
              <a:t>contradição</a:t>
            </a:r>
            <a:r>
              <a:rPr dirty="0"/>
              <a:t> com o </a:t>
            </a:r>
            <a:r>
              <a:rPr dirty="0" err="1"/>
              <a:t>próprio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recuperado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/>
              <a:t>RAG é o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 o Retrieval slide </a:t>
            </a:r>
            <a:r>
              <a:rPr dirty="0" err="1"/>
              <a:t>operacional</a:t>
            </a:r>
            <a:r>
              <a:rPr dirty="0"/>
              <a:t>. No </a:t>
            </a:r>
            <a:r>
              <a:rPr dirty="0" err="1"/>
              <a:t>sistema</a:t>
            </a:r>
            <a:r>
              <a:rPr dirty="0"/>
              <a:t> da academia, o histórico </a:t>
            </a:r>
            <a:r>
              <a:rPr dirty="0" err="1"/>
              <a:t>clínico</a:t>
            </a:r>
            <a:r>
              <a:rPr dirty="0"/>
              <a:t> do </a:t>
            </a:r>
            <a:r>
              <a:rPr dirty="0" err="1"/>
              <a:t>aluno</a:t>
            </a:r>
            <a:r>
              <a:rPr dirty="0"/>
              <a:t>, as </a:t>
            </a:r>
            <a:r>
              <a:rPr dirty="0" err="1"/>
              <a:t>avaliações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 e o plano de </a:t>
            </a:r>
            <a:r>
              <a:rPr dirty="0" err="1"/>
              <a:t>treino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a "base de </a:t>
            </a:r>
            <a:r>
              <a:rPr dirty="0" err="1"/>
              <a:t>recuperação</a:t>
            </a:r>
            <a:r>
              <a:rPr dirty="0"/>
              <a:t>" — </a:t>
            </a:r>
            <a:r>
              <a:rPr dirty="0" err="1"/>
              <a:t>ancoram</a:t>
            </a:r>
            <a:r>
              <a:rPr dirty="0"/>
              <a:t> as </a:t>
            </a:r>
            <a:r>
              <a:rPr dirty="0" err="1"/>
              <a:t>respostas</a:t>
            </a:r>
            <a:r>
              <a:rPr dirty="0"/>
              <a:t> da IA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invés</a:t>
            </a:r>
            <a:r>
              <a:rPr dirty="0"/>
              <a:t> de </a:t>
            </a:r>
            <a:r>
              <a:rPr dirty="0" err="1"/>
              <a:t>deixá</a:t>
            </a:r>
            <a:r>
              <a:rPr dirty="0"/>
              <a:t>-la confabular. Lewis (2020) </a:t>
            </a:r>
            <a:r>
              <a:rPr dirty="0" err="1"/>
              <a:t>demonstra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arquitetura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puramente</a:t>
            </a:r>
            <a:r>
              <a:rPr dirty="0"/>
              <a:t> </a:t>
            </a:r>
            <a:r>
              <a:rPr dirty="0" err="1"/>
              <a:t>paramétricos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 </a:t>
            </a:r>
            <a:r>
              <a:rPr dirty="0" err="1"/>
              <a:t>importam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Jiang et al. (2024)</a:t>
            </a:r>
          </a:p>
          <a:p>
            <a:r>
              <a:rPr dirty="0"/>
              <a:t>"</a:t>
            </a:r>
            <a:r>
              <a:rPr dirty="0" err="1"/>
              <a:t>LongLLMLingua</a:t>
            </a:r>
            <a:r>
              <a:rPr dirty="0"/>
              <a:t>: Accelerating and Enhancing LLMs in Long Context Scenarios via Prompt Compression"</a:t>
            </a:r>
          </a:p>
          <a:p>
            <a:r>
              <a:rPr dirty="0"/>
              <a:t>arXiv:2310.06839 | https://arxiv.org/abs/2310.06839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Contextos</a:t>
            </a:r>
            <a:r>
              <a:rPr dirty="0"/>
              <a:t> </a:t>
            </a:r>
            <a:r>
              <a:rPr dirty="0" err="1"/>
              <a:t>longos</a:t>
            </a:r>
            <a:r>
              <a:rPr dirty="0"/>
              <a:t> </a:t>
            </a:r>
            <a:r>
              <a:rPr dirty="0" err="1"/>
              <a:t>degradam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de LLMs (</a:t>
            </a:r>
            <a:r>
              <a:rPr dirty="0" err="1"/>
              <a:t>fenômeno</a:t>
            </a:r>
            <a:r>
              <a:rPr dirty="0"/>
              <a:t> "lost in the middle": </a:t>
            </a:r>
            <a:r>
              <a:rPr dirty="0" err="1"/>
              <a:t>informação</a:t>
            </a:r>
            <a:r>
              <a:rPr dirty="0"/>
              <a:t> no </a:t>
            </a:r>
            <a:r>
              <a:rPr dirty="0" err="1"/>
              <a:t>meio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 é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utilizada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 no </a:t>
            </a:r>
            <a:r>
              <a:rPr dirty="0" err="1"/>
              <a:t>início</a:t>
            </a:r>
            <a:r>
              <a:rPr dirty="0"/>
              <a:t> e </a:t>
            </a:r>
            <a:r>
              <a:rPr dirty="0" err="1"/>
              <a:t>fim</a:t>
            </a:r>
            <a:r>
              <a:rPr dirty="0"/>
              <a:t>) e </a:t>
            </a:r>
            <a:r>
              <a:rPr dirty="0" err="1"/>
              <a:t>aumentam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de </a:t>
            </a:r>
            <a:r>
              <a:rPr dirty="0" err="1"/>
              <a:t>inferência</a:t>
            </a:r>
            <a:r>
              <a:rPr dirty="0"/>
              <a:t> </a:t>
            </a:r>
            <a:r>
              <a:rPr dirty="0" err="1"/>
              <a:t>quadraticamente</a:t>
            </a:r>
            <a:r>
              <a:rPr dirty="0"/>
              <a:t>. Como </a:t>
            </a:r>
            <a:r>
              <a:rPr dirty="0" err="1"/>
              <a:t>comprimir</a:t>
            </a:r>
            <a:r>
              <a:rPr dirty="0"/>
              <a:t> prompts </a:t>
            </a:r>
            <a:r>
              <a:rPr dirty="0" err="1"/>
              <a:t>longos</a:t>
            </a:r>
            <a:r>
              <a:rPr dirty="0"/>
              <a:t> </a:t>
            </a:r>
            <a:r>
              <a:rPr dirty="0" err="1"/>
              <a:t>preservando</a:t>
            </a:r>
            <a:r>
              <a:rPr dirty="0"/>
              <a:t> a </a:t>
            </a:r>
            <a:r>
              <a:rPr dirty="0" err="1"/>
              <a:t>informação</a:t>
            </a:r>
            <a:r>
              <a:rPr dirty="0"/>
              <a:t> </a:t>
            </a:r>
            <a:r>
              <a:rPr dirty="0" err="1"/>
              <a:t>semanticamente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 para </a:t>
            </a:r>
            <a:r>
              <a:rPr dirty="0" err="1"/>
              <a:t>uma</a:t>
            </a:r>
            <a:r>
              <a:rPr dirty="0"/>
              <a:t> query </a:t>
            </a:r>
            <a:r>
              <a:rPr dirty="0" err="1"/>
              <a:t>específica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LIMITAÇÃO DO PROBLEMA ANTECESSOR (</a:t>
            </a:r>
            <a:r>
              <a:rPr dirty="0" err="1"/>
              <a:t>LLMLingua</a:t>
            </a:r>
            <a:r>
              <a:rPr dirty="0"/>
              <a:t>)</a:t>
            </a:r>
          </a:p>
          <a:p>
            <a:r>
              <a:rPr dirty="0" err="1"/>
              <a:t>LLMLingua</a:t>
            </a:r>
            <a:r>
              <a:rPr dirty="0"/>
              <a:t> (Jiang et al., 2023) </a:t>
            </a:r>
            <a:r>
              <a:rPr dirty="0" err="1"/>
              <a:t>introduziu</a:t>
            </a:r>
            <a:r>
              <a:rPr dirty="0"/>
              <a:t> </a:t>
            </a:r>
            <a:r>
              <a:rPr dirty="0" err="1"/>
              <a:t>compressão</a:t>
            </a:r>
            <a:r>
              <a:rPr dirty="0"/>
              <a:t> de prompt via </a:t>
            </a:r>
            <a:r>
              <a:rPr dirty="0" err="1"/>
              <a:t>perplexidade</a:t>
            </a:r>
            <a:r>
              <a:rPr dirty="0"/>
              <a:t> — tokens com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perplexidade</a:t>
            </a:r>
            <a:r>
              <a:rPr dirty="0"/>
              <a:t> (</a:t>
            </a:r>
            <a:r>
              <a:rPr dirty="0" err="1"/>
              <a:t>previsíveis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)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removidos</a:t>
            </a:r>
            <a:r>
              <a:rPr dirty="0"/>
              <a:t>. </a:t>
            </a:r>
            <a:r>
              <a:rPr dirty="0" err="1"/>
              <a:t>Limitação</a:t>
            </a:r>
            <a:r>
              <a:rPr dirty="0"/>
              <a:t>: </a:t>
            </a:r>
            <a:r>
              <a:rPr dirty="0" err="1"/>
              <a:t>compressão</a:t>
            </a:r>
            <a:r>
              <a:rPr dirty="0"/>
              <a:t> query-agnostic — remove tokens "</a:t>
            </a:r>
            <a:r>
              <a:rPr dirty="0" err="1"/>
              <a:t>genéricos</a:t>
            </a:r>
            <a:r>
              <a:rPr dirty="0"/>
              <a:t>"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considerar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relevante</a:t>
            </a:r>
            <a:r>
              <a:rPr dirty="0"/>
              <a:t> para a </a:t>
            </a: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INOVAÇÕES DE LONGLLLMLINGUA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Compressão</a:t>
            </a:r>
            <a:r>
              <a:rPr dirty="0"/>
              <a:t> coarse-to-fine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estágios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Estágio</a:t>
            </a:r>
            <a:r>
              <a:rPr dirty="0"/>
              <a:t> </a:t>
            </a:r>
            <a:r>
              <a:rPr dirty="0" err="1"/>
              <a:t>grosseiro</a:t>
            </a:r>
            <a:r>
              <a:rPr dirty="0"/>
              <a:t> (coarse): </a:t>
            </a:r>
            <a:r>
              <a:rPr dirty="0" err="1"/>
              <a:t>ranquear</a:t>
            </a:r>
            <a:r>
              <a:rPr dirty="0"/>
              <a:t> e </a:t>
            </a:r>
            <a:r>
              <a:rPr dirty="0" err="1"/>
              <a:t>filtrar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inteiros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relevância</a:t>
            </a:r>
            <a:r>
              <a:rPr dirty="0"/>
              <a:t> à query (</a:t>
            </a:r>
            <a:r>
              <a:rPr dirty="0" err="1"/>
              <a:t>redução</a:t>
            </a:r>
            <a:r>
              <a:rPr dirty="0"/>
              <a:t> de 50-80% dos </a:t>
            </a:r>
            <a:r>
              <a:rPr dirty="0" err="1"/>
              <a:t>documentos</a:t>
            </a:r>
            <a:r>
              <a:rPr dirty="0"/>
              <a:t>).</a:t>
            </a:r>
          </a:p>
          <a:p>
            <a:r>
              <a:rPr dirty="0"/>
              <a:t>   - </a:t>
            </a:r>
            <a:r>
              <a:rPr dirty="0" err="1"/>
              <a:t>Estágio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(fine): </a:t>
            </a:r>
            <a:r>
              <a:rPr dirty="0" err="1"/>
              <a:t>comprimir</a:t>
            </a:r>
            <a:r>
              <a:rPr dirty="0"/>
              <a:t>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selecionadas</a:t>
            </a:r>
            <a:r>
              <a:rPr dirty="0"/>
              <a:t> no </a:t>
            </a:r>
            <a:r>
              <a:rPr dirty="0" err="1"/>
              <a:t>nível</a:t>
            </a:r>
            <a:r>
              <a:rPr dirty="0"/>
              <a:t> de token, </a:t>
            </a:r>
            <a:r>
              <a:rPr dirty="0" err="1"/>
              <a:t>condicionado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query.</a:t>
            </a:r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Compressão</a:t>
            </a:r>
            <a:r>
              <a:rPr dirty="0"/>
              <a:t> query-aware:</a:t>
            </a:r>
          </a:p>
          <a:p>
            <a:r>
              <a:rPr dirty="0"/>
              <a:t>  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perplexidade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token </a:t>
            </a:r>
            <a:r>
              <a:rPr dirty="0" err="1"/>
              <a:t>condicionado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query (P(token | query, </a:t>
            </a:r>
            <a:r>
              <a:rPr dirty="0" err="1"/>
              <a:t>contexto</a:t>
            </a:r>
            <a:r>
              <a:rPr dirty="0"/>
              <a:t>))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de </a:t>
            </a:r>
            <a:r>
              <a:rPr dirty="0" err="1"/>
              <a:t>perplexidade</a:t>
            </a:r>
            <a:r>
              <a:rPr dirty="0"/>
              <a:t> </a:t>
            </a:r>
            <a:r>
              <a:rPr dirty="0" err="1"/>
              <a:t>incondicional</a:t>
            </a:r>
            <a:r>
              <a:rPr dirty="0"/>
              <a:t>. Tokens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encontra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surpreendentes</a:t>
            </a:r>
            <a:r>
              <a:rPr dirty="0"/>
              <a:t> dado a query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candidatos</a:t>
            </a:r>
            <a:r>
              <a:rPr dirty="0"/>
              <a:t> à </a:t>
            </a:r>
            <a:r>
              <a:rPr dirty="0" err="1"/>
              <a:t>remoção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3. Document reordering:</a:t>
            </a:r>
          </a:p>
          <a:p>
            <a:r>
              <a:rPr dirty="0"/>
              <a:t>   </a:t>
            </a:r>
            <a:r>
              <a:rPr dirty="0" err="1"/>
              <a:t>Reposicionar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para as </a:t>
            </a:r>
            <a:r>
              <a:rPr dirty="0" err="1"/>
              <a:t>extremidades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 (</a:t>
            </a:r>
            <a:r>
              <a:rPr dirty="0" err="1"/>
              <a:t>início</a:t>
            </a:r>
            <a:r>
              <a:rPr dirty="0"/>
              <a:t> e </a:t>
            </a:r>
            <a:r>
              <a:rPr dirty="0" err="1"/>
              <a:t>fim</a:t>
            </a:r>
            <a:r>
              <a:rPr dirty="0"/>
              <a:t>), </a:t>
            </a:r>
            <a:r>
              <a:rPr dirty="0" err="1"/>
              <a:t>explorando</a:t>
            </a:r>
            <a:r>
              <a:rPr dirty="0"/>
              <a:t> o </a:t>
            </a:r>
            <a:r>
              <a:rPr dirty="0" err="1"/>
              <a:t>viés</a:t>
            </a:r>
            <a:r>
              <a:rPr dirty="0"/>
              <a:t> </a:t>
            </a:r>
            <a:r>
              <a:rPr dirty="0" err="1"/>
              <a:t>posicional</a:t>
            </a:r>
            <a:r>
              <a:rPr dirty="0"/>
              <a:t> dos Transformers (lost-in-the-middle). </a:t>
            </a:r>
            <a:r>
              <a:rPr dirty="0" err="1"/>
              <a:t>Passagens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no </a:t>
            </a:r>
            <a:r>
              <a:rPr dirty="0" err="1"/>
              <a:t>meio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movidas</a:t>
            </a:r>
            <a:r>
              <a:rPr dirty="0"/>
              <a:t> para </a:t>
            </a:r>
            <a:r>
              <a:rPr dirty="0" err="1"/>
              <a:t>posições</a:t>
            </a:r>
            <a:r>
              <a:rPr dirty="0"/>
              <a:t>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atenção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4. Subsequence recovery:</a:t>
            </a:r>
          </a:p>
          <a:p>
            <a:r>
              <a:rPr dirty="0"/>
              <a:t>   Pós-</a:t>
            </a:r>
            <a:r>
              <a:rPr dirty="0" err="1"/>
              <a:t>processamento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recupera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no </a:t>
            </a:r>
            <a:r>
              <a:rPr dirty="0" err="1"/>
              <a:t>texto</a:t>
            </a:r>
            <a:r>
              <a:rPr dirty="0"/>
              <a:t> original a </a:t>
            </a:r>
            <a:r>
              <a:rPr dirty="0" err="1"/>
              <a:t>partir</a:t>
            </a:r>
            <a:r>
              <a:rPr dirty="0"/>
              <a:t> da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gerada</a:t>
            </a:r>
            <a:r>
              <a:rPr dirty="0"/>
              <a:t> com o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comprimido</a:t>
            </a:r>
            <a:r>
              <a:rPr dirty="0"/>
              <a:t> — </a:t>
            </a:r>
            <a:r>
              <a:rPr dirty="0" err="1"/>
              <a:t>mapeia</a:t>
            </a:r>
            <a:r>
              <a:rPr dirty="0"/>
              <a:t> de volta para o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, </a:t>
            </a:r>
            <a:r>
              <a:rPr dirty="0" err="1"/>
              <a:t>aumentando</a:t>
            </a:r>
            <a:r>
              <a:rPr dirty="0"/>
              <a:t> </a:t>
            </a:r>
            <a:r>
              <a:rPr dirty="0" err="1"/>
              <a:t>rastreabilidade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AVALIAÇÃO</a:t>
            </a:r>
          </a:p>
          <a:p>
            <a:r>
              <a:rPr dirty="0"/>
              <a:t>Benchmarks: </a:t>
            </a:r>
            <a:r>
              <a:rPr dirty="0" err="1"/>
              <a:t>LongBench</a:t>
            </a:r>
            <a:r>
              <a:rPr dirty="0"/>
              <a:t> (7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compreensão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), </a:t>
            </a:r>
            <a:r>
              <a:rPr dirty="0" err="1"/>
              <a:t>ZeroScrolls</a:t>
            </a:r>
            <a:r>
              <a:rPr dirty="0"/>
              <a:t> (</a:t>
            </a:r>
            <a:r>
              <a:rPr dirty="0" err="1"/>
              <a:t>contextos</a:t>
            </a:r>
            <a:r>
              <a:rPr dirty="0"/>
              <a:t> de </a:t>
            </a:r>
            <a:r>
              <a:rPr dirty="0" err="1"/>
              <a:t>até</a:t>
            </a:r>
            <a:r>
              <a:rPr dirty="0"/>
              <a:t> 100k tokens).</a:t>
            </a:r>
          </a:p>
          <a:p>
            <a:r>
              <a:rPr dirty="0" err="1"/>
              <a:t>Compressão</a:t>
            </a:r>
            <a:r>
              <a:rPr dirty="0"/>
              <a:t> de </a:t>
            </a:r>
            <a:r>
              <a:rPr dirty="0" err="1"/>
              <a:t>até</a:t>
            </a:r>
            <a:r>
              <a:rPr dirty="0"/>
              <a:t> 6x com </a:t>
            </a:r>
            <a:r>
              <a:rPr dirty="0" err="1"/>
              <a:t>degradação</a:t>
            </a:r>
            <a:r>
              <a:rPr dirty="0"/>
              <a:t> de </a:t>
            </a:r>
            <a:r>
              <a:rPr dirty="0" err="1"/>
              <a:t>desempenho</a:t>
            </a:r>
            <a:r>
              <a:rPr dirty="0"/>
              <a:t> &lt; 5%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maioria</a:t>
            </a:r>
            <a:r>
              <a:rPr dirty="0"/>
              <a:t> das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latência</a:t>
            </a:r>
            <a:r>
              <a:rPr dirty="0"/>
              <a:t>: 1.4-2.6x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RAG reais.</a:t>
            </a:r>
          </a:p>
          <a:p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: </a:t>
            </a:r>
            <a:r>
              <a:rPr dirty="0" err="1"/>
              <a:t>proporcional</a:t>
            </a:r>
            <a:r>
              <a:rPr dirty="0"/>
              <a:t> à </a:t>
            </a:r>
            <a:r>
              <a:rPr dirty="0" err="1"/>
              <a:t>redução</a:t>
            </a:r>
            <a:r>
              <a:rPr dirty="0"/>
              <a:t> de tokens (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de API).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/>
              <a:t>Performance </a:t>
            </a:r>
            <a:r>
              <a:rPr dirty="0" err="1"/>
              <a:t>degrada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requerem</a:t>
            </a:r>
            <a:r>
              <a:rPr dirty="0"/>
              <a:t> </a:t>
            </a:r>
            <a:r>
              <a:rPr dirty="0" err="1"/>
              <a:t>integração</a:t>
            </a:r>
            <a:r>
              <a:rPr dirty="0"/>
              <a:t> de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múltiplas</a:t>
            </a:r>
            <a:r>
              <a:rPr dirty="0"/>
              <a:t> partes do </a:t>
            </a:r>
            <a:r>
              <a:rPr dirty="0" err="1"/>
              <a:t>contexto</a:t>
            </a:r>
            <a:r>
              <a:rPr dirty="0"/>
              <a:t>. </a:t>
            </a:r>
            <a:r>
              <a:rPr dirty="0" err="1"/>
              <a:t>Estágio</a:t>
            </a:r>
            <a:r>
              <a:rPr dirty="0"/>
              <a:t> de coarse filtering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ambíguos</a:t>
            </a:r>
            <a:r>
              <a:rPr dirty="0"/>
              <a:t>. </a:t>
            </a:r>
            <a:r>
              <a:rPr dirty="0" err="1"/>
              <a:t>Adiciona</a:t>
            </a:r>
            <a:r>
              <a:rPr dirty="0"/>
              <a:t> </a:t>
            </a:r>
            <a:r>
              <a:rPr dirty="0" err="1"/>
              <a:t>latência</a:t>
            </a:r>
            <a:r>
              <a:rPr dirty="0"/>
              <a:t> de </a:t>
            </a:r>
            <a:r>
              <a:rPr dirty="0" err="1"/>
              <a:t>pré-processamento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ganho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inferência</a:t>
            </a:r>
            <a:r>
              <a:rPr dirty="0"/>
              <a:t> para </a:t>
            </a:r>
            <a:r>
              <a:rPr dirty="0" err="1"/>
              <a:t>contextos</a:t>
            </a:r>
            <a:r>
              <a:rPr dirty="0"/>
              <a:t> </a:t>
            </a:r>
            <a:r>
              <a:rPr dirty="0" err="1"/>
              <a:t>pequenos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LongLLMLingua</a:t>
            </a:r>
            <a:r>
              <a:rPr dirty="0"/>
              <a:t> </a:t>
            </a:r>
            <a:r>
              <a:rPr dirty="0" err="1"/>
              <a:t>operacionaliza</a:t>
            </a:r>
            <a:r>
              <a:rPr dirty="0"/>
              <a:t> o </a:t>
            </a:r>
            <a:r>
              <a:rPr dirty="0" err="1"/>
              <a:t>princípio</a:t>
            </a:r>
            <a:r>
              <a:rPr dirty="0"/>
              <a:t> "</a:t>
            </a:r>
            <a:r>
              <a:rPr dirty="0" err="1"/>
              <a:t>mais</a:t>
            </a:r>
            <a:r>
              <a:rPr dirty="0"/>
              <a:t> tokens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inteligência</a:t>
            </a:r>
            <a:r>
              <a:rPr dirty="0"/>
              <a:t>". Em </a:t>
            </a:r>
            <a:r>
              <a:rPr dirty="0" err="1"/>
              <a:t>sistemas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 com Memory Bank + RAG, o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crescer</a:t>
            </a:r>
            <a:r>
              <a:rPr dirty="0"/>
              <a:t> </a:t>
            </a:r>
            <a:r>
              <a:rPr dirty="0" err="1"/>
              <a:t>indefinidamente</a:t>
            </a:r>
            <a:r>
              <a:rPr dirty="0"/>
              <a:t>. </a:t>
            </a:r>
            <a:r>
              <a:rPr dirty="0" err="1"/>
              <a:t>Compressão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é </a:t>
            </a:r>
            <a:r>
              <a:rPr dirty="0" err="1"/>
              <a:t>necessária</a:t>
            </a:r>
            <a:r>
              <a:rPr dirty="0"/>
              <a:t> para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degradar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— o trade-off </a:t>
            </a:r>
            <a:r>
              <a:rPr dirty="0" err="1"/>
              <a:t>exato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slide de </a:t>
            </a:r>
            <a:r>
              <a:rPr dirty="0" err="1"/>
              <a:t>eficiência</a:t>
            </a:r>
            <a:r>
              <a:rPr dirty="0"/>
              <a:t> contextual </a:t>
            </a:r>
            <a:r>
              <a:rPr dirty="0" err="1"/>
              <a:t>discute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  <a:p>
            <a:endParaRPr dirty="0"/>
          </a:p>
          <a:p>
            <a:r>
              <a:rPr dirty="0"/>
              <a:t>RESENHA TÉCNICA — </a:t>
            </a:r>
            <a:r>
              <a:rPr dirty="0" err="1"/>
              <a:t>Amershi</a:t>
            </a:r>
            <a:r>
              <a:rPr dirty="0"/>
              <a:t> et al. (2019)</a:t>
            </a:r>
          </a:p>
          <a:p>
            <a:r>
              <a:rPr dirty="0"/>
              <a:t>"Guidelines for Human-AI Interaction"</a:t>
            </a:r>
          </a:p>
          <a:p>
            <a:r>
              <a:rPr dirty="0"/>
              <a:t>CHI 2019 | https://dl.acm.org/doi/10.1145/3290605.3300233</a:t>
            </a:r>
          </a:p>
          <a:p>
            <a:endParaRPr dirty="0"/>
          </a:p>
          <a:p>
            <a:r>
              <a:rPr dirty="0"/>
              <a:t>PROBLEMA DE PESQUISA</a:t>
            </a:r>
          </a:p>
          <a:p>
            <a:r>
              <a:rPr dirty="0" err="1"/>
              <a:t>Derivar</a:t>
            </a:r>
            <a:r>
              <a:rPr dirty="0"/>
              <a:t> um conjunto de </a:t>
            </a:r>
            <a:r>
              <a:rPr dirty="0" err="1"/>
              <a:t>diretrizes</a:t>
            </a:r>
            <a:r>
              <a:rPr dirty="0"/>
              <a:t> de design </a:t>
            </a:r>
            <a:r>
              <a:rPr dirty="0" err="1"/>
              <a:t>aplicáveis</a:t>
            </a:r>
            <a:r>
              <a:rPr dirty="0"/>
              <a:t> e </a:t>
            </a:r>
            <a:r>
              <a:rPr dirty="0" err="1"/>
              <a:t>testáveis</a:t>
            </a:r>
            <a:r>
              <a:rPr dirty="0"/>
              <a:t> para </a:t>
            </a:r>
            <a:r>
              <a:rPr dirty="0" err="1"/>
              <a:t>sistemas</a:t>
            </a:r>
            <a:r>
              <a:rPr dirty="0"/>
              <a:t> de IA </a:t>
            </a:r>
            <a:r>
              <a:rPr dirty="0" err="1"/>
              <a:t>interativos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gerais</a:t>
            </a:r>
            <a:r>
              <a:rPr dirty="0"/>
              <a:t> para </a:t>
            </a:r>
            <a:r>
              <a:rPr dirty="0" err="1"/>
              <a:t>cobrir</a:t>
            </a:r>
            <a:r>
              <a:rPr dirty="0"/>
              <a:t>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domínios</a:t>
            </a:r>
            <a:r>
              <a:rPr dirty="0"/>
              <a:t> e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 para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de design </a:t>
            </a:r>
            <a:r>
              <a:rPr dirty="0" err="1"/>
              <a:t>concretas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METODOLOGIA</a:t>
            </a:r>
          </a:p>
          <a:p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iterativo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: (1) </a:t>
            </a:r>
            <a:r>
              <a:rPr dirty="0" err="1"/>
              <a:t>revisão</a:t>
            </a:r>
            <a:r>
              <a:rPr dirty="0"/>
              <a:t> e </a:t>
            </a:r>
            <a:r>
              <a:rPr dirty="0" err="1"/>
              <a:t>síntese</a:t>
            </a:r>
            <a:r>
              <a:rPr dirty="0"/>
              <a:t> de 168 </a:t>
            </a:r>
            <a:r>
              <a:rPr dirty="0" err="1"/>
              <a:t>princípios</a:t>
            </a:r>
            <a:r>
              <a:rPr dirty="0"/>
              <a:t> de design de IA de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</a:t>
            </a:r>
            <a:r>
              <a:rPr dirty="0" err="1"/>
              <a:t>resultando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 </a:t>
            </a:r>
            <a:r>
              <a:rPr dirty="0" err="1"/>
              <a:t>heurísticas</a:t>
            </a:r>
            <a:r>
              <a:rPr dirty="0"/>
              <a:t> </a:t>
            </a:r>
            <a:r>
              <a:rPr dirty="0" err="1"/>
              <a:t>candidatas</a:t>
            </a:r>
            <a:r>
              <a:rPr dirty="0"/>
              <a:t>; (2)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49 designers e </a:t>
            </a:r>
            <a:r>
              <a:rPr dirty="0" err="1"/>
              <a:t>pesquisadores</a:t>
            </a:r>
            <a:r>
              <a:rPr dirty="0"/>
              <a:t> de 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contextos</a:t>
            </a:r>
            <a:r>
              <a:rPr dirty="0"/>
              <a:t> de design real, com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; (3) </a:t>
            </a:r>
            <a:r>
              <a:rPr dirty="0" err="1"/>
              <a:t>refinamento</a:t>
            </a:r>
            <a:r>
              <a:rPr dirty="0"/>
              <a:t> para 18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finais</a:t>
            </a:r>
            <a:r>
              <a:rPr dirty="0"/>
              <a:t> com </a:t>
            </a: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, </a:t>
            </a:r>
            <a:r>
              <a:rPr dirty="0" err="1"/>
              <a:t>avaliadas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estudo</a:t>
            </a:r>
            <a:r>
              <a:rPr dirty="0"/>
              <a:t> com 169 </a:t>
            </a:r>
            <a:r>
              <a:rPr dirty="0" err="1"/>
              <a:t>participantes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18 </a:t>
            </a:r>
            <a:r>
              <a:rPr dirty="0" err="1"/>
              <a:t>produtos</a:t>
            </a:r>
            <a:r>
              <a:rPr dirty="0"/>
              <a:t> de IA </a:t>
            </a:r>
            <a:r>
              <a:rPr dirty="0" err="1"/>
              <a:t>existentes</a:t>
            </a:r>
            <a:r>
              <a:rPr dirty="0"/>
              <a:t> da Microsoft.</a:t>
            </a:r>
          </a:p>
          <a:p>
            <a:endParaRPr dirty="0"/>
          </a:p>
          <a:p>
            <a:r>
              <a:rPr dirty="0"/>
              <a:t>AS 18 DIRETRIZES (</a:t>
            </a:r>
            <a:r>
              <a:rPr dirty="0" err="1"/>
              <a:t>organizadas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4 </a:t>
            </a:r>
            <a:r>
              <a:rPr dirty="0" err="1"/>
              <a:t>fases</a:t>
            </a:r>
            <a:r>
              <a:rPr dirty="0"/>
              <a:t> </a:t>
            </a:r>
            <a:r>
              <a:rPr dirty="0" err="1"/>
              <a:t>temporais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FASE 1 — </a:t>
            </a:r>
            <a:r>
              <a:rPr dirty="0" err="1"/>
              <a:t>Inicialmente</a:t>
            </a:r>
            <a:r>
              <a:rPr dirty="0"/>
              <a:t> (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encontra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):</a:t>
            </a:r>
          </a:p>
          <a:p>
            <a:r>
              <a:rPr dirty="0"/>
              <a:t>G1.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fazer</a:t>
            </a:r>
            <a:r>
              <a:rPr dirty="0"/>
              <a:t>.</a:t>
            </a:r>
          </a:p>
          <a:p>
            <a:r>
              <a:rPr dirty="0"/>
              <a:t>G2. 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de IA </a:t>
            </a:r>
            <a:r>
              <a:rPr dirty="0" err="1"/>
              <a:t>faz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.</a:t>
            </a:r>
          </a:p>
          <a:p>
            <a:r>
              <a:rPr dirty="0"/>
              <a:t>G3. </a:t>
            </a:r>
            <a:r>
              <a:rPr dirty="0" err="1"/>
              <a:t>Calibrar</a:t>
            </a:r>
            <a:r>
              <a:rPr dirty="0"/>
              <a:t> a </a:t>
            </a:r>
            <a:r>
              <a:rPr dirty="0" err="1"/>
              <a:t>confiança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com base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 e no </a:t>
            </a:r>
            <a:r>
              <a:rPr dirty="0" err="1"/>
              <a:t>impacto</a:t>
            </a:r>
            <a:r>
              <a:rPr dirty="0"/>
              <a:t> dos </a:t>
            </a:r>
            <a:r>
              <a:rPr dirty="0" err="1"/>
              <a:t>erros</a:t>
            </a:r>
            <a:r>
              <a:rPr dirty="0"/>
              <a:t>.</a:t>
            </a:r>
          </a:p>
          <a:p>
            <a:r>
              <a:rPr dirty="0"/>
              <a:t>G4. </a:t>
            </a:r>
            <a:r>
              <a:rPr dirty="0" err="1"/>
              <a:t>Apresentar</a:t>
            </a:r>
            <a:r>
              <a:rPr dirty="0"/>
              <a:t> as </a:t>
            </a:r>
            <a:r>
              <a:rPr dirty="0" err="1"/>
              <a:t>limitações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de forma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afaste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motivo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2 — Durante a </a:t>
            </a:r>
            <a:r>
              <a:rPr dirty="0" err="1"/>
              <a:t>interação</a:t>
            </a:r>
            <a:r>
              <a:rPr dirty="0"/>
              <a:t>:</a:t>
            </a:r>
          </a:p>
          <a:p>
            <a:r>
              <a:rPr dirty="0"/>
              <a:t>G5. </a:t>
            </a:r>
            <a:r>
              <a:rPr dirty="0" err="1"/>
              <a:t>Combinar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com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r>
              <a:rPr dirty="0"/>
              <a:t>G6. </a:t>
            </a:r>
            <a:r>
              <a:rPr dirty="0" err="1"/>
              <a:t>Mitigar</a:t>
            </a:r>
            <a:r>
              <a:rPr dirty="0"/>
              <a:t> o </a:t>
            </a:r>
            <a:r>
              <a:rPr dirty="0" err="1"/>
              <a:t>impacto</a:t>
            </a:r>
            <a:r>
              <a:rPr dirty="0"/>
              <a:t> social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G7.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eficiência</a:t>
            </a:r>
            <a:r>
              <a:rPr dirty="0"/>
              <a:t> para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experientes</a:t>
            </a:r>
            <a:r>
              <a:rPr dirty="0"/>
              <a:t>.</a:t>
            </a:r>
          </a:p>
          <a:p>
            <a:r>
              <a:rPr dirty="0"/>
              <a:t>G8. Ser </a:t>
            </a:r>
            <a:r>
              <a:rPr dirty="0" err="1"/>
              <a:t>contextualmente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: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adequadas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.</a:t>
            </a:r>
          </a:p>
          <a:p>
            <a:r>
              <a:rPr dirty="0"/>
              <a:t>G9. </a:t>
            </a:r>
            <a:r>
              <a:rPr dirty="0" err="1"/>
              <a:t>Apoiar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.</a:t>
            </a:r>
          </a:p>
          <a:p>
            <a:r>
              <a:rPr dirty="0"/>
              <a:t>G10.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</a:t>
            </a:r>
            <a:r>
              <a:rPr dirty="0" err="1"/>
              <a:t>hábil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consegue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a </a:t>
            </a:r>
            <a:r>
              <a:rPr dirty="0" err="1"/>
              <a:t>tarefa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3 — Quando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:</a:t>
            </a:r>
          </a:p>
          <a:p>
            <a:r>
              <a:rPr dirty="0"/>
              <a:t>G11. </a:t>
            </a:r>
            <a:r>
              <a:rPr dirty="0" err="1"/>
              <a:t>Tornar</a:t>
            </a:r>
            <a:r>
              <a:rPr dirty="0"/>
              <a:t> claro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fez o </a:t>
            </a:r>
            <a:r>
              <a:rPr dirty="0" err="1"/>
              <a:t>que</a:t>
            </a:r>
            <a:r>
              <a:rPr dirty="0"/>
              <a:t> fez.</a:t>
            </a:r>
          </a:p>
          <a:p>
            <a:r>
              <a:rPr dirty="0"/>
              <a:t>G12. </a:t>
            </a:r>
            <a:r>
              <a:rPr dirty="0" err="1"/>
              <a:t>Lembrar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é </a:t>
            </a:r>
            <a:r>
              <a:rPr dirty="0" err="1"/>
              <a:t>falível</a:t>
            </a:r>
            <a:r>
              <a:rPr dirty="0"/>
              <a:t>.</a:t>
            </a:r>
          </a:p>
          <a:p>
            <a:r>
              <a:rPr dirty="0"/>
              <a:t>G13.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reversão</a:t>
            </a:r>
            <a:r>
              <a:rPr dirty="0"/>
              <a:t> de </a:t>
            </a:r>
            <a:r>
              <a:rPr dirty="0" err="1"/>
              <a:t>erros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G14.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avaliação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FASE 4 — Ao </a:t>
            </a:r>
            <a:r>
              <a:rPr dirty="0" err="1"/>
              <a:t>longo</a:t>
            </a:r>
            <a:r>
              <a:rPr dirty="0"/>
              <a:t> do tempo:</a:t>
            </a:r>
          </a:p>
          <a:p>
            <a:r>
              <a:rPr dirty="0"/>
              <a:t>G15. </a:t>
            </a:r>
            <a:r>
              <a:rPr dirty="0" err="1"/>
              <a:t>Monitorar</a:t>
            </a:r>
            <a:r>
              <a:rPr dirty="0"/>
              <a:t> e </a:t>
            </a:r>
            <a:r>
              <a:rPr dirty="0" err="1"/>
              <a:t>notificar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mudanças</a:t>
            </a:r>
            <a:r>
              <a:rPr dirty="0"/>
              <a:t> no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G16.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adaptar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r>
              <a:rPr dirty="0"/>
              <a:t>G17. </a:t>
            </a:r>
            <a:r>
              <a:rPr dirty="0" err="1"/>
              <a:t>Preservar</a:t>
            </a:r>
            <a:r>
              <a:rPr dirty="0"/>
              <a:t> a </a:t>
            </a:r>
            <a:r>
              <a:rPr dirty="0" err="1"/>
              <a:t>privacidade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personalizar</a:t>
            </a:r>
            <a:r>
              <a:rPr dirty="0"/>
              <a:t>.</a:t>
            </a:r>
          </a:p>
          <a:p>
            <a:r>
              <a:rPr dirty="0"/>
              <a:t>G18. </a:t>
            </a:r>
            <a:r>
              <a:rPr dirty="0" err="1"/>
              <a:t>Respeitar</a:t>
            </a:r>
            <a:r>
              <a:rPr dirty="0"/>
              <a:t> as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tempo.</a:t>
            </a:r>
          </a:p>
          <a:p>
            <a:endParaRPr dirty="0"/>
          </a:p>
          <a:p>
            <a:r>
              <a:rPr dirty="0"/>
              <a:t>PRINCIPAIS ACHADOS</a:t>
            </a:r>
          </a:p>
          <a:p>
            <a:r>
              <a:rPr dirty="0"/>
              <a:t>Designers </a:t>
            </a:r>
            <a:r>
              <a:rPr dirty="0" err="1"/>
              <a:t>acham</a:t>
            </a:r>
            <a:r>
              <a:rPr dirty="0"/>
              <a:t>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úteis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 "</a:t>
            </a:r>
            <a:r>
              <a:rPr dirty="0" err="1"/>
              <a:t>quando</a:t>
            </a:r>
            <a:r>
              <a:rPr dirty="0"/>
              <a:t> algo </a:t>
            </a:r>
            <a:r>
              <a:rPr dirty="0" err="1"/>
              <a:t>dá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" e "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tempo" — </a:t>
            </a:r>
            <a:r>
              <a:rPr dirty="0" err="1"/>
              <a:t>justamente</a:t>
            </a:r>
            <a:r>
              <a:rPr dirty="0"/>
              <a:t> as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consideradas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práticas</a:t>
            </a:r>
            <a:r>
              <a:rPr dirty="0"/>
              <a:t> </a:t>
            </a:r>
            <a:r>
              <a:rPr dirty="0" err="1"/>
              <a:t>correntes</a:t>
            </a:r>
            <a:r>
              <a:rPr dirty="0"/>
              <a:t> de design. A </a:t>
            </a:r>
            <a:r>
              <a:rPr dirty="0" err="1"/>
              <a:t>diretriz</a:t>
            </a:r>
            <a:r>
              <a:rPr dirty="0"/>
              <a:t> G2 (</a:t>
            </a:r>
            <a:r>
              <a:rPr dirty="0" err="1"/>
              <a:t>deixar</a:t>
            </a:r>
            <a:r>
              <a:rPr dirty="0"/>
              <a:t> claro o </a:t>
            </a:r>
            <a:r>
              <a:rPr dirty="0" err="1"/>
              <a:t>quão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) é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frequentemente</a:t>
            </a:r>
            <a:r>
              <a:rPr dirty="0"/>
              <a:t> </a:t>
            </a:r>
            <a:r>
              <a:rPr dirty="0" err="1"/>
              <a:t>violada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 reais.</a:t>
            </a:r>
          </a:p>
          <a:p>
            <a:endParaRPr dirty="0"/>
          </a:p>
          <a:p>
            <a:r>
              <a:rPr dirty="0"/>
              <a:t>LIMITAÇÕES</a:t>
            </a:r>
          </a:p>
          <a:p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derivadas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de </a:t>
            </a:r>
            <a:r>
              <a:rPr dirty="0" err="1"/>
              <a:t>produtos</a:t>
            </a:r>
            <a:r>
              <a:rPr dirty="0"/>
              <a:t> de </a:t>
            </a:r>
            <a:r>
              <a:rPr dirty="0" err="1"/>
              <a:t>produtividade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conversacionais</a:t>
            </a:r>
            <a:r>
              <a:rPr dirty="0"/>
              <a:t> da Microsoft. </a:t>
            </a:r>
            <a:r>
              <a:rPr dirty="0" err="1"/>
              <a:t>Aplicabilidade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a </a:t>
            </a:r>
            <a:r>
              <a:rPr dirty="0" err="1"/>
              <a:t>domínios</a:t>
            </a:r>
            <a:r>
              <a:rPr dirty="0"/>
              <a:t> de alto </a:t>
            </a:r>
            <a:r>
              <a:rPr dirty="0" err="1"/>
              <a:t>risco</a:t>
            </a:r>
            <a:r>
              <a:rPr dirty="0"/>
              <a:t> (</a:t>
            </a:r>
            <a:r>
              <a:rPr dirty="0" err="1"/>
              <a:t>medicina</a:t>
            </a:r>
            <a:r>
              <a:rPr dirty="0"/>
              <a:t>, </a:t>
            </a:r>
            <a:r>
              <a:rPr dirty="0" err="1"/>
              <a:t>direito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)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As </a:t>
            </a:r>
            <a:r>
              <a:rPr dirty="0" err="1"/>
              <a:t>diretrizes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descritivas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algoritmos</a:t>
            </a:r>
            <a:r>
              <a:rPr dirty="0"/>
              <a:t> de design —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julgamento</a:t>
            </a:r>
            <a:r>
              <a:rPr dirty="0"/>
              <a:t> contextual.</a:t>
            </a:r>
          </a:p>
          <a:p>
            <a:endParaRPr dirty="0"/>
          </a:p>
          <a:p>
            <a:r>
              <a:rPr dirty="0"/>
              <a:t>RELEVÂNCIA PARA ESTA AULA</a:t>
            </a:r>
          </a:p>
          <a:p>
            <a:r>
              <a:rPr dirty="0" err="1"/>
              <a:t>Amershi</a:t>
            </a:r>
            <a:r>
              <a:rPr dirty="0"/>
              <a:t> (2019) é o framework de </a:t>
            </a:r>
            <a:r>
              <a:rPr dirty="0" err="1"/>
              <a:t>governança</a:t>
            </a:r>
            <a:r>
              <a:rPr dirty="0"/>
              <a:t> </a:t>
            </a:r>
            <a:r>
              <a:rPr dirty="0" err="1"/>
              <a:t>implícito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a aula. Cada </a:t>
            </a:r>
            <a:r>
              <a:rPr dirty="0" err="1"/>
              <a:t>decisão</a:t>
            </a:r>
            <a:r>
              <a:rPr dirty="0"/>
              <a:t> de design do </a:t>
            </a:r>
            <a:r>
              <a:rPr dirty="0" err="1"/>
              <a:t>sistema</a:t>
            </a:r>
            <a:r>
              <a:rPr dirty="0"/>
              <a:t> da academia —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alertar</a:t>
            </a:r>
            <a:r>
              <a:rPr dirty="0"/>
              <a:t> o professor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restrição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mostrar</a:t>
            </a:r>
            <a:r>
              <a:rPr dirty="0"/>
              <a:t> histórico de forma </a:t>
            </a:r>
            <a:r>
              <a:rPr dirty="0" err="1"/>
              <a:t>acionável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registrar </a:t>
            </a:r>
            <a:r>
              <a:rPr dirty="0" err="1"/>
              <a:t>mudanças</a:t>
            </a:r>
            <a:r>
              <a:rPr dirty="0"/>
              <a:t> de plano —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instância</a:t>
            </a:r>
            <a:r>
              <a:rPr dirty="0"/>
              <a:t> dessas </a:t>
            </a:r>
            <a:r>
              <a:rPr dirty="0" err="1"/>
              <a:t>diretrizes</a:t>
            </a:r>
            <a:r>
              <a:rPr dirty="0"/>
              <a:t>. O human-in-the-loop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opção</a:t>
            </a:r>
            <a:r>
              <a:rPr dirty="0"/>
              <a:t> de design: é </a:t>
            </a:r>
            <a:r>
              <a:rPr dirty="0" err="1"/>
              <a:t>diretriz</a:t>
            </a:r>
            <a:r>
              <a:rPr dirty="0"/>
              <a:t> G9.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autoridade: a habilidade central é pensamento estruturado assistido por IA.</a:t>
            </a:r>
          </a:p>
          <a:p>
            <a:endParaRPr/>
          </a:p>
          <a:p>
            <a:r>
              <a:t>IA é uma alavanca. Ela amplifica o pensamento que você traz para ela. Traga pensamento ruim, ela amplifica o ruído. Traga pensamento estruturado, ela amplifica a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Fechar</a:t>
            </a:r>
            <a:r>
              <a:rPr dirty="0"/>
              <a:t> com </a:t>
            </a:r>
            <a:r>
              <a:rPr dirty="0" err="1"/>
              <a:t>autoridade</a:t>
            </a:r>
            <a:r>
              <a:rPr dirty="0"/>
              <a:t>: a </a:t>
            </a:r>
            <a:r>
              <a:rPr dirty="0" err="1"/>
              <a:t>habilidade</a:t>
            </a:r>
            <a:r>
              <a:rPr dirty="0"/>
              <a:t> central é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estruturado</a:t>
            </a:r>
            <a:r>
              <a:rPr dirty="0"/>
              <a:t> </a:t>
            </a:r>
            <a:r>
              <a:rPr dirty="0" err="1"/>
              <a:t>assistido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IA.</a:t>
            </a:r>
          </a:p>
          <a:p>
            <a:endParaRPr dirty="0"/>
          </a:p>
          <a:p>
            <a:r>
              <a:rPr dirty="0"/>
              <a:t>IA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alavanca</a:t>
            </a:r>
            <a:r>
              <a:rPr dirty="0"/>
              <a:t>. Ela </a:t>
            </a:r>
            <a:r>
              <a:rPr dirty="0" err="1"/>
              <a:t>amplifica</a:t>
            </a:r>
            <a:r>
              <a:rPr dirty="0"/>
              <a:t> o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para </a:t>
            </a:r>
            <a:r>
              <a:rPr dirty="0" err="1"/>
              <a:t>ela</a:t>
            </a:r>
            <a:r>
              <a:rPr dirty="0"/>
              <a:t>. </a:t>
            </a:r>
            <a:r>
              <a:rPr dirty="0" err="1"/>
              <a:t>Traga</a:t>
            </a:r>
            <a:r>
              <a:rPr dirty="0"/>
              <a:t>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ruim</a:t>
            </a:r>
            <a:r>
              <a:rPr dirty="0"/>
              <a:t>,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amplifica</a:t>
            </a:r>
            <a:r>
              <a:rPr dirty="0"/>
              <a:t> o </a:t>
            </a:r>
            <a:r>
              <a:rPr dirty="0" err="1"/>
              <a:t>ruído</a:t>
            </a:r>
            <a:r>
              <a:rPr dirty="0"/>
              <a:t>. </a:t>
            </a:r>
            <a:r>
              <a:rPr dirty="0" err="1"/>
              <a:t>Traga</a:t>
            </a:r>
            <a:r>
              <a:rPr dirty="0"/>
              <a:t>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estruturado</a:t>
            </a:r>
            <a:r>
              <a:rPr dirty="0"/>
              <a:t>,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amplifica</a:t>
            </a:r>
            <a:r>
              <a:rPr dirty="0"/>
              <a:t> a </a:t>
            </a:r>
            <a:r>
              <a:rPr dirty="0" err="1"/>
              <a:t>qualidade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TÍTULOS SÃO CLICÁVEIS — abrirão o artigo no navegador.</a:t>
            </a:r>
          </a:p>
          <a:p>
            <a:endParaRPr/>
          </a:p>
          <a:p>
            <a:r>
              <a:t>RESENHAS COMPLETAS NESTE PAINEL:</a:t>
            </a:r>
          </a:p>
          <a:p>
            <a:endParaRPr/>
          </a:p>
          <a:p>
            <a:r>
              <a:t>RESENHA TÉCNICA — Bender et al. (2021)</a:t>
            </a:r>
          </a:p>
          <a:p>
            <a:r>
              <a:t>"On the Dangers of Stochastic Parrots: Can Language Models Be Too Big?"</a:t>
            </a:r>
          </a:p>
          <a:p>
            <a:r>
              <a:t>FAccT 2021 | https://dl.acm.org/doi/10.1145/3442188.3445922</a:t>
            </a:r>
          </a:p>
          <a:p>
            <a:endParaRPr/>
          </a:p>
          <a:p>
            <a:r>
              <a:t>PROBLEMA DE PESQUISA</a:t>
            </a:r>
          </a:p>
          <a:p>
            <a:r>
              <a:t>O artigo questiona a tendência da área de NLP de maximizar escala de modelos sem considerar custos e riscos sistêmicos. A pergunta central não é técnica — é ética e epistemológica: o que os LLMs realmente fazem quando "compreendem" linguagem?</a:t>
            </a:r>
          </a:p>
          <a:p>
            <a:endParaRPr/>
          </a:p>
          <a:p>
            <a:r>
              <a:t>ARGUMENTO CENTRAL</a:t>
            </a:r>
          </a:p>
          <a:p>
            <a:r>
              <a:t>Os autores introduzem a metáfora do "papagaio estocástico": LLMs concatenam sequências de tokens probabilisticamente plausíveis sem que haja, em nenhum ponto do processo, acesso a significado, intenção ou referência ao mundo. O modelo opera sobre forma linguística (tokens, posições, atenção), não sobre conteúdo semântico. A distinção forma/significado, derivada da semântica formal e da filosofia da linguagem, é o núcleo teórico do argumento.</a:t>
            </a:r>
          </a:p>
          <a:p>
            <a:endParaRPr/>
          </a:p>
          <a:p>
            <a:r>
              <a:t>METODOLOGIA</a:t>
            </a:r>
          </a:p>
          <a:p>
            <a:r>
              <a:t>Análise crítica e teórica, não estudo empírico. Os autores revisam literatura de NLP, linguística computacional, ética em IA e estudos de ciência e tecnologia. Identificam quatro dimensões de risco: custo ambiental e financeiro do treinamento em escala; concentração de poder em poucos atores; amplificação de viés a partir de dados históricos; e falsa impressão de compreensão e progresso em direção a AGI.</a:t>
            </a:r>
          </a:p>
          <a:p>
            <a:endParaRPr/>
          </a:p>
          <a:p>
            <a:r>
              <a:t>PRINCIPAIS ACHADOS</a:t>
            </a:r>
          </a:p>
          <a:p>
            <a:r>
              <a:t>1. Custo de treinamento: treinar um modelo de grande escala emite CO2 comparável a cinco automóveis ao longo de toda a sua vida útil. Esse custo é distribuído de forma desigual — concentrado em países de alta renda, mas com impacto climático global.</a:t>
            </a:r>
          </a:p>
          <a:p>
            <a:r>
              <a:t>2. Viés e dano: dados de treinamento refletem e amplificam preconceitos históricos. LLMs treinados em texto da internet reproduzem e até intensificam estereótipos de gênero, raça e religião.</a:t>
            </a:r>
          </a:p>
          <a:p>
            <a:r>
              <a:t>3. Falsa compreensão: profissionais e usuários tendem a atribuir compreensão, intencionalidade e veracidade ao texto gerado — um erro de categoria. O modelo não sabe se o que gera é verdadeiro.</a:t>
            </a:r>
          </a:p>
          <a:p>
            <a:r>
              <a:t>4. Coerência sem fundamentação (groundedness): o texto pode ser gramaticalmente correto, coerente estilísticamente e factualmente errado ao mesmo tempo. A fluência mascara a ausência de verificação factual.</a:t>
            </a:r>
          </a:p>
          <a:p>
            <a:endParaRPr/>
          </a:p>
          <a:p>
            <a:r>
              <a:t>LIMITAÇÕES</a:t>
            </a:r>
          </a:p>
          <a:p>
            <a:r>
              <a:t>O artigo é prescritivo e teórico — não apresenta experimentos controlados. A distinção forma/significado é controversa em filosofia da linguagem (alguns cognitivistas argumentam que o processamento estatístico pode emergir em compreensão funcional). Os autores são deliberadamente provocativos, o que gerou debate sobre a extensão das afirmações.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é o alicerce epistemológico da aula. Se modelos não compreendem — apenas associam padrões — então a qualidade da saída é função direta da qualidade da entrada. Context Engineering é a resposta prática à limitação teórica identificada por Bender: se o modelo não "entende" o domínio, cabe ao engenheiro injetar o domínio no contexto com precisão.</a:t>
            </a:r>
          </a:p>
          <a:p>
            <a:endParaRPr/>
          </a:p>
          <a:p>
            <a:r>
              <a:t>IMPLICAÇÃO PARA ENGENHEIROS SÊNIORES</a:t>
            </a:r>
          </a:p>
          <a:p>
            <a:r>
              <a:t>Ao revisar saída de LLM, não avalie pela fluidez. Avalie pela fundamentação factual e aderência ao domínio. Um texto bem escrito e incorreto é mais perigoso do que um texto mal escrito e correto, porque passa por revisão sem ser questionado.</a:t>
            </a:r>
          </a:p>
          <a:p>
            <a:endParaRPr/>
          </a:p>
          <a:p>
            <a:r>
              <a:t>RESENHA TÉCNICA — Ji et al. (2023)</a:t>
            </a:r>
          </a:p>
          <a:p>
            <a:r>
              <a:t>"Survey of Hallucination in Natural Language Generation"</a:t>
            </a:r>
          </a:p>
          <a:p>
            <a:r>
              <a:t>ACM Computing Surveys, vol. 55, no. 12 | https://dl.acm.org/doi/10.1145/3571730</a:t>
            </a:r>
          </a:p>
          <a:p>
            <a:endParaRPr/>
          </a:p>
          <a:p>
            <a:r>
              <a:t>PROBLEMA DE PESQUISA</a:t>
            </a:r>
          </a:p>
          <a:p>
            <a:r>
              <a:t>Sistematizar o estado da arte sobre alucinação em NLG — sua definição, taxonomia, causas, métricas de avaliação e estratégias de mitigação — em uma referência unificada para a área.</a:t>
            </a:r>
          </a:p>
          <a:p>
            <a:endParaRPr/>
          </a:p>
          <a:p>
            <a:r>
              <a:t>DEFINIÇÃO FORMAL</a:t>
            </a:r>
          </a:p>
          <a:p>
            <a:r>
              <a:t>Alucinação em NLG é definida como a geração de conteúdo que é fluente e plausível linguisticamente, mas factualmente incorreto, inconsistente com a fonte de referência, ou não verificável. Os autores distinguem dois tipos fundamentais:</a:t>
            </a:r>
          </a:p>
          <a:p>
            <a:r>
              <a:t>• Alucinação intrínseca: o conteúdo gerado contradiz diretamente o documento-fonte (ex: sumarização que inverte fatos do original).</a:t>
            </a:r>
          </a:p>
          <a:p>
            <a:r>
              <a:t>• Alucinação extrínseca: o conteúdo gerado não pode ser verificado na fonte (ex: detalhes inventados que não estão no documento original, podendo ser verdadeiros ou falsos no mundo real).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de mais de 150 artigos publicados entre 2017 e 2022, cobrindo tarefas de NLG como sumarização, tradução, diálogo, geração de código, QA e geração de dados. Os autores constroem uma taxonomia unificada que permite comparar resultados entre diferentes tarefas.</a:t>
            </a:r>
          </a:p>
          <a:p>
            <a:endParaRPr/>
          </a:p>
          <a:p>
            <a:r>
              <a:t>CAUSAS DE ALUCINAÇÃO (análise por camada)</a:t>
            </a:r>
          </a:p>
          <a:p>
            <a:r>
              <a:t>1. Dados de treinamento: corpus ruidosos, inconsistentes ou desatualizados. Correlações espúrias no pré-treinamento. Dados de alinhamento (RLHF) que recompensam fluência sem penalizar incorreção factual.</a:t>
            </a:r>
          </a:p>
          <a:p>
            <a:r>
              <a:t>2. Estratégias de decodificação: amostragem com temperatura alta aumenta criatividade mas também alucinação. Beam search pode selecionar sequências coerentes mas incorretas.</a:t>
            </a:r>
          </a:p>
          <a:p>
            <a:r>
              <a:t>3. Arquitetura: mecanismo de atenção pode distribuir peso em tokens irrelevantes. Projeções de camadas superiores podem "confabular" ao integrar informações de diferentes partes do contexto.</a:t>
            </a:r>
          </a:p>
          <a:p>
            <a:r>
              <a:t>4. Treinamento de alinhamento: modelos RLHF aprendem a gerar texto que humanos aprovam — humanos são melhores em avaliar fluência do que veracidade.</a:t>
            </a:r>
          </a:p>
          <a:p>
            <a:endParaRPr/>
          </a:p>
          <a:p>
            <a:r>
              <a:t>MÉTRICAS DE AVALIAÇÃO</a:t>
            </a:r>
          </a:p>
          <a:p>
            <a:r>
              <a:t>• Faithfulness: grau em que a geração está ancorada na fonte. Medido por NLI (Natural Language Inference) ou modelos de QA.</a:t>
            </a:r>
          </a:p>
          <a:p>
            <a:r>
              <a:t>• Factuality: alinhamento com conhecimento factual externo. Mais difícil de medir automaticamente.</a:t>
            </a:r>
          </a:p>
          <a:p>
            <a:r>
              <a:t>• ROUGE, BERTScore: métricas comuns mas insensíveis a alucinação — um texto alucinado pode ter ROUGE alto se o estilo for similar.</a:t>
            </a:r>
          </a:p>
          <a:p>
            <a:r>
              <a:t>• FactScore: métrica recente que decompõe afirmações e verifica cada uma individualmente.</a:t>
            </a:r>
          </a:p>
          <a:p>
            <a:endParaRPr/>
          </a:p>
          <a:p>
            <a:r>
              <a:t>ESTRATÉGIAS DE MITIGAÇÃO</a:t>
            </a:r>
          </a:p>
          <a:p>
            <a:r>
              <a:t>1. Retrieval-Augmented Generation (RAG): ancora a geração em documentos recuperados, convertendo alucinação extrínseca em verificável.</a:t>
            </a:r>
          </a:p>
          <a:p>
            <a:r>
              <a:t>2. Faithfulness training: treinar modelos com penalização específica para inconsistências com a fonte.</a:t>
            </a:r>
          </a:p>
          <a:p>
            <a:r>
              <a:t>3. Post-hoc correction: verificadores externos que detectam e corrigem afirmações incorretas após a geração.</a:t>
            </a:r>
          </a:p>
          <a:p>
            <a:r>
              <a:t>4. Chain-of-thought: raciocínio passo a passo reduz alucinação em tarefas de raciocínio complexo.</a:t>
            </a:r>
          </a:p>
          <a:p>
            <a:r>
              <a:t>5. Self-consistency: gerar múltiplas respostas e selecionar a mais frequente.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Alucinação não é um bug a ser corrigido em versões futuras — é uma propriedade emergente de como LLMs funcionam. Qualquer sistema de IA de alto desempenho deve ter mecanismos explícitos de grounding (retrieval), validação (human-in-the-loop) e monitoramento de faithfulness. Ignorar alucinação é aceitar risco sistêmico.</a:t>
            </a:r>
          </a:p>
          <a:p>
            <a:endParaRPr/>
          </a:p>
          <a:p>
            <a:r>
              <a:t>RESENHA TÉCNICA — Amershi et al. (2019)</a:t>
            </a:r>
          </a:p>
          <a:p>
            <a:r>
              <a:t>"Guidelines for Human-AI Interaction"</a:t>
            </a:r>
          </a:p>
          <a:p>
            <a:r>
              <a:t>CHI 2019 | https://dl.acm.org/doi/10.1145/3290605.3300233</a:t>
            </a:r>
          </a:p>
          <a:p>
            <a:endParaRPr/>
          </a:p>
          <a:p>
            <a:r>
              <a:t>PROBLEMA DE PESQUISA</a:t>
            </a:r>
          </a:p>
          <a:p>
            <a:r>
              <a:t>Derivar um conjunto de diretrizes de design aplicáveis e testáveis para sistemas de IA interativos, que sejam suficientemente gerais para cobrir múltiplos domínios e suficientemente específicas para orientar decisões de design concretas.</a:t>
            </a:r>
          </a:p>
          <a:p>
            <a:endParaRPr/>
          </a:p>
          <a:p>
            <a:r>
              <a:t>METODOLOGIA</a:t>
            </a:r>
          </a:p>
          <a:p>
            <a:r>
              <a:t>Processo iterativo em três fases: (1) revisão e síntese de 168 princípios de design de IA de literatura existente, resultando em 20 heurísticas candidatas; (2) avaliação por 49 designers e pesquisadores de IA em contextos de design real, com análise de incidentes críticos; (3) refinamento para 18 diretrizes finais com exemplos concretos, avaliadas em um estudo com 169 participantes usando 18 produtos de IA existentes da Microsoft.</a:t>
            </a:r>
          </a:p>
          <a:p>
            <a:endParaRPr/>
          </a:p>
          <a:p>
            <a:r>
              <a:t>AS 18 DIRETRIZES (organizadas em 4 fases temporais)</a:t>
            </a:r>
          </a:p>
          <a:p>
            <a:endParaRPr/>
          </a:p>
          <a:p>
            <a:r>
              <a:t>FASE 1 — Inicialmente (quando o usuário encontra o sistema):</a:t>
            </a:r>
          </a:p>
          <a:p>
            <a:r>
              <a:t>G1. Deixar claro o que o sistema de IA pode fazer.</a:t>
            </a:r>
          </a:p>
          <a:p>
            <a:r>
              <a:t>G2. Deixar claro o quão bem o sistema de IA faz o que faz.</a:t>
            </a:r>
          </a:p>
          <a:p>
            <a:r>
              <a:t>G3. Calibrar a confiança do usuário com base na frequência e no impacto dos erros.</a:t>
            </a:r>
          </a:p>
          <a:p>
            <a:r>
              <a:t>G4. Apresentar as limitações do sistema de forma que não afaste usuários sem motivo.</a:t>
            </a:r>
          </a:p>
          <a:p>
            <a:endParaRPr/>
          </a:p>
          <a:p>
            <a:r>
              <a:t>FASE 2 — Durante a interação:</a:t>
            </a:r>
          </a:p>
          <a:p>
            <a:r>
              <a:t>G5. Combinar o comportamento do sistema com as normas sociais do contexto.</a:t>
            </a:r>
          </a:p>
          <a:p>
            <a:r>
              <a:t>G6. Mitigar o impacto social de erros do sistema.</a:t>
            </a:r>
          </a:p>
          <a:p>
            <a:r>
              <a:t>G7. Apoiar ações de eficiência para usuários experientes.</a:t>
            </a:r>
          </a:p>
          <a:p>
            <a:r>
              <a:t>G8. Ser contextualmente relevante: mostrar informações adequadas ao momento.</a:t>
            </a:r>
          </a:p>
          <a:p>
            <a:r>
              <a:t>G9. Apoiar o controle do usuário.</a:t>
            </a:r>
          </a:p>
          <a:p>
            <a:r>
              <a:t>G10. Notificar o usuário em tempo hábil quando o sistema não consegue executar a tarefa.</a:t>
            </a:r>
          </a:p>
          <a:p>
            <a:endParaRPr/>
          </a:p>
          <a:p>
            <a:r>
              <a:t>FASE 3 — Quando algo dá errado:</a:t>
            </a:r>
          </a:p>
          <a:p>
            <a:r>
              <a:t>G11. Tornar claro por que o sistema fez o que fez.</a:t>
            </a:r>
          </a:p>
          <a:p>
            <a:r>
              <a:t>G12. Lembrar ao usuário que o sistema é falível.</a:t>
            </a:r>
          </a:p>
          <a:p>
            <a:r>
              <a:t>G13. Facilitar ao usuário a reversão de erros do sistema.</a:t>
            </a:r>
          </a:p>
          <a:p>
            <a:r>
              <a:t>G14. Facilitar ao usuário a avaliação da saída do sistema.</a:t>
            </a:r>
          </a:p>
          <a:p>
            <a:endParaRPr/>
          </a:p>
          <a:p>
            <a:r>
              <a:t>FASE 4 — Ao longo do tempo:</a:t>
            </a:r>
          </a:p>
          <a:p>
            <a:r>
              <a:t>G15. Monitorar e notificar o usuário sobre mudanças no comportamento do sistema.</a:t>
            </a:r>
          </a:p>
          <a:p>
            <a:r>
              <a:t>G16. Permitir ao usuário adaptar o comportamento do sistema.</a:t>
            </a:r>
          </a:p>
          <a:p>
            <a:r>
              <a:t>G17. Preservar a privacidade do usuário ao personalizar.</a:t>
            </a:r>
          </a:p>
          <a:p>
            <a:r>
              <a:t>G18. Respeitar as normas sociais ao longo do tempo.</a:t>
            </a:r>
          </a:p>
          <a:p>
            <a:endParaRPr/>
          </a:p>
          <a:p>
            <a:r>
              <a:t>PRINCIPAIS ACHADOS</a:t>
            </a:r>
          </a:p>
          <a:p>
            <a:r>
              <a:t>Designers acham as diretrizes mais úteis nas fases "quando algo dá errado" e "ao longo do tempo" — justamente as menos consideradas em práticas correntes de design. A diretriz G2 (deixar claro o quão bem o sistema faz) é a mais frequentemente violada em produtos reais.</a:t>
            </a:r>
          </a:p>
          <a:p>
            <a:endParaRPr/>
          </a:p>
          <a:p>
            <a:r>
              <a:t>LIMITAÇÕES</a:t>
            </a:r>
          </a:p>
          <a:p>
            <a:r>
              <a:t>Diretrizes derivadas principalmente de produtos de produtividade e assistentes conversacionais da Microsoft. Aplicabilidade direta a domínios de alto risco (medicina, direito, segurança) requer validação adicional. As diretrizes são descritivas, não algoritmos de design — exigem julgamento contextual.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Amershi (2019) é o framework de governança implícito em toda a aula. Cada decisão de design do sistema da academia — quando alertar o professor sobre restrição médica, como mostrar histórico de forma acionável, como registrar mudanças de plano — é uma instância dessas diretrizes. O human-in-the-loop não é opção de design: é diretriz G9.</a:t>
            </a:r>
          </a:p>
          <a:p>
            <a:endParaRPr/>
          </a:p>
          <a:p>
            <a:r>
              <a:t>RESENHA TÉCNICA — Sahoo et al. (2024)</a:t>
            </a:r>
          </a:p>
          <a:p>
            <a:r>
              <a:t>"A Systematic Survey of Prompt Engineering in Large Language Models: Techniques and Applications"</a:t>
            </a:r>
          </a:p>
          <a:p>
            <a:r>
              <a:t>arXiv:2402.07927 | https://arxiv.org/abs/2402.07927</a:t>
            </a:r>
          </a:p>
          <a:p>
            <a:endParaRPr/>
          </a:p>
          <a:p>
            <a:r>
              <a:t>PROBLEMA DE PESQUISA</a:t>
            </a:r>
          </a:p>
          <a:p>
            <a:r>
              <a:t>Organizar o campo emergente de prompt engineering em uma taxonomia coerente, comparar o desempenho de diferentes técnicas por tipo de tarefa, e identificar lacunas de pesquisa.</a:t>
            </a:r>
          </a:p>
          <a:p>
            <a:endParaRPr/>
          </a:p>
          <a:p>
            <a:r>
              <a:t>TAXONOMIA DE TÉCNICAS</a:t>
            </a:r>
          </a:p>
          <a:p>
            <a:endParaRPr/>
          </a:p>
          <a:p>
            <a:r>
              <a:t>NÍVEL 1 — Prompting básico:</a:t>
            </a:r>
          </a:p>
          <a:p>
            <a:r>
              <a:t>• Zero-shot: instrução sem exemplos. Funciona para tarefas simples, degrada em tarefas de raciocínio multi-passo.</a:t>
            </a:r>
          </a:p>
          <a:p>
            <a:r>
              <a:t>• Few-shot (in-context learning): exemplos de entrada-saída no prompt. Melhora drasticamente tarefas estruturadas. Sensível à ordem e qualidade dos exemplos.</a:t>
            </a:r>
          </a:p>
          <a:p>
            <a:endParaRPr/>
          </a:p>
          <a:p>
            <a:r>
              <a:t>NÍVEL 2 — Prompting com raciocínio explícito (Chain-of-Thought):</a:t>
            </a:r>
          </a:p>
          <a:p>
            <a:r>
              <a:t>• CoT standard: adicionar "vamos pensar passo a passo" ou exemplos com cadeia de raciocínio. Wei et al. (2022) mostram ganhos de 20-40% em benchmarks de raciocínio matemático.</a:t>
            </a:r>
          </a:p>
          <a:p>
            <a:r>
              <a:t>• Zero-shot CoT: sem exemplos, apenas a instrução de raciocinar passo a passo.</a:t>
            </a:r>
          </a:p>
          <a:p>
            <a:r>
              <a:t>• Auto-CoT: gerar automaticamente as cadeias de raciocínio via clustering e seleção de exemplos representativos.</a:t>
            </a:r>
          </a:p>
          <a:p>
            <a:r>
              <a:t>• Tree of Thought (ToT): explorar múltiplos caminhos de raciocínio em paralelo, com avaliação e poda. Melhor para problemas de busca.</a:t>
            </a:r>
          </a:p>
          <a:p>
            <a:endParaRPr/>
          </a:p>
          <a:p>
            <a:r>
              <a:t>NÍVEL 3 — Decomposição de problemas:</a:t>
            </a:r>
          </a:p>
          <a:p>
            <a:r>
              <a:t>• Least-to-most: decompor problema complexo em subproblemas, resolver sequencialmente.</a:t>
            </a:r>
          </a:p>
          <a:p>
            <a:r>
              <a:t>• Plan-and-Solve: gerar plano antes de executar — reduz erros de cálculo e esquecimento de passos.</a:t>
            </a:r>
          </a:p>
          <a:p>
            <a:r>
              <a:t>• Decomposed Prompting: cada subproblema resolvido por um prompt especializado.</a:t>
            </a:r>
          </a:p>
          <a:p>
            <a:endParaRPr/>
          </a:p>
          <a:p>
            <a:r>
              <a:t>NÍVEL 4 — Auto-refinamento e ensemble:</a:t>
            </a:r>
          </a:p>
          <a:p>
            <a:r>
              <a:t>• Self-refinement: gerar, criticar e revisar a própria saída iterativamente.</a:t>
            </a:r>
          </a:p>
          <a:p>
            <a:r>
              <a:t>• Self-consistency: gerar N respostas com amostragem, votar na mais frequente. Robusto mas custoso.</a:t>
            </a:r>
          </a:p>
          <a:p>
            <a:r>
              <a:t>• Universal Self-Adaptive Prompting (USP): selecionar automaticamente a técnica de prompting mais adequada para a tarefa.</a:t>
            </a:r>
          </a:p>
          <a:p>
            <a:endParaRPr/>
          </a:p>
          <a:p>
            <a:r>
              <a:t>NÍVEL 5 — Prompting com acesso externo:</a:t>
            </a:r>
          </a:p>
          <a:p>
            <a:r>
              <a:t>• RAG-prompting: recuperar documentos relevantes antes de gerar resposta.</a:t>
            </a:r>
          </a:p>
          <a:p>
            <a:r>
              <a:t>• ReAct: intercalar raciocínio (Reason) com ação (Act) — busca, cálculo, execução de código.</a:t>
            </a:r>
          </a:p>
          <a:p>
            <a:r>
              <a:t>• Reflexion: usar memória de episódios anteriores para refinar estratégia.</a:t>
            </a:r>
          </a:p>
          <a:p>
            <a:endParaRPr/>
          </a:p>
          <a:p>
            <a:r>
              <a:t>PRINCIPAIS ACHADOS</a:t>
            </a:r>
          </a:p>
          <a:p>
            <a:r>
              <a:t>• CoT melhora tarefas de raciocínio mas não tarefas factuais simples.</a:t>
            </a:r>
          </a:p>
          <a:p>
            <a:r>
              <a:t>• Few-shot é mais robusto que zero-shot para tarefas estruturadas com domínio específico.</a:t>
            </a:r>
          </a:p>
          <a:p>
            <a:r>
              <a:t>• Self-consistency reduz variância mas aumenta custo linear com N amostras.</a:t>
            </a:r>
          </a:p>
          <a:p>
            <a:r>
              <a:t>• Prompt engineering tem retorno decrescente: após certo ponto, fine-tuning ou RAG são mais eficientes.</a:t>
            </a:r>
          </a:p>
          <a:p>
            <a:r>
              <a:t>• Sensibilidade ao framing: a mesma pergunta com palavras diferentes pode ter acurácia variando em ±20%.</a:t>
            </a:r>
          </a:p>
          <a:p>
            <a:endParaRPr/>
          </a:p>
          <a:p>
            <a:r>
              <a:t>LIMITAÇÕES</a:t>
            </a:r>
          </a:p>
          <a:p>
            <a:r>
              <a:t>A maioria dos benchmarks usa modelos proprietários (GPT-4, GPT-3.5). Generalização para modelos open-source é variável. Benchmarks de raciocínio podem superestimar capacidade real em domínios específicos.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Sahoo (2024) justifica a transição de prompt engineering para context engineering: as técnicas mais eficazes são as que estruturam o contexto (CoT, decomposição, RAG-prompting), não as que refinam a pergunta. A aula propõe exatamente esse nível de maturidade.</a:t>
            </a:r>
          </a:p>
          <a:p>
            <a:endParaRPr/>
          </a:p>
          <a:p>
            <a:r>
              <a:t>RESENHA TÉCNICA — Krishna et al. (2024)</a:t>
            </a:r>
          </a:p>
          <a:p>
            <a:r>
              <a:t>"Using LLMs in Software Requirements Specifications: An Empirical Evaluation"</a:t>
            </a:r>
          </a:p>
          <a:p>
            <a:r>
              <a:t>arXiv:2404.17406 | https://arxiv.org/abs/2404.17406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empiricamente a capacidade de LLMs (especificamente GPT-4) de gerar e refinar Especificações de Requisitos de Software (SRS) a partir de descrições de stakeholders, medindo qualidade em múltiplas dimensões.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30 projetos de software de complexidade variada. Para cada projeto: (1) geração de SRS via GPT-4 a partir de descrição em linguagem natural; (2) avaliação por especialistas em RE usando rubrica estruturada; (3) comparação com SRS escritas manualmente por profissionais experientes. Métricas avaliadas: completude, correção, consistência, não-ambiguidade, rastreabilidade e testabilidade.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Completude (estrutural): LLMs geram estruturas de SRS completas e bem organizadas — seções obrigatórias, subseções, numeração. Pontuação média 4.1/5 vs 4.3/5 para humanos.</a:t>
            </a:r>
          </a:p>
          <a:p>
            <a:endParaRPr/>
          </a:p>
          <a:p>
            <a:r>
              <a:t>Correção factual: maior diferença observada. LLMs inventam requisitos não especificados (média de 3.2 requisitos inventados por SRS). Em projetos com domínio específico (médico, financeiro), a taxa sobe para 5.8 requisitos incorretos.</a:t>
            </a:r>
          </a:p>
          <a:p>
            <a:endParaRPr/>
          </a:p>
          <a:p>
            <a:r>
              <a:t>Consistência interna: LLMs cometem inconsistências entre requisitos funcionais e não-funcionais em 67% das SRS geradas — ex: especificar "tempo de resposta &lt; 200ms" no RF e "disponibilidade 99.9%" no RNF sem verificar compatibilidade.</a:t>
            </a:r>
          </a:p>
          <a:p>
            <a:endParaRPr/>
          </a:p>
          <a:p>
            <a:r>
              <a:t>Ambiguidade: LLMs reduzem ambiguidade lexical (usar termos técnicos precisos) mas aumentam ambiguidade semântica (requisitos que parecem claros mas admitem múltiplas implementações válidas).</a:t>
            </a:r>
          </a:p>
          <a:p>
            <a:endParaRPr/>
          </a:p>
          <a:p>
            <a:r>
              <a:t>Correlação com input: a qualidade da SRS gerada correlaciona fortemente (r=0.78) com a qualidade do documento de entrada. Descrições ricas em exemplos, restrições e personas geram SRS significativamente melhores.</a:t>
            </a:r>
          </a:p>
          <a:p>
            <a:endParaRPr/>
          </a:p>
          <a:p>
            <a:r>
              <a:t>LIMITAÇÕES</a:t>
            </a:r>
          </a:p>
          <a:p>
            <a:r>
              <a:t>Amostra de 30 projetos pode não ser representativa de domínios críticos. Avaliadores são pesquisadores, não profissionais de mercado. GPT-4 pode ter visto projetos similares no treinamento (data contamination).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Este artigo fornece a evidência empírica do que a aula defende: context engineering (input rico) determina a qualidade da saída. O Spec Kit resolve o problema identificado — dar à IA o material necessário para gerar requisitos corretos, não apenas estruturados.</a:t>
            </a:r>
          </a:p>
          <a:p>
            <a:endParaRPr/>
          </a:p>
          <a:p>
            <a:r>
              <a:t>RESENHA TÉCNICA — Cheng et al. (2024)</a:t>
            </a:r>
          </a:p>
          <a:p>
            <a:r>
              <a:t>"Generative AI for Requirements Engineering: A Systematic Literature Review"</a:t>
            </a:r>
          </a:p>
          <a:p>
            <a:r>
              <a:t>arXiv:2401.01041 | https://arxiv.org/abs/2401.01041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o uso de IA generativa (GenAI) em todas as atividades de Engenharia de Requisitos, identificar o estado da arte, lacunas de pesquisa e tendências emergentes.</a:t>
            </a:r>
          </a:p>
          <a:p>
            <a:endParaRPr/>
          </a:p>
          <a:p>
            <a:r>
              <a:t>METODOLOGIA</a:t>
            </a:r>
          </a:p>
          <a:p>
            <a:r>
              <a:t>Revisão sistemática seguindo protocolo PRISMA. Corpus: 89 artigos selecionados de 342 candidatos publicados entre 2018 e 2023. Critério de inclusão: uso explícito de modelos generativos (Transformers, LLMs, modelos de difusão) em alguma atividade de RE. Classificação por atividade de RE, tipo de modelo, domínio de aplicação e nível de automação.</a:t>
            </a:r>
          </a:p>
          <a:p>
            <a:endParaRPr/>
          </a:p>
          <a:p>
            <a:r>
              <a:t>MAPEAMENTO POR ATIVIDADE DE RE</a:t>
            </a:r>
          </a:p>
          <a:p>
            <a:endParaRPr/>
          </a:p>
          <a:p>
            <a:r>
              <a:t>Elicitação (23% dos estudos): GenAI como facilitador de entrevistas, geração de perguntas para stakeholders, análise de sentimento em feedback de usuários. Maturidade: baixa. Principal limitação: modelos não capturam contexto organizacional e político.</a:t>
            </a:r>
          </a:p>
          <a:p>
            <a:endParaRPr/>
          </a:p>
          <a:p>
            <a:r>
              <a:t>Especificação (41% dos estudos — área mais estudada): geração de histórias de usuário, casos de uso, SRS formais e semi-formais. Maturidade: média-alta. GPT-4 consegue gerar templates válidos; limitação em domínios específicos.</a:t>
            </a:r>
          </a:p>
          <a:p>
            <a:endParaRPr/>
          </a:p>
          <a:p>
            <a:r>
              <a:t>Análise e modelagem (18%): geração de diagramas conceituais (UML, BPMN) a partir de texto. Maturidade: média. Ferramentas baseadas em LLM como ChatUML mostram resultados promissores mas requerem validação especializada.</a:t>
            </a:r>
          </a:p>
          <a:p>
            <a:endParaRPr/>
          </a:p>
          <a:p>
            <a:r>
              <a:t>Verificação e validação (12%): detecção de inconsistências, ambiguidades e completude. Maturidade: baixa-média. LLMs são razoáveis para detecção de ambiguidade mas fracos para verificação formal.</a:t>
            </a:r>
          </a:p>
          <a:p>
            <a:endParaRPr/>
          </a:p>
          <a:p>
            <a:r>
              <a:t>Gerenciamento de rastreabilidade (6%): geração e manutenção de links entre artefatos de RE. Maturidade: emergente.</a:t>
            </a:r>
          </a:p>
          <a:p>
            <a:endParaRPr/>
          </a:p>
          <a:p>
            <a:r>
              <a:t>PRINCIPAIS ACHADOS</a:t>
            </a:r>
          </a:p>
          <a:p>
            <a:r>
              <a:t>• A integração de GenAI em RE é mais efetiva em tarefas de geração/transformação (NL → formal) do que em tarefas de análise crítica.</a:t>
            </a:r>
          </a:p>
          <a:p>
            <a:r>
              <a:t>• Domínios com alta especificidade (sistemas embarcados, sistemas de segurança crítica) mostram degradação mais acentuada.</a:t>
            </a:r>
          </a:p>
          <a:p>
            <a:r>
              <a:t>• Nenhum estudo avaliado demonstrou uso de GenAI em requisitos de privacidade e segurança com rigor suficiente.</a:t>
            </a:r>
          </a:p>
          <a:p>
            <a:r>
              <a:t>• Rastreabilidade automatizada é o gap mais relevante identificado — área com maior potencial de impacto.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Cheng (2024) situa o Spec Kit dentro do estado da arte: usar GenAI para transformação NL → especificação é a aplicação mais madura e com maior evidência de valor. A aula aplica exatamente esse padrão, com o cuidado adicional de estruturar o input (narrativa rica) antes de invocar a geração.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TÍTULOS SÃO CLICÁVEIS — abrirão o artigo no navegador.</a:t>
            </a:r>
          </a:p>
          <a:p>
            <a:endParaRPr/>
          </a:p>
          <a:p>
            <a:r>
              <a:t>RESENHAS COMPLETAS NESTE PAINEL:</a:t>
            </a:r>
          </a:p>
          <a:p>
            <a:endParaRPr/>
          </a:p>
          <a:p>
            <a:r>
              <a:t>RESENHA TÉCNICA — Ahmad et al. (2023)</a:t>
            </a:r>
          </a:p>
          <a:p>
            <a:r>
              <a:t>"Requirements Engineering for Artificial Intelligence Systems: A Systematic Mapping Study"</a:t>
            </a:r>
          </a:p>
          <a:p>
            <a:r>
              <a:t>Information and Software Technology | https://doi.org/10.1016/j.infsof.2023.107176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como a comunidade de Engenharia de Requisitos está abordando os desafios específicos de sistemas baseados em IA/ML — identificando categorias de requisitos, técnicas propostas, domínios de aplicação e lacunas críticas.</a:t>
            </a:r>
          </a:p>
          <a:p>
            <a:endParaRPr/>
          </a:p>
          <a:p>
            <a:r>
              <a:t>METODOLOGIA</a:t>
            </a:r>
          </a:p>
          <a:p>
            <a:r>
              <a:t>Mapeamento sistemático (broader que SLR) de 71 estudos primários publicados entre 2015 e 2022. Classificação em duas dimensões cruzadas: (1) tipo de requisito (funcional, de qualidade, de processo, de dados); (2) atividade de RE (elicitação, especificação, verificação, gerenciamento).</a:t>
            </a:r>
          </a:p>
          <a:p>
            <a:endParaRPr/>
          </a:p>
          <a:p>
            <a:r>
              <a:t>CATEGORIAS DE REQUISITOS PARA SISTEMAS DE IA</a:t>
            </a:r>
          </a:p>
          <a:p>
            <a:endParaRPr/>
          </a:p>
          <a:p>
            <a:r>
              <a:t>Requisitos de dados (35% dos estudos): qualidade, proveniência, representatividade, privacidade e atualidade dos dados de treinamento. Descoberta: a maioria dos projetos não especifica formalmente requisitos de dados — tratam dados como insumo, não como componente com qualidade mensurável.</a:t>
            </a:r>
          </a:p>
          <a:p>
            <a:endParaRPr/>
          </a:p>
          <a:p>
            <a:r>
              <a:t>Requisitos de modelo: acurácia, fairness, robustez, interpretabilidade e explicabilidade. A especificação de fairness é o requisito mais citado mas menos operacionalizado — existe como intenção, não como critério verificável.</a:t>
            </a:r>
          </a:p>
          <a:p>
            <a:endParaRPr/>
          </a:p>
          <a:p>
            <a:r>
              <a:t>Requisitos de sistema: integração com sistemas legados, requisitos de latência e throughput, monitoramento em produção (drift detection).</a:t>
            </a:r>
          </a:p>
          <a:p>
            <a:endParaRPr/>
          </a:p>
          <a:p>
            <a:r>
              <a:t>Requisitos de processo: rastreabilidade de decisões de design, auditabilidade de experimentos, documentação de trade-offs. Praticamente ausente em projetos de mercado.</a:t>
            </a:r>
          </a:p>
          <a:p>
            <a:endParaRPr/>
          </a:p>
          <a:p>
            <a:r>
              <a:t>DISTINÇÃO CENTRAL: RE PARA SISTEMAS DE IA vs RE COM FERRAMENTAS DE IA</a:t>
            </a:r>
          </a:p>
          <a:p>
            <a:r>
              <a:t>O artigo distingue dois contextos diferentes que frequentemente se confundem:</a:t>
            </a:r>
          </a:p>
          <a:p>
            <a:r>
              <a:t>(A) RE para sistemas de IA: especificar requisitos de um sistema cujo comportamento é determinado por modelo de ML — aqui a incerteza do modelo deve ser gerenciada como requisito.</a:t>
            </a:r>
          </a:p>
          <a:p>
            <a:r>
              <a:t>(B) RE com ferramentas de IA: usar GenAI para apoiar o processo de RE de qualquer sistema — aqui a IA é ferramenta auxiliar do engenheiro.</a:t>
            </a:r>
          </a:p>
          <a:p>
            <a:endParaRPr/>
          </a:p>
          <a:p>
            <a:r>
              <a:t>PRINCIPAIS ACHADOS</a:t>
            </a:r>
          </a:p>
          <a:p>
            <a:r>
              <a:t>• Explicabilidade é citada como requisito em 78% dos estudos sobre sistemas de IA de alto risco, mas apenas 12% propõem métricas verificáveis para ela.</a:t>
            </a:r>
          </a:p>
          <a:p>
            <a:r>
              <a:t>• Fairness, safety e privacy aparecem frequentemente como "requisitos de qualidade" mas raramente com critérios de aceitação mensuráveis.</a:t>
            </a:r>
          </a:p>
          <a:p>
            <a:r>
              <a:t>• A rastreabilidade entre requisito de modelo e decisão de treinamento é o gap técnico mais crítico identificado.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Ahmad (2023) fundamenta por que o sistema da academia precisa de requisitos explícitos de rastreabilidade e auditabilidade — não como burocracia, mas como mecanismos de accountability quando decisões afetam saúde humana. O caso de uso da academia ilustra exatamente o domínio de alto risco que o artigo identifica como carente de especificação adequada.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RESENHA TÉCNICA — Karpukhin et al. (2020)</a:t>
            </a:r>
          </a:p>
          <a:p>
            <a:r>
              <a:t>"Dense Passage Retrieval for Open-Domain Question Answering"</a:t>
            </a:r>
          </a:p>
          <a:p>
            <a:r>
              <a:t>EMNLP 2020 | https://arxiv.org/abs/2004.04906</a:t>
            </a:r>
          </a:p>
          <a:p>
            <a:endParaRPr/>
          </a:p>
          <a:p>
            <a:r>
              <a:t>PROBLEMA DE PESQUISA</a:t>
            </a:r>
          </a:p>
          <a:p>
            <a:r>
              <a:t>Sistemas de QA de domínio aberto dependem de recuperação eficiente de passagens relevantes de corpora massivos. TF-IDF e BM25 (busca esparsa por palavras-chave) dominavam o campo. A hipótese: embeddings densos aprendidos podem capturar relevância semântica mais efetivamente, especialmente quando a formulação da pergunta não compartilha vocabulário com a resposta.</a:t>
            </a:r>
          </a:p>
          <a:p>
            <a:endParaRPr/>
          </a:p>
          <a:p>
            <a:r>
              <a:t>ARQUITETURA DPR (Dense Passage Retrieval)</a:t>
            </a:r>
          </a:p>
          <a:p>
            <a:endParaRPr/>
          </a:p>
          <a:p>
            <a:r>
              <a:t>Bi-encoder:</a:t>
            </a:r>
          </a:p>
          <a:p>
            <a:r>
              <a:t>• Encoder de perguntas: BERT-base treinado para mapear perguntas em vetores de 768 dimensões.</a:t>
            </a:r>
          </a:p>
          <a:p>
            <a:r>
              <a:t>• Encoder de passagens: BERT-base independente que mapeia passagens em vetores do mesmo espaço.</a:t>
            </a:r>
          </a:p>
          <a:p>
            <a:r>
              <a:t>• Similaridade: produto interno (dot product) entre vetor de pergunta e vetor de passagem.</a:t>
            </a:r>
          </a:p>
          <a:p>
            <a:r>
              <a:t>• Busca eficiente em escala: FAISS (Facebook AI Similarity Search) para indexação e busca ANN (Approximate Nearest Neighbor) em corpora de 21 milhões de passagens.</a:t>
            </a:r>
          </a:p>
          <a:p>
            <a:endParaRPr/>
          </a:p>
          <a:p>
            <a:r>
              <a:t>ESTRATÉGIA DE TREINAMENTO</a:t>
            </a:r>
          </a:p>
          <a:p>
            <a:r>
              <a:t>• Pares positivos: pergunta + passagem que contém a resposta correta.</a:t>
            </a:r>
          </a:p>
          <a:p>
            <a:r>
              <a:t>• Negativos difíceis (hard negatives): passagens retornadas por BM25 que não contêm a resposta — passagens semanticamente relacionadas mas incorretas.</a:t>
            </a:r>
          </a:p>
          <a:p>
            <a:r>
              <a:t>• In-batch negatives: outras passagens positivas do batch como negativos adicionais — técnica computacionalmente eficiente que aumenta a diversidade de negativos sem custo extra de computação.</a:t>
            </a:r>
          </a:p>
          <a:p>
            <a:r>
              <a:t>• Objetivo: maximizar similaridade entre pergunta e passagem positiva, minimizar com negativos.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TriviaQA, WebQuestions, CuratedTrec, SQuAD.</a:t>
            </a:r>
          </a:p>
          <a:p>
            <a:r>
              <a:t>Resultado: DPR supera BM25 em todos os benchmarks com margem significativa (ex: Natural Questions: +9.8% em top-20 retrieval accuracy). O ganho é maior exatamente nos casos onde pergunta e resposta não compartilham vocabulário — confirmando a hipótese inicial.</a:t>
            </a:r>
          </a:p>
          <a:p>
            <a:endParaRPr/>
          </a:p>
          <a:p>
            <a:r>
              <a:t>ANÁLISE DE ERROS</a:t>
            </a:r>
          </a:p>
          <a:p>
            <a:r>
              <a:t>Casos onde BM25 supera DPR: perguntas com entidades raras ou nomes próprios incomuns, onde sobreposição lexical é altamente informativa. Combinação BM25 + DPR (ensemble) frequentemente supera ambos individualmente.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DPR é a fundação técnica que torna o retrieval semântico prático. No contexto da aula: buscar o histórico de avaliação de um aluno pela pergunta "aluno tem restrição cardíaca?" requer busca semântica — não busca por palavra-chave. DPR (ou seus sucessores como ColBERT, E5, BGE) é o mecanismo que torna isso possível em escala.</a:t>
            </a:r>
          </a:p>
          <a:p>
            <a:endParaRPr/>
          </a:p>
          <a:p>
            <a:r>
              <a:t>RESENHA TÉCNICA — Jiang et al. (2024)</a:t>
            </a:r>
          </a:p>
          <a:p>
            <a:r>
              <a:t>"LongLLMLingua: Accelerating and Enhancing LLMs in Long Context Scenarios via Prompt Compression"</a:t>
            </a:r>
          </a:p>
          <a:p>
            <a:r>
              <a:t>arXiv:2310.06839 | https://arxiv.org/abs/2310.06839</a:t>
            </a:r>
          </a:p>
          <a:p>
            <a:endParaRPr/>
          </a:p>
          <a:p>
            <a:r>
              <a:t>PROBLEMA DE PESQUISA</a:t>
            </a:r>
          </a:p>
          <a:p>
            <a:r>
              <a:t>Contextos longos degradam o desempenho de LLMs (fenômeno "lost in the middle": informação no meio do contexto é menos utilizada que informação no início e fim) e aumentam custo de inferência quadraticamente. Como comprimir prompts longos preservando a informação semanticamente relevante para uma query específica?</a:t>
            </a:r>
          </a:p>
          <a:p>
            <a:endParaRPr/>
          </a:p>
          <a:p>
            <a:r>
              <a:t>LIMITAÇÃO DO PROBLEMA ANTECESSOR (LLMLingua)</a:t>
            </a:r>
          </a:p>
          <a:p>
            <a:r>
              <a:t>LLMLingua (Jiang et al., 2023) introduziu compressão de prompt via perplexidade — tokens com baixa perplexidade (previsíveis pelo modelo) são removidos. Limitação: compressão query-agnostic — remove tokens "genéricos" sem considerar o que é relevante para a pergunta específica.</a:t>
            </a:r>
          </a:p>
          <a:p>
            <a:endParaRPr/>
          </a:p>
          <a:p>
            <a:r>
              <a:t>INOVAÇÕES DE LONGLLLMLINGUA</a:t>
            </a:r>
          </a:p>
          <a:p>
            <a:endParaRPr/>
          </a:p>
          <a:p>
            <a:r>
              <a:t>1. Compressão coarse-to-fine em dois estágios:</a:t>
            </a:r>
          </a:p>
          <a:p>
            <a:r>
              <a:t>   - Estágio grosseiro (coarse): ranquear e filtrar documentos inteiros por relevância à query (redução de 50-80% dos documentos).</a:t>
            </a:r>
          </a:p>
          <a:p>
            <a:r>
              <a:t>   - Estágio fino (fine): comprimir passagens selecionadas no nível de token, condicionado na query.</a:t>
            </a:r>
          </a:p>
          <a:p>
            <a:endParaRPr/>
          </a:p>
          <a:p>
            <a:r>
              <a:t>2. Compressão query-aware:</a:t>
            </a:r>
          </a:p>
          <a:p>
            <a:r>
              <a:t>   Calcular perplexidade de cada token condicionado na query (P(token | query, contexto)) em vez de perplexidade incondicional. Tokens que o modelo encontra menos surpreendentes dado a query são candidatos à remoção.</a:t>
            </a:r>
          </a:p>
          <a:p>
            <a:endParaRPr/>
          </a:p>
          <a:p>
            <a:r>
              <a:t>3. Document reordering:</a:t>
            </a:r>
          </a:p>
          <a:p>
            <a:r>
              <a:t>   Reposicionar documentos mais relevantes para as extremidades do contexto (início e fim), explorando o viés posicional dos Transformers (lost-in-the-middle). Passagens relevantes no meio são movidas para posições com maior atenção do modelo.</a:t>
            </a:r>
          </a:p>
          <a:p>
            <a:endParaRPr/>
          </a:p>
          <a:p>
            <a:r>
              <a:t>4. Subsequence recovery:</a:t>
            </a:r>
          </a:p>
          <a:p>
            <a:r>
              <a:t>   Pós-processamento que recupera a resposta no texto original a partir da resposta gerada com o contexto comprimido — mapeia de volta para o documento fonte, aumentando rastreabilidade.</a:t>
            </a:r>
          </a:p>
          <a:p>
            <a:endParaRPr/>
          </a:p>
          <a:p>
            <a:r>
              <a:t>AVALIAÇÃO</a:t>
            </a:r>
          </a:p>
          <a:p>
            <a:r>
              <a:t>Benchmarks: LongBench (7 tarefas de compreensão de contexto longo), ZeroScrolls (contextos de até 100k tokens).</a:t>
            </a:r>
          </a:p>
          <a:p>
            <a:r>
              <a:t>Compressão de até 6x com degradação de desempenho &lt; 5% na maioria das tarefas.</a:t>
            </a:r>
          </a:p>
          <a:p>
            <a:r>
              <a:t>Redução de latência: 1.4-2.6x em sistemas RAG reais.</a:t>
            </a:r>
          </a:p>
          <a:p>
            <a:r>
              <a:t>Redução de custo: proporcional à redução de tokens (impacto direto em custo de API).</a:t>
            </a:r>
          </a:p>
          <a:p>
            <a:endParaRPr/>
          </a:p>
          <a:p>
            <a:r>
              <a:t>LIMITAÇÕES</a:t>
            </a:r>
          </a:p>
          <a:p>
            <a:r>
              <a:t>Performance degrada em tarefas que requerem integração de informações de múltiplas partes do contexto. Estágio de coarse filtering pode eliminar documentos relevantes em casos ambíguos. Adiciona latência de pré-processamento que pode ser maior que o ganho em inferência para contextos pequenos.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LongLLMLingua operacionaliza o princípio "mais tokens não significa mais inteligência". Em sistemas de produção com Memory Bank + RAG, o contexto pode crescer indefinidamente. Compressão inteligente é necessária para manter custo controlado sem degradar qualidade — o trade-off exato que o slide de eficiência contextual discute.</a:t>
            </a:r>
          </a:p>
          <a:p>
            <a:endParaRPr/>
          </a:p>
          <a:p>
            <a:r>
              <a:t>RESENHA TÉCNICA — Mastropaolo et al. (2023)</a:t>
            </a:r>
          </a:p>
          <a:p>
            <a:r>
              <a:t>"On the Robustness of Code Generation Techniques: An Empirical Study on GitHub Copilot"</a:t>
            </a:r>
          </a:p>
          <a:p>
            <a:r>
              <a:t>ICSE 2023 | https://arxiv.org/abs/2302.00438</a:t>
            </a:r>
          </a:p>
          <a:p>
            <a:endParaRPr/>
          </a:p>
          <a:p>
            <a:r>
              <a:t>PROBLEMA DE PESQUISA</a:t>
            </a:r>
          </a:p>
          <a:p>
            <a:r>
              <a:t>GitHub Copilot é apresentado como ferramenta de aumento de produtividade para desenvolvimento de software. Mas quão robusto é seu comportamento? Perturbações semanticamente equivalentes no prompt geram saídas equivalentes? Ou o modelo é sensível a variações superficiais de formulação?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435 problemas de programação de múltiplas fontes (LeetCode, HumanEval, CodeChef). Para cada problema, os autores aplicaram 5 categorias de perturbações semanticamente preservadoras:</a:t>
            </a:r>
          </a:p>
          <a:p>
            <a:endParaRPr/>
          </a:p>
          <a:p>
            <a:r>
              <a:t>1. Renomeação de identificadores: variáveis, funções e parâmetros com nomes diferentes mas igualmente descritivos.</a:t>
            </a:r>
          </a:p>
          <a:p>
            <a:r>
              <a:t>2. Reformulação do docstring: mesma semântica, vocabulário diferente (sinônimos, estrutura de sentença).</a:t>
            </a:r>
          </a:p>
          <a:p>
            <a:r>
              <a:t>3. Reordenação de parâmetros: mudança na ordem de parâmetros de função.</a:t>
            </a:r>
          </a:p>
          <a:p>
            <a:r>
              <a:t>4. Adição de comentários: inserção de comentários explicativos inline.</a:t>
            </a:r>
          </a:p>
          <a:p>
            <a:r>
              <a:t>5. Mudança de tipo de dado: equivalentes funcionais (int vs long, list vs array).</a:t>
            </a:r>
          </a:p>
          <a:p>
            <a:endParaRPr/>
          </a:p>
          <a:p>
            <a:r>
              <a:t>Para cada perturbação, o código gerado pelo Copilot foi avaliado por: corretude (testes unitários), similaridade com solução original do Copilot, e similaridade com a solução correta.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Sensibilidade alta a perturbações superficiais: em 65% dos casos, perturbações semanticamente equivalentes geraram código significativamente diferente (BLEU score &lt; 0.5 entre versões).</a:t>
            </a:r>
          </a:p>
          <a:p>
            <a:endParaRPr/>
          </a:p>
          <a:p>
            <a:r>
              <a:t>Impacto na corretude: em 32% dos casos onde a versão original passava nos testes, ao menos uma perturbação semântica causou falha. O inverso também ocorre: em 18% dos casos onde o original falhou, uma perturbação fez o Copilot gerar código correto.</a:t>
            </a:r>
          </a:p>
          <a:p>
            <a:endParaRPr/>
          </a:p>
          <a:p>
            <a:r>
              <a:t>Renomeação de identificadores: perturbação com maior impacto. Nomes descritivos em inglês informal correlacionam com melhor desempenho — evidência de que o Copilot está fazendo recuperação por padrão (pattern matching) em relação ao corpus de treinamento (GitHub), não raciocínio sobre o problema.</a:t>
            </a:r>
          </a:p>
          <a:p>
            <a:endParaRPr/>
          </a:p>
          <a:p>
            <a:r>
              <a:t>Estrutura do docstring: Copilot é significativamente melhor com docstrings no formato de projetos populares do GitHub (numpy style, Google style) do que com formulações equivalentes em outros formatos.</a:t>
            </a:r>
          </a:p>
          <a:p>
            <a:endParaRPr/>
          </a:p>
          <a:p>
            <a:r>
              <a:t>INTERPRETAÇÃO TEÓRICA</a:t>
            </a:r>
          </a:p>
          <a:p>
            <a:r>
              <a:t>Os resultados são consistentes com a hipótese de Bender (2021): o modelo não "entende" o problema — ele recupera e adapta padrões do corpus de treinamento. Quando a formulação se alinha com padrões comuns do GitHub, a recuperação é bem-sucedida. Quando não se alinha, a saída degrada.</a:t>
            </a:r>
          </a:p>
          <a:p>
            <a:endParaRPr/>
          </a:p>
          <a:p>
            <a:r>
              <a:t>LIMITAÇÕES</a:t>
            </a:r>
          </a:p>
          <a:p>
            <a:r>
              <a:t>Avaliação limitada a corretude por testes unitários — não avalia segurança, manutenibilidade ou eficiência. GitHub Copilot evolui continuamente; resultados podem não refletir versões mais recentes.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Mastropaolo (2023) fundamenta a postura crítica em relação à geração assistida: Copilot é uma ferramenta de recuperação sofisticada, não um raciocínio sobre código. Para código de lógica de negócio específico (como as regras de restrição médica do sistema da academia), a probabilidade de o Copilot acertar sem input cuidadoso é baixa — e a probabilidade de gerar código plausível mas incorreto é alta.</a:t>
            </a:r>
          </a:p>
          <a:p>
            <a:endParaRPr/>
          </a:p>
          <a:p>
            <a:r>
              <a:t>RESENHA TÉCNICA — Yetiştiren et al. (2023)</a:t>
            </a:r>
          </a:p>
          <a:p>
            <a:r>
              <a:t>"Evaluating the Code Quality of AI-Assisted Code Generation Tools: An Empirical Study on GitHub Copilot, Amazon CodeWhisperer, and ChatGPT"</a:t>
            </a:r>
          </a:p>
          <a:p>
            <a:r>
              <a:t>arXiv:2304.10778 | https://arxiv.org/abs/2304.10778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comparativamente a qualidade do código gerado por três ferramentas de IA (GitHub Copilot, Amazon CodeWhisperer, ChatGPT-3.5) em três dimensões críticas para engenharia de software profissional: corretude funcional, segurança e manutenibilidade.</a:t>
            </a:r>
          </a:p>
          <a:p>
            <a:endParaRPr/>
          </a:p>
          <a:p>
            <a:r>
              <a:t>METODOLOGIA</a:t>
            </a:r>
          </a:p>
          <a:p>
            <a:r>
              <a:t>140 problemas de programação categorizados por complexidade (baixa, média, alta) e domínio (algoritmos, estruturas de dados, web, banco de dados, criptografia). Cada problema foi submetido a cada ferramenta com prompts padronizados. Avaliação:</a:t>
            </a:r>
          </a:p>
          <a:p>
            <a:r>
              <a:t>• Corretude: execução de suíte de testes unitários (≥80% aprovação = correto).</a:t>
            </a:r>
          </a:p>
          <a:p>
            <a:r>
              <a:t>• Segurança: análise estática com SonarQube + Semgrep para detecção de vulnerabilidades CWE/CVE.</a:t>
            </a:r>
          </a:p>
          <a:p>
            <a:r>
              <a:t>• Manutenibilidade: métricas de código (complexidade ciclomática, code smells, duplicação, cobertura de comentários) via SonarQube.</a:t>
            </a:r>
          </a:p>
          <a:p>
            <a:endParaRPr/>
          </a:p>
          <a:p>
            <a:r>
              <a:t>RESULTADOS POR DIMENSÃO</a:t>
            </a:r>
          </a:p>
          <a:p>
            <a:endParaRPr/>
          </a:p>
          <a:p>
            <a:r>
              <a:t>CORRETUDE:</a:t>
            </a:r>
          </a:p>
          <a:p>
            <a:r>
              <a:t>• GitHub Copilot: 46.3% dos problemas resolvidos corretamente.</a:t>
            </a:r>
          </a:p>
          <a:p>
            <a:r>
              <a:t>• Amazon CodeWhisperer: 31.1%.</a:t>
            </a:r>
          </a:p>
          <a:p>
            <a:r>
              <a:t>• ChatGPT-3.5: 65.2%.</a:t>
            </a:r>
          </a:p>
          <a:p>
            <a:r>
              <a:t>• Padrão: desempenho degrada significativamente com complexidade crescente. Problemas simples (implementação direta): ~85% correto. Problemas complexos (múltiplos requisitos, edge cases): ~20% correto.</a:t>
            </a:r>
          </a:p>
          <a:p>
            <a:endParaRPr/>
          </a:p>
          <a:p>
            <a:r>
              <a:t>SEGURANÇA:</a:t>
            </a:r>
          </a:p>
          <a:p>
            <a:r>
              <a:t>• 40% do código gerado pelo Copilot contém ao menos uma vulnerabilidade de segurança detectável.</a:t>
            </a:r>
          </a:p>
          <a:p>
            <a:r>
              <a:t>• Vulnerabilidades mais comuns: SQL injection, path traversal, XSS, uso de funções deprecadas, tratamento inadequado de exceções.</a:t>
            </a:r>
          </a:p>
          <a:p>
            <a:r>
              <a:t>• ChatGPT mostra taxa menor (28%) — possivelmente por filtros de alinhamento que evitam padrões obviamente inseguros.</a:t>
            </a:r>
          </a:p>
          <a:p>
            <a:r>
              <a:t>• Criptografia: área com maior concentração de vulnerabilidades — implementações próprias de algoritmos criptográficos são frequentemente geradas e frequentemente inseguras.</a:t>
            </a:r>
          </a:p>
          <a:p>
            <a:endParaRPr/>
          </a:p>
          <a:p>
            <a:r>
              <a:t>MANUTENIBILIDADE:</a:t>
            </a:r>
          </a:p>
          <a:p>
            <a:r>
              <a:t>• Código gerado tem complexidade ciclomática comparável ao código humano médio.</a:t>
            </a:r>
          </a:p>
          <a:p>
            <a:r>
              <a:t>• Code smells frequentes: métodos longos, parâmetros excessivos, magic numbers.</a:t>
            </a:r>
          </a:p>
          <a:p>
            <a:r>
              <a:t>• Comentários: Copilot gera código com comentários de baixa qualidade ou ausentes; ChatGPT gera comentários mais explicativos.</a:t>
            </a:r>
          </a:p>
          <a:p>
            <a:r>
              <a:t>• Duplicação: baixa — as ferramentas não duplicam código literalmente.</a:t>
            </a:r>
          </a:p>
          <a:p>
            <a:endParaRPr/>
          </a:p>
          <a:p>
            <a:r>
              <a:t>ANÁLISE POR DOMÍNIO</a:t>
            </a:r>
          </a:p>
          <a:p>
            <a:r>
              <a:t>Domínios onde ferramentas de IA são mais confiáveis: algoritmos clássicos (ordenação, busca), manipulação de strings, operações matemáticas simples.</a:t>
            </a:r>
          </a:p>
          <a:p>
            <a:r>
              <a:t>Domínios onde ferramentas de IA são menos confiáveis: lógica de negócio específica de domínio, tratamento de concorrência, código de segurança, integração de sistemas.</a:t>
            </a:r>
          </a:p>
          <a:p>
            <a:endParaRPr/>
          </a:p>
          <a:p>
            <a:r>
              <a:t>LIMITAÇÕES</a:t>
            </a:r>
          </a:p>
          <a:p>
            <a:r>
              <a:t>Prompts padronizados podem não representar como engenheiros reais interagem com as ferramentas. Análise estática não captura vulnerabilidades lógicas. Ferramentas evoluem rapidamente.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Yetiştiren (2023) quantifica o risco de "falsa sensação de progresso": Copilot gera código funcional para ~46% dos problemas, mas com vulnerabilidades de segurança em 40% dos casos. Para o sistema da academia — que lida com dados de saúde de alunos — o código gerado requer revisão especializada obrigatória, especialmente em módulos de autenticação, armazenamento de dados médicos e controle de acesso.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3FE6-26B4-AACB-B88F-C96B7CE3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4A761-BCD9-B63F-52AD-859788FBC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3A0EA-6031-86B2-A01B-B157DB0E9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TÍTULOS SÃO CLICÁVEIS — abrirão o artigo no navegador.</a:t>
            </a:r>
          </a:p>
          <a:p>
            <a:endParaRPr/>
          </a:p>
          <a:p>
            <a:r>
              <a:t>RESENHAS COMPLETAS NESTE PAINEL:</a:t>
            </a:r>
          </a:p>
          <a:p>
            <a:endParaRPr/>
          </a:p>
          <a:p>
            <a:r>
              <a:t>RESENHA TÉCNICA — Ahmad et al. (2023)</a:t>
            </a:r>
          </a:p>
          <a:p>
            <a:r>
              <a:t>"Requirements Engineering for Artificial Intelligence Systems: A Systematic Mapping Study"</a:t>
            </a:r>
          </a:p>
          <a:p>
            <a:r>
              <a:t>Information and Software Technology | https://doi.org/10.1016/j.infsof.2023.107176</a:t>
            </a:r>
          </a:p>
          <a:p>
            <a:endParaRPr/>
          </a:p>
          <a:p>
            <a:r>
              <a:t>PROBLEMA DE PESQUISA</a:t>
            </a:r>
          </a:p>
          <a:p>
            <a:r>
              <a:t>Mapear sistematicamente como a comunidade de Engenharia de Requisitos está abordando os desafios específicos de sistemas baseados em IA/ML — identificando categorias de requisitos, técnicas propostas, domínios de aplicação e lacunas críticas.</a:t>
            </a:r>
          </a:p>
          <a:p>
            <a:endParaRPr/>
          </a:p>
          <a:p>
            <a:r>
              <a:t>METODOLOGIA</a:t>
            </a:r>
          </a:p>
          <a:p>
            <a:r>
              <a:t>Mapeamento sistemático (broader que SLR) de 71 estudos primários publicados entre 2015 e 2022. Classificação em duas dimensões cruzadas: (1) tipo de requisito (funcional, de qualidade, de processo, de dados); (2) atividade de RE (elicitação, especificação, verificação, gerenciamento).</a:t>
            </a:r>
          </a:p>
          <a:p>
            <a:endParaRPr/>
          </a:p>
          <a:p>
            <a:r>
              <a:t>CATEGORIAS DE REQUISITOS PARA SISTEMAS DE IA</a:t>
            </a:r>
          </a:p>
          <a:p>
            <a:endParaRPr/>
          </a:p>
          <a:p>
            <a:r>
              <a:t>Requisitos de dados (35% dos estudos): qualidade, proveniência, representatividade, privacidade e atualidade dos dados de treinamento. Descoberta: a maioria dos projetos não especifica formalmente requisitos de dados — tratam dados como insumo, não como componente com qualidade mensurável.</a:t>
            </a:r>
          </a:p>
          <a:p>
            <a:endParaRPr/>
          </a:p>
          <a:p>
            <a:r>
              <a:t>Requisitos de modelo: acurácia, fairness, robustez, interpretabilidade e explicabilidade. A especificação de fairness é o requisito mais citado mas menos operacionalizado — existe como intenção, não como critério verificável.</a:t>
            </a:r>
          </a:p>
          <a:p>
            <a:endParaRPr/>
          </a:p>
          <a:p>
            <a:r>
              <a:t>Requisitos de sistema: integração com sistemas legados, requisitos de latência e throughput, monitoramento em produção (drift detection).</a:t>
            </a:r>
          </a:p>
          <a:p>
            <a:endParaRPr/>
          </a:p>
          <a:p>
            <a:r>
              <a:t>Requisitos de processo: rastreabilidade de decisões de design, auditabilidade de experimentos, documentação de trade-offs. Praticamente ausente em projetos de mercado.</a:t>
            </a:r>
          </a:p>
          <a:p>
            <a:endParaRPr/>
          </a:p>
          <a:p>
            <a:r>
              <a:t>DISTINÇÃO CENTRAL: RE PARA SISTEMAS DE IA vs RE COM FERRAMENTAS DE IA</a:t>
            </a:r>
          </a:p>
          <a:p>
            <a:r>
              <a:t>O artigo distingue dois contextos diferentes que frequentemente se confundem:</a:t>
            </a:r>
          </a:p>
          <a:p>
            <a:r>
              <a:t>(A) RE para sistemas de IA: especificar requisitos de um sistema cujo comportamento é determinado por modelo de ML — aqui a incerteza do modelo deve ser gerenciada como requisito.</a:t>
            </a:r>
          </a:p>
          <a:p>
            <a:r>
              <a:t>(B) RE com ferramentas de IA: usar GenAI para apoiar o processo de RE de qualquer sistema — aqui a IA é ferramenta auxiliar do engenheiro.</a:t>
            </a:r>
          </a:p>
          <a:p>
            <a:endParaRPr/>
          </a:p>
          <a:p>
            <a:r>
              <a:t>PRINCIPAIS ACHADOS</a:t>
            </a:r>
          </a:p>
          <a:p>
            <a:r>
              <a:t>• Explicabilidade é citada como requisito em 78% dos estudos sobre sistemas de IA de alto risco, mas apenas 12% propõem métricas verificáveis para ela.</a:t>
            </a:r>
          </a:p>
          <a:p>
            <a:r>
              <a:t>• Fairness, safety e privacy aparecem frequentemente como "requisitos de qualidade" mas raramente com critérios de aceitação mensuráveis.</a:t>
            </a:r>
          </a:p>
          <a:p>
            <a:r>
              <a:t>• A rastreabilidade entre requisito de modelo e decisão de treinamento é o gap técnico mais crítico identificado.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Ahmad (2023) fundamenta por que o sistema da academia precisa de requisitos explícitos de rastreabilidade e auditabilidade — não como burocracia, mas como mecanismos de accountability quando decisões afetam saúde humana. O caso de uso da academia ilustra exatamente o domínio de alto risco que o artigo identifica como carente de especificação adequada.</a:t>
            </a:r>
          </a:p>
          <a:p>
            <a:endParaRPr/>
          </a:p>
          <a:p>
            <a:r>
              <a:t>RESENHA TÉCNICA — Packer et al. (2023)</a:t>
            </a:r>
          </a:p>
          <a:p>
            <a:r>
              <a:t>"MemGPT: Towards LLMs as Operating Systems"</a:t>
            </a:r>
          </a:p>
          <a:p>
            <a:r>
              <a:t>arXiv:2310.08560 | https://arxiv.org/abs/2310.08560</a:t>
            </a:r>
          </a:p>
          <a:p>
            <a:endParaRPr/>
          </a:p>
          <a:p>
            <a:r>
              <a:t>PROBLEMA DE PESQUISA</a:t>
            </a:r>
          </a:p>
          <a:p>
            <a:r>
              <a:t>LLMs têm janelas de contexto finitas — o equivalente computacional de RAM limitada. Como projetar uma arquitetura que permita a LLMs gerenciar memória hierárquica de forma análoga a como sistemas operacionais gerenciam memória virtual, superando a limitação da janela de contexto?</a:t>
            </a:r>
          </a:p>
          <a:p>
            <a:endParaRPr/>
          </a:p>
          <a:p>
            <a:r>
              <a:t>ANALOGIA ARQUITETURAL (núcleo do artigo)</a:t>
            </a:r>
          </a:p>
          <a:p>
            <a:r>
              <a:t>Os autores propõem uma analogia direta entre LLM e processador de SO:</a:t>
            </a:r>
          </a:p>
          <a:p>
            <a:endParaRPr/>
          </a:p>
          <a:p>
            <a:r>
              <a:t>SISTEMA OPERACIONAL → MEMGPT</a:t>
            </a:r>
          </a:p>
          <a:p>
            <a:r>
              <a:t>Processador → LLM (unidade de processamento)</a:t>
            </a:r>
          </a:p>
          <a:p>
            <a:r>
              <a:t>RAM (rápida, limitada) → Contexto in-context window</a:t>
            </a:r>
          </a:p>
          <a:p>
            <a:r>
              <a:t>Disco (lento, ilimitado) → Armazenamento externo (banco de dados, arquivos)</a:t>
            </a:r>
          </a:p>
          <a:p>
            <a:r>
              <a:t>Gerenciador de memória → Controlador de contexto (função do próprio LLM)</a:t>
            </a:r>
          </a:p>
          <a:p>
            <a:r>
              <a:t>Interrupções → Notificações de limite de contexto</a:t>
            </a:r>
          </a:p>
          <a:p>
            <a:r>
              <a:t>System calls → Function calls para manipulação de memória</a:t>
            </a:r>
          </a:p>
          <a:p>
            <a:endParaRPr/>
          </a:p>
          <a:p>
            <a:r>
              <a:t>ARQUITETURA DETALHADA</a:t>
            </a:r>
          </a:p>
          <a:p>
            <a:endParaRPr/>
          </a:p>
          <a:p>
            <a:r>
              <a:t>Contexto principal (in-context): mensagens recentes, instruções do sistema, memória de trabalho — análogo à RAM. Capacidade limitada pela janela de contexto do modelo base.</a:t>
            </a:r>
          </a:p>
          <a:p>
            <a:endParaRPr/>
          </a:p>
          <a:p>
            <a:r>
              <a:t>Armazenamento externo: FIFO queue de mensagens antigas, arquivo de fatos persistentes, base de episódios. Análogo ao disco.</a:t>
            </a:r>
          </a:p>
          <a:p>
            <a:endParaRPr/>
          </a:p>
          <a:p>
            <a:r>
              <a:t>Mecanismo de paginação: o LLM recebe notificações quando o contexto está próximo do limite e decide autonomamente o que mover para armazenamento externo e o que recuperar — usando function calls específicas: recall_memory(), archival_memory_insert(), archival_memory_search().</a:t>
            </a:r>
          </a:p>
          <a:p>
            <a:endParaRPr/>
          </a:p>
          <a:p>
            <a:r>
              <a:t>Self-directed memory management: o LLM age como seu próprio gerenciador de memória — uma propriedade emergente que o artigo demonstra ser viável com modelos suficientemente capazes (GPT-4).</a:t>
            </a:r>
          </a:p>
          <a:p>
            <a:endParaRPr/>
          </a:p>
          <a:p>
            <a:r>
              <a:t>AVALIAÇÃO EXPERIMENTAL</a:t>
            </a:r>
          </a:p>
          <a:p>
            <a:r>
              <a:t>Dois conjuntos de experimentos: (1) QA sobre documentos longos (&gt;100k tokens) — MemGPT supera sliding-window baseline em 27%; (2) Agentes conversacionais de longo prazo — MemGPT mantém consistência de persona e fatos sobre conversas de múltiplas sessões, onde baseline perde informação crítica.</a:t>
            </a:r>
          </a:p>
          <a:p>
            <a:endParaRPr/>
          </a:p>
          <a:p>
            <a:r>
              <a:t>LIMITAÇÕES</a:t>
            </a:r>
          </a:p>
          <a:p>
            <a:r>
              <a:t>Overhead de latência: cada operação de memória adiciona uma chamada de função, aumentando tempo de resposta. Dependência de function calling: requer modelos com suporte robusto a tool use. Custo de tokens aumenta com frequência de operações de memória. Gerenciamento de conflitos entre memórias não é completamente resolvido.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MemGPT é o fundamento técnico do Memory Bank. A separação entre memória paramétrica (o que o modelo "sabe"), contexto imediato (o que está no prompt), e memória externa (o que o sistema gerencia) não é apenas uma convenção — é uma arquitetura com primitivas de operação definidas. Implementar um Memory Bank para o sistema da academia requer decisões análogas às de um SO: política de eviction, estratégia de retrieval, resolução de conflitos.</a:t>
            </a:r>
          </a:p>
          <a:p>
            <a:endParaRPr/>
          </a:p>
          <a:p>
            <a:r>
              <a:t>RESENHA TÉCNICA — Lewis et al. (2020)</a:t>
            </a:r>
          </a:p>
          <a:p>
            <a:r>
              <a:t>"Retrieval-Augmented Generation for Knowledge-Intensive NLP Tasks"</a:t>
            </a:r>
          </a:p>
          <a:p>
            <a:r>
              <a:t>NeurIPS 2020 | https://arxiv.org/abs/2005.11401</a:t>
            </a:r>
          </a:p>
          <a:p>
            <a:endParaRPr/>
          </a:p>
          <a:p>
            <a:r>
              <a:t>PROBLEMA DE PESQUISA</a:t>
            </a:r>
          </a:p>
          <a:p>
            <a:r>
              <a:t>Modelos seq2seq "paramétricos" (como T5 e GPT) armazenam conhecimento factual nos pesos — o que cria problemas de atualização, rastreabilidade e limitação de capacidade. Como combinar recuperação de informação com geração de linguagem para obter o melhor dos dois paradigmas?</a:t>
            </a:r>
          </a:p>
          <a:p>
            <a:endParaRPr/>
          </a:p>
          <a:p>
            <a:r>
              <a:t>ARQUITETURA RAG</a:t>
            </a:r>
          </a:p>
          <a:p>
            <a:endParaRPr/>
          </a:p>
          <a:p>
            <a:r>
              <a:t>Componente de recuperação (Retriever): DPR (Dense Passage Retrieval) — bi-encoder que projeta query e passagens em espaço vetorial compartilhado. Para cada query, recupera os k documentos mais similares semanticamente.</a:t>
            </a:r>
          </a:p>
          <a:p>
            <a:endParaRPr/>
          </a:p>
          <a:p>
            <a:r>
              <a:t>Componente de geração (Generator): BART (seq2seq com encoder-decoder) que condiciona a geração na query original + documentos recuperados concatenados.</a:t>
            </a:r>
          </a:p>
          <a:p>
            <a:endParaRPr/>
          </a:p>
          <a:p>
            <a:r>
              <a:t>Duas variantes arquiteturais:</a:t>
            </a:r>
          </a:p>
          <a:p>
            <a:r>
              <a:t>• RAG-Sequence: um conjunto de documentos é usado para gerar toda a sequência de saída. Melhor para tarefas onde a resposta é fundamentada em uma fonte coerente.</a:t>
            </a:r>
          </a:p>
          <a:p>
            <a:r>
              <a:t>• RAG-Token: diferentes documentos podem ser usados para gerar diferentes tokens da saída. Mais flexível, melhor em tarefas que combinam informações de múltiplas fontes.</a:t>
            </a:r>
          </a:p>
          <a:p>
            <a:endParaRPr/>
          </a:p>
          <a:p>
            <a:r>
              <a:t>TREINAMENTO</a:t>
            </a:r>
          </a:p>
          <a:p>
            <a:r>
              <a:t>End-to-end: o retriever e o generator são treinados conjuntamente, com documentos recuperados tratados como variáveis latentes. O gradiente flui do generator para o retriever via marginalização — sem supervisão explícita sobre quais documentos recuperar.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WebQuestions, CuratedTrec, TriviaQA (QA de domínio aberto), MS-MARCO, Jeopardy (geração de perguntas), FEVER (verificação de fatos).</a:t>
            </a:r>
          </a:p>
          <a:p>
            <a:r>
              <a:t>Resultado: RAG supera modelos puramente paramétricos em todos os benchmarks, com ganhos de 2-10 pontos percentuais em QA de domínio aberto. Em FEVER, supera abordagens especializadas de verificação de fatos.</a:t>
            </a:r>
          </a:p>
          <a:p>
            <a:endParaRPr/>
          </a:p>
          <a:p>
            <a:r>
              <a:t>VANTAGENS SOBRE MODELOS PARAMÉTRICOS</a:t>
            </a:r>
          </a:p>
          <a:p>
            <a:r>
              <a:t>• Rastreabilidade: é possível inspecionar quais documentos geraram a resposta.</a:t>
            </a:r>
          </a:p>
          <a:p>
            <a:r>
              <a:t>• Atualização sem retreinamento: substituir a base de recuperação é suficiente para atualizar o conhecimento.</a:t>
            </a:r>
          </a:p>
          <a:p>
            <a:r>
              <a:t>• Menor tendência a alucinação: o modelo está ancorado em evidência concreta.</a:t>
            </a:r>
          </a:p>
          <a:p>
            <a:r>
              <a:t>• Generalização a domínios específicos: fine-tune do retriever sobre corpus especializado é mais eficiente que retreinamento do LLM completo.</a:t>
            </a:r>
          </a:p>
          <a:p>
            <a:endParaRPr/>
          </a:p>
          <a:p>
            <a:r>
              <a:t>LIMITAÇÕES</a:t>
            </a:r>
          </a:p>
          <a:p>
            <a:r>
              <a:t>Latência: a recuperação adiciona tempo de processamento (tipicamente 200-500ms para corpus de milhões de documentos). Qualidade do retriever é crítica: garbage retrieval → garbage generation. Documentos de baixa qualidade ou desatualizados na base degradam a saída. Não resolve alucinação intrínseca (contradição com o próprio documento recuperado).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RAG é o mecanismo técnico que torna o Retrieval slide operacional. No sistema da academia, o histórico clínico do aluno, as avaliações anteriores e o plano de treino são a "base de recuperação" — ancoram as respostas da IA ao invés de deixá-la confabular. Lewis (2020) demonstra que essa arquitetura supera modelos puramente paramétricos exatamente nas tarefas onde fatos específicos importam.</a:t>
            </a:r>
          </a:p>
          <a:p>
            <a:endParaRPr/>
          </a:p>
          <a:p>
            <a:r>
              <a:t>RESENHA TÉCNICA — Karpukhin et al. (2020)</a:t>
            </a:r>
          </a:p>
          <a:p>
            <a:r>
              <a:t>"Dense Passage Retrieval for Open-Domain Question Answering"</a:t>
            </a:r>
          </a:p>
          <a:p>
            <a:r>
              <a:t>EMNLP 2020 | https://arxiv.org/abs/2004.04906</a:t>
            </a:r>
          </a:p>
          <a:p>
            <a:endParaRPr/>
          </a:p>
          <a:p>
            <a:r>
              <a:t>PROBLEMA DE PESQUISA</a:t>
            </a:r>
          </a:p>
          <a:p>
            <a:r>
              <a:t>Sistemas de QA de domínio aberto dependem de recuperação eficiente de passagens relevantes de corpora massivos. TF-IDF e BM25 (busca esparsa por palavras-chave) dominavam o campo. A hipótese: embeddings densos aprendidos podem capturar relevância semântica mais efetivamente, especialmente quando a formulação da pergunta não compartilha vocabulário com a resposta.</a:t>
            </a:r>
          </a:p>
          <a:p>
            <a:endParaRPr/>
          </a:p>
          <a:p>
            <a:r>
              <a:t>ARQUITETURA DPR (Dense Passage Retrieval)</a:t>
            </a:r>
          </a:p>
          <a:p>
            <a:endParaRPr/>
          </a:p>
          <a:p>
            <a:r>
              <a:t>Bi-encoder:</a:t>
            </a:r>
          </a:p>
          <a:p>
            <a:r>
              <a:t>• Encoder de perguntas: BERT-base treinado para mapear perguntas em vetores de 768 dimensões.</a:t>
            </a:r>
          </a:p>
          <a:p>
            <a:r>
              <a:t>• Encoder de passagens: BERT-base independente que mapeia passagens em vetores do mesmo espaço.</a:t>
            </a:r>
          </a:p>
          <a:p>
            <a:r>
              <a:t>• Similaridade: produto interno (dot product) entre vetor de pergunta e vetor de passagem.</a:t>
            </a:r>
          </a:p>
          <a:p>
            <a:r>
              <a:t>• Busca eficiente em escala: FAISS (Facebook AI Similarity Search) para indexação e busca ANN (Approximate Nearest Neighbor) em corpora de 21 milhões de passagens.</a:t>
            </a:r>
          </a:p>
          <a:p>
            <a:endParaRPr/>
          </a:p>
          <a:p>
            <a:r>
              <a:t>ESTRATÉGIA DE TREINAMENTO</a:t>
            </a:r>
          </a:p>
          <a:p>
            <a:r>
              <a:t>• Pares positivos: pergunta + passagem que contém a resposta correta.</a:t>
            </a:r>
          </a:p>
          <a:p>
            <a:r>
              <a:t>• Negativos difíceis (hard negatives): passagens retornadas por BM25 que não contêm a resposta — passagens semanticamente relacionadas mas incorretas.</a:t>
            </a:r>
          </a:p>
          <a:p>
            <a:r>
              <a:t>• In-batch negatives: outras passagens positivas do batch como negativos adicionais — técnica computacionalmente eficiente que aumenta a diversidade de negativos sem custo extra de computação.</a:t>
            </a:r>
          </a:p>
          <a:p>
            <a:r>
              <a:t>• Objetivo: maximizar similaridade entre pergunta e passagem positiva, minimizar com negativos.</a:t>
            </a:r>
          </a:p>
          <a:p>
            <a:endParaRPr/>
          </a:p>
          <a:p>
            <a:r>
              <a:t>AVALIAÇÃO</a:t>
            </a:r>
          </a:p>
          <a:p>
            <a:r>
              <a:t>Benchmarks: Natural Questions, TriviaQA, WebQuestions, CuratedTrec, SQuAD.</a:t>
            </a:r>
          </a:p>
          <a:p>
            <a:r>
              <a:t>Resultado: DPR supera BM25 em todos os benchmarks com margem significativa (ex: Natural Questions: +9.8% em top-20 retrieval accuracy). O ganho é maior exatamente nos casos onde pergunta e resposta não compartilham vocabulário — confirmando a hipótese inicial.</a:t>
            </a:r>
          </a:p>
          <a:p>
            <a:endParaRPr/>
          </a:p>
          <a:p>
            <a:r>
              <a:t>ANÁLISE DE ERROS</a:t>
            </a:r>
          </a:p>
          <a:p>
            <a:r>
              <a:t>Casos onde BM25 supera DPR: perguntas com entidades raras ou nomes próprios incomuns, onde sobreposição lexical é altamente informativa. Combinação BM25 + DPR (ensemble) frequentemente supera ambos individualmente.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DPR é a fundação técnica que torna o retrieval semântico prático. No contexto da aula: buscar o histórico de avaliação de um aluno pela pergunta "aluno tem restrição cardíaca?" requer busca semântica — não busca por palavra-chave. DPR (ou seus sucessores como ColBERT, E5, BGE) é o mecanismo que torna isso possível em escala.</a:t>
            </a:r>
          </a:p>
          <a:p>
            <a:endParaRPr/>
          </a:p>
          <a:p>
            <a:r>
              <a:t>RESENHA TÉCNICA — Jiang et al. (2024)</a:t>
            </a:r>
          </a:p>
          <a:p>
            <a:r>
              <a:t>"LongLLMLingua: Accelerating and Enhancing LLMs in Long Context Scenarios via Prompt Compression"</a:t>
            </a:r>
          </a:p>
          <a:p>
            <a:r>
              <a:t>arXiv:2310.06839 | https://arxiv.org/abs/2310.06839</a:t>
            </a:r>
          </a:p>
          <a:p>
            <a:endParaRPr/>
          </a:p>
          <a:p>
            <a:r>
              <a:t>PROBLEMA DE PESQUISA</a:t>
            </a:r>
          </a:p>
          <a:p>
            <a:r>
              <a:t>Contextos longos degradam o desempenho de LLMs (fenômeno "lost in the middle": informação no meio do contexto é menos utilizada que informação no início e fim) e aumentam custo de inferência quadraticamente. Como comprimir prompts longos preservando a informação semanticamente relevante para uma query específica?</a:t>
            </a:r>
          </a:p>
          <a:p>
            <a:endParaRPr/>
          </a:p>
          <a:p>
            <a:r>
              <a:t>LIMITAÇÃO DO PROBLEMA ANTECESSOR (LLMLingua)</a:t>
            </a:r>
          </a:p>
          <a:p>
            <a:r>
              <a:t>LLMLingua (Jiang et al., 2023) introduziu compressão de prompt via perplexidade — tokens com baixa perplexidade (previsíveis pelo modelo) são removidos. Limitação: compressão query-agnostic — remove tokens "genéricos" sem considerar o que é relevante para a pergunta específica.</a:t>
            </a:r>
          </a:p>
          <a:p>
            <a:endParaRPr/>
          </a:p>
          <a:p>
            <a:r>
              <a:t>INOVAÇÕES DE LONGLLLMLINGUA</a:t>
            </a:r>
          </a:p>
          <a:p>
            <a:endParaRPr/>
          </a:p>
          <a:p>
            <a:r>
              <a:t>1. Compressão coarse-to-fine em dois estágios:</a:t>
            </a:r>
          </a:p>
          <a:p>
            <a:r>
              <a:t>   - Estágio grosseiro (coarse): ranquear e filtrar documentos inteiros por relevância à query (redução de 50-80% dos documentos).</a:t>
            </a:r>
          </a:p>
          <a:p>
            <a:r>
              <a:t>   - Estágio fino (fine): comprimir passagens selecionadas no nível de token, condicionado na query.</a:t>
            </a:r>
          </a:p>
          <a:p>
            <a:endParaRPr/>
          </a:p>
          <a:p>
            <a:r>
              <a:t>2. Compressão query-aware:</a:t>
            </a:r>
          </a:p>
          <a:p>
            <a:r>
              <a:t>   Calcular perplexidade de cada token condicionado na query (P(token | query, contexto)) em vez de perplexidade incondicional. Tokens que o modelo encontra menos surpreendentes dado a query são candidatos à remoção.</a:t>
            </a:r>
          </a:p>
          <a:p>
            <a:endParaRPr/>
          </a:p>
          <a:p>
            <a:r>
              <a:t>3. Document reordering:</a:t>
            </a:r>
          </a:p>
          <a:p>
            <a:r>
              <a:t>   Reposicionar documentos mais relevantes para as extremidades do contexto (início e fim), explorando o viés posicional dos Transformers (lost-in-the-middle). Passagens relevantes no meio são movidas para posições com maior atenção do modelo.</a:t>
            </a:r>
          </a:p>
          <a:p>
            <a:endParaRPr/>
          </a:p>
          <a:p>
            <a:r>
              <a:t>4. Subsequence recovery:</a:t>
            </a:r>
          </a:p>
          <a:p>
            <a:r>
              <a:t>   Pós-processamento que recupera a resposta no texto original a partir da resposta gerada com o contexto comprimido — mapeia de volta para o documento fonte, aumentando rastreabilidade.</a:t>
            </a:r>
          </a:p>
          <a:p>
            <a:endParaRPr/>
          </a:p>
          <a:p>
            <a:r>
              <a:t>AVALIAÇÃO</a:t>
            </a:r>
          </a:p>
          <a:p>
            <a:r>
              <a:t>Benchmarks: LongBench (7 tarefas de compreensão de contexto longo), ZeroScrolls (contextos de até 100k tokens).</a:t>
            </a:r>
          </a:p>
          <a:p>
            <a:r>
              <a:t>Compressão de até 6x com degradação de desempenho &lt; 5% na maioria das tarefas.</a:t>
            </a:r>
          </a:p>
          <a:p>
            <a:r>
              <a:t>Redução de latência: 1.4-2.6x em sistemas RAG reais.</a:t>
            </a:r>
          </a:p>
          <a:p>
            <a:r>
              <a:t>Redução de custo: proporcional à redução de tokens (impacto direto em custo de API).</a:t>
            </a:r>
          </a:p>
          <a:p>
            <a:endParaRPr/>
          </a:p>
          <a:p>
            <a:r>
              <a:t>LIMITAÇÕES</a:t>
            </a:r>
          </a:p>
          <a:p>
            <a:r>
              <a:t>Performance degrada em tarefas que requerem integração de informações de múltiplas partes do contexto. Estágio de coarse filtering pode eliminar documentos relevantes em casos ambíguos. Adiciona latência de pré-processamento que pode ser maior que o ganho em inferência para contextos pequenos.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LongLLMLingua operacionaliza o princípio "mais tokens não significa mais inteligência". Em sistemas de produção com Memory Bank + RAG, o contexto pode crescer indefinidamente. Compressão inteligente é necessária para manter custo controlado sem degradar qualidade — o trade-off exato que o slide de eficiência contextual discute.</a:t>
            </a:r>
          </a:p>
          <a:p>
            <a:endParaRPr/>
          </a:p>
          <a:p>
            <a:r>
              <a:t>RESENHA TÉCNICA — Mastropaolo et al. (2023)</a:t>
            </a:r>
          </a:p>
          <a:p>
            <a:r>
              <a:t>"On the Robustness of Code Generation Techniques: An Empirical Study on GitHub Copilot"</a:t>
            </a:r>
          </a:p>
          <a:p>
            <a:r>
              <a:t>ICSE 2023 | https://arxiv.org/abs/2302.00438</a:t>
            </a:r>
          </a:p>
          <a:p>
            <a:endParaRPr/>
          </a:p>
          <a:p>
            <a:r>
              <a:t>PROBLEMA DE PESQUISA</a:t>
            </a:r>
          </a:p>
          <a:p>
            <a:r>
              <a:t>GitHub Copilot é apresentado como ferramenta de aumento de produtividade para desenvolvimento de software. Mas quão robusto é seu comportamento? Perturbações semanticamente equivalentes no prompt geram saídas equivalentes? Ou o modelo é sensível a variações superficiais de formulação?</a:t>
            </a:r>
          </a:p>
          <a:p>
            <a:endParaRPr/>
          </a:p>
          <a:p>
            <a:r>
              <a:t>METODOLOGIA</a:t>
            </a:r>
          </a:p>
          <a:p>
            <a:r>
              <a:t>Estudo empírico com 435 problemas de programação de múltiplas fontes (LeetCode, HumanEval, CodeChef). Para cada problema, os autores aplicaram 5 categorias de perturbações semanticamente preservadoras:</a:t>
            </a:r>
          </a:p>
          <a:p>
            <a:endParaRPr/>
          </a:p>
          <a:p>
            <a:r>
              <a:t>1. Renomeação de identificadores: variáveis, funções e parâmetros com nomes diferentes mas igualmente descritivos.</a:t>
            </a:r>
          </a:p>
          <a:p>
            <a:r>
              <a:t>2. Reformulação do docstring: mesma semântica, vocabulário diferente (sinônimos, estrutura de sentença).</a:t>
            </a:r>
          </a:p>
          <a:p>
            <a:r>
              <a:t>3. Reordenação de parâmetros: mudança na ordem de parâmetros de função.</a:t>
            </a:r>
          </a:p>
          <a:p>
            <a:r>
              <a:t>4. Adição de comentários: inserção de comentários explicativos inline.</a:t>
            </a:r>
          </a:p>
          <a:p>
            <a:r>
              <a:t>5. Mudança de tipo de dado: equivalentes funcionais (int vs long, list vs array).</a:t>
            </a:r>
          </a:p>
          <a:p>
            <a:endParaRPr/>
          </a:p>
          <a:p>
            <a:r>
              <a:t>Para cada perturbação, o código gerado pelo Copilot foi avaliado por: corretude (testes unitários), similaridade com solução original do Copilot, e similaridade com a solução correta.</a:t>
            </a:r>
          </a:p>
          <a:p>
            <a:endParaRPr/>
          </a:p>
          <a:p>
            <a:r>
              <a:t>PRINCIPAIS ACHADOS</a:t>
            </a:r>
          </a:p>
          <a:p>
            <a:endParaRPr/>
          </a:p>
          <a:p>
            <a:r>
              <a:t>Sensibilidade alta a perturbações superficiais: em 65% dos casos, perturbações semanticamente equivalentes geraram código significativamente diferente (BLEU score &lt; 0.5 entre versões).</a:t>
            </a:r>
          </a:p>
          <a:p>
            <a:endParaRPr/>
          </a:p>
          <a:p>
            <a:r>
              <a:t>Impacto na corretude: em 32% dos casos onde a versão original passava nos testes, ao menos uma perturbação semântica causou falha. O inverso também ocorre: em 18% dos casos onde o original falhou, uma perturbação fez o Copilot gerar código correto.</a:t>
            </a:r>
          </a:p>
          <a:p>
            <a:endParaRPr/>
          </a:p>
          <a:p>
            <a:r>
              <a:t>Renomeação de identificadores: perturbação com maior impacto. Nomes descritivos em inglês informal correlacionam com melhor desempenho — evidência de que o Copilot está fazendo recuperação por padrão (pattern matching) em relação ao corpus de treinamento (GitHub), não raciocínio sobre o problema.</a:t>
            </a:r>
          </a:p>
          <a:p>
            <a:endParaRPr/>
          </a:p>
          <a:p>
            <a:r>
              <a:t>Estrutura do docstring: Copilot é significativamente melhor com docstrings no formato de projetos populares do GitHub (numpy style, Google style) do que com formulações equivalentes em outros formatos.</a:t>
            </a:r>
          </a:p>
          <a:p>
            <a:endParaRPr/>
          </a:p>
          <a:p>
            <a:r>
              <a:t>INTERPRETAÇÃO TEÓRICA</a:t>
            </a:r>
          </a:p>
          <a:p>
            <a:r>
              <a:t>Os resultados são consistentes com a hipótese de Bender (2021): o modelo não "entende" o problema — ele recupera e adapta padrões do corpus de treinamento. Quando a formulação se alinha com padrões comuns do GitHub, a recuperação é bem-sucedida. Quando não se alinha, a saída degrada.</a:t>
            </a:r>
          </a:p>
          <a:p>
            <a:endParaRPr/>
          </a:p>
          <a:p>
            <a:r>
              <a:t>LIMITAÇÕES</a:t>
            </a:r>
          </a:p>
          <a:p>
            <a:r>
              <a:t>Avaliação limitada a corretude por testes unitários — não avalia segurança, manutenibilidade ou eficiência. GitHub Copilot evolui continuamente; resultados podem não refletir versões mais recentes.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Mastropaolo (2023) fundamenta a postura crítica em relação à geração assistida: Copilot é uma ferramenta de recuperação sofisticada, não um raciocínio sobre código. Para código de lógica de negócio específico (como as regras de restrição médica do sistema da academia), a probabilidade de o Copilot acertar sem input cuidadoso é baixa — e a probabilidade de gerar código plausível mas incorreto é alta.</a:t>
            </a:r>
          </a:p>
          <a:p>
            <a:endParaRPr/>
          </a:p>
          <a:p>
            <a:r>
              <a:t>RESENHA TÉCNICA — Yetiştiren et al. (2023)</a:t>
            </a:r>
          </a:p>
          <a:p>
            <a:r>
              <a:t>"Evaluating the Code Quality of AI-Assisted Code Generation Tools: An Empirical Study on GitHub Copilot, Amazon CodeWhisperer, and ChatGPT"</a:t>
            </a:r>
          </a:p>
          <a:p>
            <a:r>
              <a:t>arXiv:2304.10778 | https://arxiv.org/abs/2304.10778</a:t>
            </a:r>
          </a:p>
          <a:p>
            <a:endParaRPr/>
          </a:p>
          <a:p>
            <a:r>
              <a:t>PROBLEMA DE PESQUISA</a:t>
            </a:r>
          </a:p>
          <a:p>
            <a:r>
              <a:t>Avaliar comparativamente a qualidade do código gerado por três ferramentas de IA (GitHub Copilot, Amazon CodeWhisperer, ChatGPT-3.5) em três dimensões críticas para engenharia de software profissional: corretude funcional, segurança e manutenibilidade.</a:t>
            </a:r>
          </a:p>
          <a:p>
            <a:endParaRPr/>
          </a:p>
          <a:p>
            <a:r>
              <a:t>METODOLOGIA</a:t>
            </a:r>
          </a:p>
          <a:p>
            <a:r>
              <a:t>140 problemas de programação categorizados por complexidade (baixa, média, alta) e domínio (algoritmos, estruturas de dados, web, banco de dados, criptografia). Cada problema foi submetido a cada ferramenta com prompts padronizados. Avaliação:</a:t>
            </a:r>
          </a:p>
          <a:p>
            <a:r>
              <a:t>• Corretude: execução de suíte de testes unitários (≥80% aprovação = correto).</a:t>
            </a:r>
          </a:p>
          <a:p>
            <a:r>
              <a:t>• Segurança: análise estática com SonarQube + Semgrep para detecção de vulnerabilidades CWE/CVE.</a:t>
            </a:r>
          </a:p>
          <a:p>
            <a:r>
              <a:t>• Manutenibilidade: métricas de código (complexidade ciclomática, code smells, duplicação, cobertura de comentários) via SonarQube.</a:t>
            </a:r>
          </a:p>
          <a:p>
            <a:endParaRPr/>
          </a:p>
          <a:p>
            <a:r>
              <a:t>RESULTADOS POR DIMENSÃO</a:t>
            </a:r>
          </a:p>
          <a:p>
            <a:endParaRPr/>
          </a:p>
          <a:p>
            <a:r>
              <a:t>CORRETUDE:</a:t>
            </a:r>
          </a:p>
          <a:p>
            <a:r>
              <a:t>• GitHub Copilot: 46.3% dos problemas resolvidos corretamente.</a:t>
            </a:r>
          </a:p>
          <a:p>
            <a:r>
              <a:t>• Amazon CodeWhisperer: 31.1%.</a:t>
            </a:r>
          </a:p>
          <a:p>
            <a:r>
              <a:t>• ChatGPT-3.5: 65.2%.</a:t>
            </a:r>
          </a:p>
          <a:p>
            <a:r>
              <a:t>• Padrão: desempenho degrada significativamente com complexidade crescente. Problemas simples (implementação direta): ~85% correto. Problemas complexos (múltiplos requisitos, edge cases): ~20% correto.</a:t>
            </a:r>
          </a:p>
          <a:p>
            <a:endParaRPr/>
          </a:p>
          <a:p>
            <a:r>
              <a:t>SEGURANÇA:</a:t>
            </a:r>
          </a:p>
          <a:p>
            <a:r>
              <a:t>• 40% do código gerado pelo Copilot contém ao menos uma vulnerabilidade de segurança detectável.</a:t>
            </a:r>
          </a:p>
          <a:p>
            <a:r>
              <a:t>• Vulnerabilidades mais comuns: SQL injection, path traversal, XSS, uso de funções deprecadas, tratamento inadequado de exceções.</a:t>
            </a:r>
          </a:p>
          <a:p>
            <a:r>
              <a:t>• ChatGPT mostra taxa menor (28%) — possivelmente por filtros de alinhamento que evitam padrões obviamente inseguros.</a:t>
            </a:r>
          </a:p>
          <a:p>
            <a:r>
              <a:t>• Criptografia: área com maior concentração de vulnerabilidades — implementações próprias de algoritmos criptográficos são frequentemente geradas e frequentemente inseguras.</a:t>
            </a:r>
          </a:p>
          <a:p>
            <a:endParaRPr/>
          </a:p>
          <a:p>
            <a:r>
              <a:t>MANUTENIBILIDADE:</a:t>
            </a:r>
          </a:p>
          <a:p>
            <a:r>
              <a:t>• Código gerado tem complexidade ciclomática comparável ao código humano médio.</a:t>
            </a:r>
          </a:p>
          <a:p>
            <a:r>
              <a:t>• Code smells frequentes: métodos longos, parâmetros excessivos, magic numbers.</a:t>
            </a:r>
          </a:p>
          <a:p>
            <a:r>
              <a:t>• Comentários: Copilot gera código com comentários de baixa qualidade ou ausentes; ChatGPT gera comentários mais explicativos.</a:t>
            </a:r>
          </a:p>
          <a:p>
            <a:r>
              <a:t>• Duplicação: baixa — as ferramentas não duplicam código literalmente.</a:t>
            </a:r>
          </a:p>
          <a:p>
            <a:endParaRPr/>
          </a:p>
          <a:p>
            <a:r>
              <a:t>ANÁLISE POR DOMÍNIO</a:t>
            </a:r>
          </a:p>
          <a:p>
            <a:r>
              <a:t>Domínios onde ferramentas de IA são mais confiáveis: algoritmos clássicos (ordenação, busca), manipulação de strings, operações matemáticas simples.</a:t>
            </a:r>
          </a:p>
          <a:p>
            <a:r>
              <a:t>Domínios onde ferramentas de IA são menos confiáveis: lógica de negócio específica de domínio, tratamento de concorrência, código de segurança, integração de sistemas.</a:t>
            </a:r>
          </a:p>
          <a:p>
            <a:endParaRPr/>
          </a:p>
          <a:p>
            <a:r>
              <a:t>LIMITAÇÕES</a:t>
            </a:r>
          </a:p>
          <a:p>
            <a:r>
              <a:t>Prompts padronizados podem não representar como engenheiros reais interagem com as ferramentas. Análise estática não captura vulnerabilidades lógicas. Ferramentas evoluem rapidamente.</a:t>
            </a:r>
          </a:p>
          <a:p>
            <a:endParaRPr/>
          </a:p>
          <a:p>
            <a:r>
              <a:t>RELEVÂNCIA PARA ESTA AULA</a:t>
            </a:r>
          </a:p>
          <a:p>
            <a:r>
              <a:t>Yetiştiren (2023) quantifica o risco de "falsa sensação de progresso": Copilot gera código funcional para ~46% dos problemas, mas com vulnerabilidades de segurança em 40% dos casos. Para o sistema da academia — que lida com dados de saúde de alunos — o código gerado requer revisão especializada obrigatória, especialmente em módulos de autenticação, armazenamento de dados médicos e controle de acesso.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6F939-E7EB-A2E6-CB1E-F0A742DF3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58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442188.344592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l.acm.org/doi/10.1145/357173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57173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dl.acm.org/doi/10.1145/3290605.330023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792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740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infsof.2023.107176" TargetMode="External"/><Relationship Id="rId4" Type="http://schemas.openxmlformats.org/officeDocument/2006/relationships/hyperlink" Target="https://arxiv.org/abs/2401.0104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0.0856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005.1140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arxiv.org/abs/2004.0490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442188.344592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310.06839" TargetMode="External"/><Relationship Id="rId5" Type="http://schemas.openxmlformats.org/officeDocument/2006/relationships/hyperlink" Target="https://arxiv.org/abs/2310.08560" TargetMode="External"/><Relationship Id="rId4" Type="http://schemas.openxmlformats.org/officeDocument/2006/relationships/hyperlink" Target="https://arxiv.org/abs/2005.1140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0.0683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310.0856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l.acm.org/doi/10.1145/3290605.3300233" TargetMode="External"/><Relationship Id="rId4" Type="http://schemas.openxmlformats.org/officeDocument/2006/relationships/hyperlink" Target="https://arxiv.org/abs/2310.0683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290605.330023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l.acm.org/doi/10.1145/357173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full/10.1073/pnas.132064511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nfsof.2023.107176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404.17406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740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401.0104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740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abs/2401.01041" TargetMode="External"/><Relationship Id="rId4" Type="http://schemas.openxmlformats.org/officeDocument/2006/relationships/hyperlink" Target="https://doi.org/10.1016/j.infsof.2023.107176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7406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16/j.infsof.2023.10717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290605.3300233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401.01041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abs/2404.17406" TargetMode="External"/><Relationship Id="rId4" Type="http://schemas.openxmlformats.org/officeDocument/2006/relationships/hyperlink" Target="https://arxiv.org/abs/2310.0856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2.00438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arxiv.org/abs/2304.10778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57173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l.acm.org/doi/10.1145/3290605.3300233" TargetMode="External"/><Relationship Id="rId5" Type="http://schemas.openxmlformats.org/officeDocument/2006/relationships/hyperlink" Target="https://arxiv.org/abs/2310.06839" TargetMode="External"/><Relationship Id="rId4" Type="http://schemas.openxmlformats.org/officeDocument/2006/relationships/hyperlink" Target="https://arxiv.org/abs/2005.11401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520312.353486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1.01041" TargetMode="External"/><Relationship Id="rId3" Type="http://schemas.openxmlformats.org/officeDocument/2006/relationships/hyperlink" Target="https://dl.acm.org/doi/10.1145/3442188.3445922" TargetMode="External"/><Relationship Id="rId7" Type="http://schemas.openxmlformats.org/officeDocument/2006/relationships/hyperlink" Target="https://arxiv.org/abs/2404.17406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402.07927" TargetMode="External"/><Relationship Id="rId5" Type="http://schemas.openxmlformats.org/officeDocument/2006/relationships/hyperlink" Target="https://dl.acm.org/doi/10.1145/3290605.3300233" TargetMode="External"/><Relationship Id="rId4" Type="http://schemas.openxmlformats.org/officeDocument/2006/relationships/hyperlink" Target="https://dl.acm.org/doi/10.1145/3571730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2.00438" TargetMode="External"/><Relationship Id="rId3" Type="http://schemas.openxmlformats.org/officeDocument/2006/relationships/hyperlink" Target="https://doi.org/10.1016/j.infsof.2023.107176" TargetMode="External"/><Relationship Id="rId7" Type="http://schemas.openxmlformats.org/officeDocument/2006/relationships/hyperlink" Target="https://arxiv.org/abs/2310.06839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004.04906" TargetMode="External"/><Relationship Id="rId5" Type="http://schemas.openxmlformats.org/officeDocument/2006/relationships/hyperlink" Target="https://arxiv.org/abs/2005.11401" TargetMode="External"/><Relationship Id="rId4" Type="http://schemas.openxmlformats.org/officeDocument/2006/relationships/hyperlink" Target="https://arxiv.org/abs/2310.08560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640080" cy="4960620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"/>
            <a:ext cx="109728" cy="496062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7772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IA de Alto Desempenho
para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C8D6E5"/>
                </a:solidFill>
                <a:latin typeface="Calibri"/>
              </a:rPr>
              <a:t>Como evitar geração de lixo, economizar contexto
e transformar narrativa em aplicação estruturada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429000"/>
            <a:ext cx="5486400" cy="36576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7772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  <a:latin typeface="Calibri"/>
              </a:rPr>
              <a:t>Eixos: Spec Kit  ·  Memory Bank  ·  Retrieval  ·  Compressão de Contexto  ·  Validação Humana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114800"/>
            <a:ext cx="5486400" cy="36576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316301"/>
            <a:ext cx="7772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B8872A"/>
                </a:solidFill>
                <a:latin typeface="Calibri"/>
              </a:rPr>
              <a:t>Prof. Paulo José  ·  </a:t>
            </a:r>
            <a:r>
              <a:rPr sz="1000" b="1" i="0" dirty="0" err="1">
                <a:solidFill>
                  <a:srgbClr val="B8872A"/>
                </a:solidFill>
                <a:latin typeface="Calibri"/>
              </a:rPr>
              <a:t>Engenharia</a:t>
            </a:r>
            <a:r>
              <a:rPr sz="1000" b="1" i="0" dirty="0">
                <a:solidFill>
                  <a:srgbClr val="B8872A"/>
                </a:solidFill>
                <a:latin typeface="Calibri"/>
              </a:rPr>
              <a:t>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FUNDAMENTO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O Problema Real da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5349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Modelos de linguagem de alto desempenho ainda produzem saída ruim quando o contexto é ruim.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O risco moderno não é apenas a resposta errada — é a resposta plausível, fluida e mal fundamentada.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A capacidade do modelo não compensa baixa qualidade semântica da entrada.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207008"/>
            <a:ext cx="2926080" cy="128016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7880" y="1207008"/>
            <a:ext cx="64008" cy="128016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2801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PRINCÍPIO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99616"/>
            <a:ext cx="27432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IA não corrige contexto ruim.
Ela o amplifica.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" y="4251960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" y="4279392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 dirty="0">
                <a:solidFill>
                  <a:srgbClr val="2A7FBD"/>
                </a:solidFill>
                <a:latin typeface="Calibri"/>
                <a:hlinkClick r:id="rId3"/>
              </a:rPr>
              <a:t>Bender et al. (2021)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" y="4462272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LLMs geram texto plausível sem compreensão — 'papagaio estocástico'. Risco de viés, custo ambiental e falsa autoridade epistêmica.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4297680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79392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Ji et al.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62272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Survey de alucinação em NLG: tipologia, causas, métricas e estratégias de mitigação. Referência canônica sobre quando modelos inventam.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Lixo Entra, Lixo Sai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3360832" cy="13952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Problema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mal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definido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→ a IA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preenche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lacunas com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suposições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Restrições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explicitadas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→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resposta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ignora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domínio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risco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prioridade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Em software: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requisito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inventado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fluxo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inconsistente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código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desalinhado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24A1BD04-34F9-8130-2D9D-2913C6EA5868}"/>
              </a:ext>
            </a:extLst>
          </p:cNvPr>
          <p:cNvGrpSpPr/>
          <p:nvPr/>
        </p:nvGrpSpPr>
        <p:grpSpPr>
          <a:xfrm>
            <a:off x="309372" y="3304761"/>
            <a:ext cx="2926080" cy="823337"/>
            <a:chOff x="5897880" y="1207008"/>
            <a:chExt cx="2926080" cy="1280160"/>
          </a:xfrm>
        </p:grpSpPr>
        <p:sp>
          <p:nvSpPr>
            <p:cNvPr id="10" name="Rectangle 9"/>
            <p:cNvSpPr/>
            <p:nvPr/>
          </p:nvSpPr>
          <p:spPr>
            <a:xfrm>
              <a:off x="5897880" y="1207008"/>
              <a:ext cx="2926080" cy="1280160"/>
            </a:xfrm>
            <a:prstGeom prst="rect">
              <a:avLst/>
            </a:prstGeom>
            <a:solidFill>
              <a:srgbClr val="EBF3F9"/>
            </a:solidFill>
            <a:ln w="15240">
              <a:solidFill>
                <a:srgbClr val="2A7F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97880" y="1207008"/>
              <a:ext cx="64008" cy="1280160"/>
            </a:xfrm>
            <a:prstGeom prst="rect">
              <a:avLst/>
            </a:prstGeom>
            <a:solidFill>
              <a:srgbClr val="2A7F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35040" y="1280160"/>
              <a:ext cx="27432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800" b="1" i="0">
                  <a:solidFill>
                    <a:srgbClr val="2A7FBD"/>
                  </a:solidFill>
                  <a:latin typeface="Calibri"/>
                </a:rPr>
                <a:t>CONSEQUÊNCIA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35040" y="1499616"/>
              <a:ext cx="2743200" cy="9326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Acelerar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sem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critério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
é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errar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mais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rápido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.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320040" y="4329267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56699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Ji et al.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39579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Survey de alucinação em NLG: tipologia, causas, métricas e estratégias de mitigação. Referência canônica sobre quando modelos inventam.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374987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356699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Amershi et al.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39579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18 diretrizes de design human-AI em quatro fases da interação. Base empírica de estudos com produtos Microsoft.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766075C-D2A7-7AD0-7118-159151E1F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620" y="1207008"/>
            <a:ext cx="5021580" cy="3058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De Prompt Engineering para Context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07008"/>
            <a:ext cx="3291840" cy="2148840"/>
          </a:xfrm>
          <a:prstGeom prst="rect">
            <a:avLst/>
          </a:prstGeom>
          <a:solidFill>
            <a:srgbClr val="E8EEF4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8BA3B8"/>
                </a:solidFill>
                <a:latin typeface="Calibri"/>
              </a:rPr>
              <a:t>ANTES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3291840" cy="1828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8BA3B8"/>
                </a:solidFill>
                <a:latin typeface="Calibri"/>
              </a:rPr>
              <a:t>Prompt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56816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200">
                <a:solidFill>
                  <a:srgbClr val="8BA3B8"/>
                </a:solidFill>
                <a:latin typeface="Calibri"/>
              </a:rPr>
              <a:t>  Frase bem construída</a:t>
            </a:r>
          </a:p>
          <a:p>
            <a:pPr>
              <a:spcAft>
                <a:spcPts val="400"/>
              </a:spcAft>
              <a:buChar char="•"/>
            </a:pPr>
            <a:r>
              <a:rPr sz="1200">
                <a:solidFill>
                  <a:srgbClr val="8BA3B8"/>
                </a:solidFill>
                <a:latin typeface="Calibri"/>
              </a:rPr>
              <a:t>  Tentativa e erro iterativo</a:t>
            </a:r>
          </a:p>
          <a:p>
            <a:pPr>
              <a:spcAft>
                <a:spcPts val="400"/>
              </a:spcAft>
              <a:buChar char="•"/>
            </a:pPr>
            <a:r>
              <a:rPr sz="1200">
                <a:solidFill>
                  <a:srgbClr val="8BA3B8"/>
                </a:solidFill>
                <a:latin typeface="Calibri"/>
              </a:rPr>
              <a:t>  Foco na pergunta isolada</a:t>
            </a:r>
          </a:p>
          <a:p>
            <a:pPr>
              <a:spcAft>
                <a:spcPts val="400"/>
              </a:spcAft>
              <a:buChar char="•"/>
            </a:pPr>
            <a:r>
              <a:rPr sz="1200">
                <a:solidFill>
                  <a:srgbClr val="8BA3B8"/>
                </a:solidFill>
                <a:latin typeface="Calibri"/>
              </a:rPr>
              <a:t>  Resultado inconsistente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207008"/>
            <a:ext cx="41148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2A7FBD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1207008"/>
            <a:ext cx="4727448" cy="21488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1207008"/>
            <a:ext cx="47274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A8D4F0"/>
                </a:solidFill>
                <a:latin typeface="Calibri"/>
              </a:rPr>
              <a:t>AGORA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2" y="1554480"/>
            <a:ext cx="4727448" cy="18288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1627632"/>
            <a:ext cx="4480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Context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1956816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  Objetivo, domínio e restrições explícitos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  Saída esperada e critérios de validação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  A pergunta vira especificação estruturada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  Resultado rastreável e reprodutível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93008"/>
            <a:ext cx="8503920" cy="621792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493008"/>
            <a:ext cx="64008" cy="62179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MUDANÇA DE PARADIGMA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85615"/>
            <a:ext cx="8275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Maturidade em IA não é encontrar a frase mágica — é projetar o contexto com rigor.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37580"/>
            <a:ext cx="850392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365012"/>
            <a:ext cx="8183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Sahoo et al. (2024)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47892"/>
            <a:ext cx="8183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Taxonomia de prompt engineering: CoT, few-shot, zero-shot, role prompting. Avalia eficácia por tipo de tarefa.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SPECKIT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Spec Kit: da História à Especificação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85039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A narrativa fornece material bruto de negócio — atores, tensões, riscos e objetivos.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A especificação reduz ambiguidade e prepara requisitos, fluxos, entidades e decisões técnicas.</a:t>
            </a:r>
          </a:p>
          <a:p>
            <a:pPr>
              <a:spcAft>
                <a:spcPts val="400"/>
              </a:spcAft>
              <a:buChar char="•"/>
            </a:pPr>
            <a:r>
              <a:rPr sz="1300">
                <a:solidFill>
                  <a:srgbClr val="0D1B2E"/>
                </a:solidFill>
                <a:latin typeface="Calibri"/>
              </a:rPr>
              <a:t>  Quanto mais rica a história, menos a IA precisa inventar.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89574"/>
            <a:ext cx="1508760" cy="64008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189574"/>
            <a:ext cx="1508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história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89574"/>
            <a:ext cx="2468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7" y="2189574"/>
            <a:ext cx="1508760" cy="64008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29967" y="2189574"/>
            <a:ext cx="1508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7" y="2189574"/>
            <a:ext cx="2468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9896" y="2189574"/>
            <a:ext cx="1508760" cy="640080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263393"/>
            <a:ext cx="150876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FFFFFF"/>
                </a:solidFill>
                <a:latin typeface="Calibri"/>
              </a:rPr>
              <a:t>p</a:t>
            </a:r>
            <a:r>
              <a:rPr lang="pt-BR" sz="1300" b="1" i="0" dirty="0">
                <a:solidFill>
                  <a:srgbClr val="FFFFFF"/>
                </a:solidFill>
                <a:latin typeface="Calibri"/>
              </a:rPr>
              <a:t>rotótipos e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diagramas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189574"/>
            <a:ext cx="2468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9823" y="2189574"/>
            <a:ext cx="1508760" cy="64008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9823" y="2189574"/>
            <a:ext cx="1508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3" y="2189574"/>
            <a:ext cx="24688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9751" y="2189574"/>
            <a:ext cx="1508760" cy="640080"/>
          </a:xfrm>
          <a:prstGeom prst="rect">
            <a:avLst/>
          </a:prstGeom>
          <a:solidFill>
            <a:srgbClr val="1A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9751" y="2189574"/>
            <a:ext cx="1508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82114"/>
            <a:ext cx="8458200" cy="566928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182114"/>
            <a:ext cx="64008" cy="56692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255265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FUNÇÃO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474722"/>
            <a:ext cx="8275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Transformar narrativa em artefato técnico reutilizável.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38074"/>
            <a:ext cx="8458200" cy="65836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132258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3"/>
              </a:rPr>
              <a:t>Krishna et al. (2024)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48386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42488" y="4183794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15640" y="4132258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4"/>
              </a:rPr>
              <a:t>Cheng et al. (2024)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5640" y="4348386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Revisão sistemática sobre IA generativa em RE — elicitação, especificação, validação e rastreabilidade.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928" y="4183794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74080" y="4132258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5"/>
              </a:rPr>
              <a:t>Ahmad et al. (2023)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4080" y="4348386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Mapeamento sobre requisitos de sistemas de IA: explicabilidade, fairness, segurança e rastreabilidade. Distingue RE convencional de RE para 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MEMÓRIA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Memory Bank e Continuidade Semântica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743200" cy="2286000"/>
          </a:xfrm>
          <a:prstGeom prst="rect">
            <a:avLst/>
          </a:prstGeom>
          <a:solidFill>
            <a:srgbClr val="EBF3F9"/>
          </a:solidFill>
          <a:ln w="1905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743200" cy="420624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34440"/>
            <a:ext cx="25603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Memória Paramétrica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700784"/>
            <a:ext cx="2523744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D1B2E"/>
                </a:solidFill>
                <a:latin typeface="Calibri"/>
              </a:rPr>
              <a:t>Conhecimento aprendido durante o treinamento. Disponível sem input externo, mas estático, opaco e não auditável.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2286000"/>
          </a:xfrm>
          <a:prstGeom prst="rect">
            <a:avLst/>
          </a:prstGeom>
          <a:solidFill>
            <a:srgbClr val="EBF3F9"/>
          </a:solidFill>
          <a:ln w="1905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42062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234440"/>
            <a:ext cx="25603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Memória Externa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700784"/>
            <a:ext cx="2523744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D1B2E"/>
                </a:solidFill>
                <a:latin typeface="Calibri"/>
              </a:rPr>
              <a:t>Contexto recuperado em tempo de execução via retrieval. Dinâmica, rastreável e controlada pelo sistema.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2743200" cy="2286000"/>
          </a:xfrm>
          <a:prstGeom prst="rect">
            <a:avLst/>
          </a:prstGeom>
          <a:solidFill>
            <a:srgbClr val="EBF3F9"/>
          </a:solidFill>
          <a:ln w="19050">
            <a:solidFill>
              <a:srgbClr val="B8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2743200" cy="42062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25603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Memória Persistente do Projeto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700784"/>
            <a:ext cx="2523744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D1B2E"/>
                </a:solidFill>
                <a:latin typeface="Calibri"/>
              </a:rPr>
              <a:t>Regras, decisões, glossário e restrições mantidos fora do chat. Garante consistência entre sessões.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07722"/>
            <a:ext cx="8595360" cy="658368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607722"/>
            <a:ext cx="64008" cy="65836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80874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BENEFÍCIO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00330"/>
            <a:ext cx="8275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Sem separação clara dos tipos de memória, a IA parece lembrar — mas não sustenta consistência entre interações.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7083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Packer et al.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MemGPT: arquitetura de memória hierárquica para LLMs inspirada em SO. Separa memória in-context (limitada) de memória externa (persistente), com paginação.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1708" y="441655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486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Lewis et al. (2020)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486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Retrieval e Grounding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6545580" cy="995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Embeddings e dense retrieval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localizam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semanticamente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relevante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RAG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permite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responder com base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material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recuperado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apenas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memória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paramétrica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Grounding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melhora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rastreabilidade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reduz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alucinação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de forma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mensurável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57060" y="1172928"/>
            <a:ext cx="1844040" cy="964692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57060" y="1172928"/>
            <a:ext cx="91440" cy="96469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94220" y="124608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IDEIA-CHAVE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4220" y="1417320"/>
            <a:ext cx="1783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0D1B2E"/>
                </a:solidFill>
                <a:latin typeface="Calibri"/>
              </a:rPr>
              <a:t>A IA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melhora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quando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
para de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adivinhar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
e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passa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consultar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72908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00340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Lewis et al. (2020)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83220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418628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400340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Karpukhin et al. (2020)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83220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DPR: embeddings densos em substituição ao BM25 esparso. Fundamento técnico de sistemas RAG de alta precisão.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DFAB657-E7E9-D970-0E7A-DC55F5543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" y="2210141"/>
            <a:ext cx="8517636" cy="2098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Arquitetura Cognitiva da Interação com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503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1">
                <a:solidFill>
                  <a:srgbClr val="3A5068"/>
                </a:solidFill>
                <a:latin typeface="Calibri"/>
              </a:rPr>
              <a:t>Separar modelo, contexto e mecanismos auxiliares aumenta clareza técnica e controle operacional.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91056"/>
            <a:ext cx="2651760" cy="84124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1664208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Modelo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956816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Linguagem, inferência, conhecimento paramétrico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6392" y="1591056"/>
            <a:ext cx="2651760" cy="84124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4408" y="1664208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Contexto Imediato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956816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Objetivo, instrução, restrições, saída esperada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1591056"/>
            <a:ext cx="2651760" cy="84124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59" y="1664208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Memória Externa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1956816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Fatos persistentes do projeto entre sessões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2651760" cy="841248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" y="2633472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2926079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Busca de contexto relevante sob demanda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6392" y="2560320"/>
            <a:ext cx="2651760" cy="841248"/>
          </a:xfrm>
          <a:prstGeom prst="rect">
            <a:avLst/>
          </a:prstGeom>
          <a:solidFill>
            <a:srgbClr val="1A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2633472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Compressão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2926079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Preservação do sinal útil na janela de contexto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2744" y="2560320"/>
            <a:ext cx="2651760" cy="841248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59" y="2633472"/>
            <a:ext cx="24505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Validação Humana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2926079"/>
            <a:ext cx="2450591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Contenção final do risco — insubstituível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13135"/>
            <a:ext cx="8458200" cy="65836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140567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3"/>
              </a:rPr>
              <a:t>Bender et al. (2021)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23447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LLMs geram texto plausível sem compreensão — 'papagaio estocástico'. Risco de viés, custo ambiental e falsa autoridade epistêmica.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2878" y="4158855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26030" y="4140567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4"/>
              </a:rPr>
              <a:t>Lewis et al. (2020)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6030" y="4323447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1708" y="4158855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4860" y="4140567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5"/>
              </a:rPr>
              <a:t>Packer et al. (2023)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4860" y="4323447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MemGPT: arquitetura de memória hierárquica para LLMs inspirada em SO. Separa memória in-context (limitada) de memória externa (persistente), com paginação.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90538" y="4158855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3690" y="4140567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6"/>
              </a:rPr>
              <a:t>Jiang et al. (2024)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3690" y="4323447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LongLLMLingua: compressão de prompt para contextos longos. Preserva trechos de alta relevância, reduzindo tokens sem perda crítica.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EFICIÊNCIA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Eficiência Contextual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5730240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estável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deve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ser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reutilizado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reinserido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cada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interação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variável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deve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ser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recuperado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sob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demanda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via retrieval.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Compressão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seletiva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: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preservar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informação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decisiva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remover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redundância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Objetivo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: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maximizar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densidade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informacional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útil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por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token.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C896F24-98A5-81A3-146E-DF6029E6CDD9}"/>
              </a:ext>
            </a:extLst>
          </p:cNvPr>
          <p:cNvGrpSpPr/>
          <p:nvPr/>
        </p:nvGrpSpPr>
        <p:grpSpPr>
          <a:xfrm>
            <a:off x="5852160" y="2895600"/>
            <a:ext cx="2926080" cy="1115568"/>
            <a:chOff x="5897880" y="1207008"/>
            <a:chExt cx="2926080" cy="1828800"/>
          </a:xfrm>
        </p:grpSpPr>
        <p:sp>
          <p:nvSpPr>
            <p:cNvPr id="10" name="Rectangle 9"/>
            <p:cNvSpPr/>
            <p:nvPr/>
          </p:nvSpPr>
          <p:spPr>
            <a:xfrm>
              <a:off x="5897880" y="1207008"/>
              <a:ext cx="2926080" cy="1828800"/>
            </a:xfrm>
            <a:prstGeom prst="rect">
              <a:avLst/>
            </a:prstGeom>
            <a:solidFill>
              <a:srgbClr val="EBF3F9"/>
            </a:solidFill>
            <a:ln w="15240">
              <a:solidFill>
                <a:srgbClr val="2A7F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97880" y="1207008"/>
              <a:ext cx="64008" cy="1828800"/>
            </a:xfrm>
            <a:prstGeom prst="rect">
              <a:avLst/>
            </a:prstGeom>
            <a:solidFill>
              <a:srgbClr val="2A7F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35040" y="1280160"/>
              <a:ext cx="27432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800" b="1" i="0">
                  <a:solidFill>
                    <a:srgbClr val="2A7FBD"/>
                  </a:solidFill>
                  <a:latin typeface="Calibri"/>
                </a:rPr>
                <a:t>PRINCÍPIO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35040" y="1499616"/>
              <a:ext cx="2743200" cy="14813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i="0">
                  <a:solidFill>
                    <a:srgbClr val="0D1B2E"/>
                  </a:solidFill>
                  <a:latin typeface="Calibri"/>
                </a:rPr>
                <a:t>Mais tokens não significam
mais inteligência.
Significam, muitas vezes,
mais ruído.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320040" y="434035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6778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Jiang et al.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066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LongLLMLingua: compressão de prompt para contextos longos. Preserva trechos de alta relevância, reduzindo tokens sem perda crítica.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38607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36778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Packer et al.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5066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MemGPT: arquitetura de memória hierárquica para LLMs inspirada em SO. Separa memória in-context (limitada) de memória externa (persistente), com paginação.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Trade-offs: Qualidade, Custo e Latência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50973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060701"/>
            <a:ext cx="8503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D1B2E"/>
                </a:solidFill>
                <a:latin typeface="Calibri"/>
              </a:rPr>
              <a:t>Toda técnica que melhora um aspecto pode degradar outro.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01520"/>
            <a:ext cx="3977639" cy="43891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401520"/>
            <a:ext cx="3794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↑  Mais contexto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401520"/>
            <a:ext cx="4343400" cy="438912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01520"/>
            <a:ext cx="4160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A5068"/>
                </a:solidFill>
                <a:latin typeface="Calibri"/>
              </a:rPr>
              <a:t>→  Maior custo e ruído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31872"/>
            <a:ext cx="3977639" cy="43891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1931872"/>
            <a:ext cx="3794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↑  Mais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931872"/>
            <a:ext cx="4343400" cy="438912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931872"/>
            <a:ext cx="4160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A5068"/>
                </a:solidFill>
                <a:latin typeface="Calibri"/>
              </a:rPr>
              <a:t>→  Maior latência e complexidade operacional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62224"/>
            <a:ext cx="3977639" cy="43891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2462224"/>
            <a:ext cx="3794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↑  Mais compressão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462224"/>
            <a:ext cx="4343400" cy="438912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462224"/>
            <a:ext cx="4160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A5068"/>
                </a:solidFill>
                <a:latin typeface="Calibri"/>
              </a:rPr>
              <a:t>→  Risco de perder nuance crítica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92576"/>
            <a:ext cx="3977639" cy="43891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2992576"/>
            <a:ext cx="3794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↑  Mais automação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992576"/>
            <a:ext cx="4343400" cy="438912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2992576"/>
            <a:ext cx="4160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A5068"/>
                </a:solidFill>
                <a:latin typeface="Calibri"/>
              </a:rPr>
              <a:t>→  Falsa confiança e erro oculto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16282"/>
            <a:ext cx="8503920" cy="566928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516282"/>
            <a:ext cx="64008" cy="56692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589434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POSTURA MADURA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80" y="3755551"/>
            <a:ext cx="8275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 err="1">
                <a:solidFill>
                  <a:srgbClr val="0D1B2E"/>
                </a:solidFill>
                <a:latin typeface="Calibri"/>
              </a:rPr>
              <a:t>Projetar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IA é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equilibrar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ganhos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perdas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existe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solução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gratuita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18619F04-0EAF-AD97-EE89-D0AA40EB8A25}"/>
              </a:ext>
            </a:extLst>
          </p:cNvPr>
          <p:cNvGrpSpPr/>
          <p:nvPr/>
        </p:nvGrpSpPr>
        <p:grpSpPr>
          <a:xfrm>
            <a:off x="349134" y="4183791"/>
            <a:ext cx="8458200" cy="658368"/>
            <a:chOff x="320040" y="4187952"/>
            <a:chExt cx="8458200" cy="658368"/>
          </a:xfrm>
        </p:grpSpPr>
        <p:sp>
          <p:nvSpPr>
            <p:cNvPr id="39" name="Rectangle 29"/>
            <p:cNvSpPr/>
            <p:nvPr/>
          </p:nvSpPr>
          <p:spPr>
            <a:xfrm>
              <a:off x="320040" y="4187952"/>
              <a:ext cx="8458200" cy="658368"/>
            </a:xfrm>
            <a:prstGeom prst="rect">
              <a:avLst/>
            </a:prstGeom>
            <a:solidFill>
              <a:srgbClr val="E2EAF2"/>
            </a:solidFill>
            <a:ln w="6350">
              <a:solidFill>
                <a:srgbClr val="D5DF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0"/>
            <p:cNvSpPr txBox="1"/>
            <p:nvPr/>
          </p:nvSpPr>
          <p:spPr>
            <a:xfrm>
              <a:off x="457200" y="4215384"/>
              <a:ext cx="26670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700" b="1" u="sng">
                  <a:solidFill>
                    <a:srgbClr val="2A7FBD"/>
                  </a:solidFill>
                  <a:latin typeface="Calibri"/>
                  <a:hlinkClick r:id="rId3"/>
                </a:rPr>
                <a:t>Lewis et al. (2020)</a:t>
              </a:r>
            </a:p>
          </p:txBody>
        </p:sp>
        <p:sp>
          <p:nvSpPr>
            <p:cNvPr id="41" name="TextBox 31"/>
            <p:cNvSpPr txBox="1"/>
            <p:nvPr/>
          </p:nvSpPr>
          <p:spPr>
            <a:xfrm>
              <a:off x="457200" y="4398264"/>
              <a:ext cx="2667000" cy="41147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650" b="0" i="0">
                  <a:solidFill>
                    <a:srgbClr val="3A5068"/>
                  </a:solidFill>
                  <a:latin typeface="Calibri"/>
                </a:rPr>
                <a:t>Introduz RAG: recuperação densa combinada com geração. Reduz alucinação e aumenta rastreabilidade. Arquitetura de referência para grounding.</a:t>
              </a:r>
            </a:p>
          </p:txBody>
        </p:sp>
        <p:sp>
          <p:nvSpPr>
            <p:cNvPr id="42" name="Rectangle 32"/>
            <p:cNvSpPr/>
            <p:nvPr/>
          </p:nvSpPr>
          <p:spPr>
            <a:xfrm>
              <a:off x="3142488" y="4233672"/>
              <a:ext cx="13716" cy="566928"/>
            </a:xfrm>
            <a:prstGeom prst="rect">
              <a:avLst/>
            </a:prstGeom>
            <a:solidFill>
              <a:srgbClr val="D5DF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33"/>
            <p:cNvSpPr txBox="1"/>
            <p:nvPr/>
          </p:nvSpPr>
          <p:spPr>
            <a:xfrm>
              <a:off x="3215640" y="4215384"/>
              <a:ext cx="26670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700" b="1" u="sng">
                  <a:solidFill>
                    <a:srgbClr val="2A7FBD"/>
                  </a:solidFill>
                  <a:latin typeface="Calibri"/>
                  <a:hlinkClick r:id="rId4"/>
                </a:rPr>
                <a:t>Jiang et al. (2024)</a:t>
              </a:r>
            </a:p>
          </p:txBody>
        </p:sp>
        <p:sp>
          <p:nvSpPr>
            <p:cNvPr id="44" name="TextBox 34"/>
            <p:cNvSpPr txBox="1"/>
            <p:nvPr/>
          </p:nvSpPr>
          <p:spPr>
            <a:xfrm>
              <a:off x="3215640" y="4398264"/>
              <a:ext cx="2667000" cy="41147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650" b="0" i="0">
                  <a:solidFill>
                    <a:srgbClr val="3A5068"/>
                  </a:solidFill>
                  <a:latin typeface="Calibri"/>
                </a:rPr>
                <a:t>LongLLMLingua: compressão de prompt para contextos longos. Preserva trechos de alta relevância, reduzindo tokens sem perda crítica.</a:t>
              </a:r>
            </a:p>
          </p:txBody>
        </p:sp>
        <p:sp>
          <p:nvSpPr>
            <p:cNvPr id="45" name="Rectangle 35"/>
            <p:cNvSpPr/>
            <p:nvPr/>
          </p:nvSpPr>
          <p:spPr>
            <a:xfrm>
              <a:off x="5900928" y="4233672"/>
              <a:ext cx="13716" cy="566928"/>
            </a:xfrm>
            <a:prstGeom prst="rect">
              <a:avLst/>
            </a:prstGeom>
            <a:solidFill>
              <a:srgbClr val="D5DF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36"/>
            <p:cNvSpPr txBox="1"/>
            <p:nvPr/>
          </p:nvSpPr>
          <p:spPr>
            <a:xfrm>
              <a:off x="5974080" y="4215384"/>
              <a:ext cx="26670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700" b="1" u="sng">
                  <a:solidFill>
                    <a:srgbClr val="2A7FBD"/>
                  </a:solidFill>
                  <a:latin typeface="Calibri"/>
                  <a:hlinkClick r:id="rId5"/>
                </a:rPr>
                <a:t>Amershi et al. (2019)</a:t>
              </a:r>
            </a:p>
          </p:txBody>
        </p:sp>
        <p:sp>
          <p:nvSpPr>
            <p:cNvPr id="47" name="TextBox 37"/>
            <p:cNvSpPr txBox="1"/>
            <p:nvPr/>
          </p:nvSpPr>
          <p:spPr>
            <a:xfrm>
              <a:off x="5974080" y="4398264"/>
              <a:ext cx="2667000" cy="41147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650" b="0" i="0">
                  <a:solidFill>
                    <a:srgbClr val="3A5068"/>
                  </a:solidFill>
                  <a:latin typeface="Calibri"/>
                </a:rPr>
                <a:t>18 diretrizes de design human-AI em quatro fases da interação. Base empírica de estudos com produtos Microsoft.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GOVERNANÇA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Validação Humana Continua Central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5349240" cy="7950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A ferramenta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sugere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resume,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modela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codifica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O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profissional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valida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coerência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risco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prioridade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aderência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ao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domínio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Sem human-in-the-loop, 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automação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acelera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erro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elimina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352D314-2A2D-36FC-2F1A-8CEBFBA2BD66}"/>
              </a:ext>
            </a:extLst>
          </p:cNvPr>
          <p:cNvGrpSpPr/>
          <p:nvPr/>
        </p:nvGrpSpPr>
        <p:grpSpPr>
          <a:xfrm>
            <a:off x="5058294" y="2413104"/>
            <a:ext cx="3719946" cy="1420647"/>
            <a:chOff x="2675451" y="2410689"/>
            <a:chExt cx="3719946" cy="1420647"/>
          </a:xfrm>
        </p:grpSpPr>
        <p:sp>
          <p:nvSpPr>
            <p:cNvPr id="10" name="Rectangle 9"/>
            <p:cNvSpPr/>
            <p:nvPr/>
          </p:nvSpPr>
          <p:spPr>
            <a:xfrm>
              <a:off x="2675451" y="2410689"/>
              <a:ext cx="3719946" cy="1420647"/>
            </a:xfrm>
            <a:prstGeom prst="rect">
              <a:avLst/>
            </a:prstGeom>
            <a:solidFill>
              <a:srgbClr val="EBF3F9"/>
            </a:solidFill>
            <a:ln w="15240">
              <a:solidFill>
                <a:srgbClr val="2A7F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75451" y="2410689"/>
              <a:ext cx="81374" cy="1420647"/>
            </a:xfrm>
            <a:prstGeom prst="rect">
              <a:avLst/>
            </a:prstGeom>
            <a:solidFill>
              <a:srgbClr val="2A7F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12610" y="2476703"/>
              <a:ext cx="3487449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800" b="1" i="0">
                  <a:solidFill>
                    <a:srgbClr val="2A7FBD"/>
                  </a:solidFill>
                  <a:latin typeface="Calibri"/>
                </a:rPr>
                <a:t>POSTURA CORRETA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12610" y="2703297"/>
              <a:ext cx="3487449" cy="10156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Gerar →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Revisar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→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Corrigir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→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Iterar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.
IA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acelera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análise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.</a:t>
              </a:r>
              <a:endParaRPr lang="pt-BR" sz="1200" b="0" i="0" dirty="0">
                <a:solidFill>
                  <a:srgbClr val="0D1B2E"/>
                </a:solidFill>
                <a:latin typeface="Calibri"/>
              </a:endParaRPr>
            </a:p>
            <a:p>
              <a:pPr algn="l"/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
</a:t>
              </a:r>
              <a:r>
                <a:rPr sz="1200" b="0" i="0" dirty="0" err="1">
                  <a:solidFill>
                    <a:srgbClr val="0D1B2E"/>
                  </a:solidFill>
                  <a:latin typeface="Calibri"/>
                </a:rPr>
                <a:t>Responsabilidade</a:t>
              </a:r>
              <a:r>
                <a:rPr sz="1200" b="0" i="0" dirty="0">
                  <a:solidFill>
                    <a:srgbClr val="0D1B2E"/>
                  </a:solidFill>
                  <a:latin typeface="Calibri"/>
                </a:rPr>
                <a:t> é humana.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320040" y="4312641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0073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Amershi et al.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2953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18 diretrizes de design human-AI em quatro fases da interação. Base empírica de estudos com produtos Microsoft.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358361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340073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Ji et al.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22953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Survey de alucinação em NLG: tipologia, causas, métricas e estratégias de mitigação. Referência canônica sobre quando modelos inventam.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Antes dos Dados, a História Narrativa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5346700" cy="1646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Um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caso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só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convence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quando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é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contado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como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história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como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relatório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narrativa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organiza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tensão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resolução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ela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dados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viram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ruído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Escrever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história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antes de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montar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prompt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garante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que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a IA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receba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enquadramento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correto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fluxo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ideal: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Narrativa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→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Estrutura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→ Prompt →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Resposta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→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Validação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2800" y="1206500"/>
            <a:ext cx="2921000" cy="177800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2800" y="1206500"/>
            <a:ext cx="76200" cy="17780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2500" y="1270000"/>
            <a:ext cx="2743200" cy="215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POR QUE A NARRATIVA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2500" y="1498600"/>
            <a:ext cx="2743200" cy="142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0D1B2E"/>
                </a:solidFill>
                <a:latin typeface="Calibri"/>
              </a:rPr>
              <a:t>Sem história estruturada, o profissional pede à IA "analise este aluno" — e recebe uma resposta genérica.</a:t>
            </a:r>
          </a:p>
          <a:p>
            <a:pPr algn="l"/>
            <a:r>
              <a:rPr sz="1200" b="0" i="0" dirty="0">
                <a:solidFill>
                  <a:srgbClr val="0D1B2E"/>
                </a:solidFill>
                <a:latin typeface="Calibri"/>
              </a:rPr>
              <a:t>Com narrativa, ele fornece tensão, contexto e hipótese — e a IA entrega análise cirúrgica.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12641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0073"/>
            <a:ext cx="40462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sz="750" b="1" u="sng">
                <a:solidFill>
                  <a:srgbClr val="2A7FBD"/>
                </a:solidFill>
                <a:latin typeface="Calibri"/>
              </a:defRPr>
            </a:lvl1pPr>
          </a:lstStyle>
          <a:p>
            <a:r>
              <a:rPr dirty="0">
                <a:hlinkClick r:id="rId3"/>
              </a:rPr>
              <a:t>Dahlstrom (2014)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522953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Narrativas aumentam compreensão e retenção vs. dados isolados. Evidência em comunicação científica.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358361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340073"/>
            <a:ext cx="40462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750" b="1" u="sng" dirty="0">
                <a:solidFill>
                  <a:srgbClr val="2A7FBD"/>
                </a:solidFill>
                <a:latin typeface="Calibri"/>
              </a:rPr>
              <a:t>White et al.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22953"/>
            <a:ext cx="40462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750" b="0" i="0" dirty="0">
                <a:solidFill>
                  <a:srgbClr val="3A5068"/>
                </a:solidFill>
                <a:latin typeface="Calibri"/>
              </a:rPr>
              <a:t>Prompt patterns estruturados melhoram precisão e qualidade de respostas em LLMs.</a:t>
            </a:r>
          </a:p>
        </p:txBody>
      </p:sp>
    </p:spTree>
    <p:extLst>
      <p:ext uri="{BB962C8B-B14F-4D97-AF65-F5344CB8AC3E}">
        <p14:creationId xmlns:p14="http://schemas.microsoft.com/office/powerpoint/2010/main" val="205190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O Caso: Academia de Alto Rendimento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503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D1B2E"/>
                </a:solidFill>
                <a:latin typeface="Calibri"/>
              </a:rPr>
              <a:t>Premium por fora. Frágil por dentro.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5349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Aluno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com histórico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clínico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relevante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treino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dependente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rastreabilidade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Professor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outro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turno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acesso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confiável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do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aluno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Decisão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operacional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tomada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com base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memória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WhatsApp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improviso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572768"/>
            <a:ext cx="2926080" cy="160020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97880" y="1572768"/>
            <a:ext cx="64008" cy="16002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65376"/>
            <a:ext cx="274320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Ausência de estrutura
informacional em contexto
de risco físico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8795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21538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Ahmad et al. 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9826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Mapeamento sobre requisitos de sistemas de IA: explicabilidade, fairness, segurança e rastreabilidade. Distingue RE convencional de RE para ML.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1708" y="423367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4860" y="421538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Krishna et al.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860" y="439826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DEMO · ETAPA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Demo — Etapa 1: Decompor o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458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3A5068"/>
                </a:solidFill>
                <a:latin typeface="Calibri"/>
              </a:rPr>
              <a:t>Antes de propor solução: separar falha estrutural de sintoma operacional.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4096512" cy="1188720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384048" cy="118872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572768"/>
            <a:ext cx="38404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645920"/>
            <a:ext cx="3529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D1B2E"/>
                </a:solidFill>
                <a:latin typeface="Calibri"/>
              </a:rPr>
              <a:t>Risco físico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920240"/>
            <a:ext cx="352958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5068"/>
                </a:solidFill>
                <a:latin typeface="Calibri"/>
              </a:rPr>
              <a:t>Aluno com restrição clínica sujeito a treino inadequado por falta de informação no momento da decisão.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1144" y="1572768"/>
            <a:ext cx="4096512" cy="1188720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81144" y="1572768"/>
            <a:ext cx="384048" cy="11887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1572768"/>
            <a:ext cx="38404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1645920"/>
            <a:ext cx="3529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D1B2E"/>
                </a:solidFill>
                <a:latin typeface="Calibri"/>
              </a:rPr>
              <a:t>Histórico inacessível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920240"/>
            <a:ext cx="352958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5068"/>
                </a:solidFill>
                <a:latin typeface="Calibri"/>
              </a:rPr>
              <a:t>Informação existente, mas não disponível ao profissional certo no turno certo.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07791"/>
            <a:ext cx="4096512" cy="1188720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907791"/>
            <a:ext cx="384048" cy="1188720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907791"/>
            <a:ext cx="38404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2980944"/>
            <a:ext cx="3529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D1B2E"/>
                </a:solidFill>
                <a:latin typeface="Calibri"/>
              </a:rPr>
              <a:t>Falta de padronização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255263"/>
            <a:ext cx="352958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5068"/>
                </a:solidFill>
                <a:latin typeface="Calibri"/>
              </a:rPr>
              <a:t>Cada profissional opera com critérios próprios. Sem protocolo compartilhado.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1144" y="2907791"/>
            <a:ext cx="4096512" cy="1188720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81144" y="2907791"/>
            <a:ext cx="384048" cy="118872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81144" y="2907791"/>
            <a:ext cx="38404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1" y="2980944"/>
            <a:ext cx="3529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D1B2E"/>
                </a:solidFill>
                <a:latin typeface="Calibri"/>
              </a:rPr>
              <a:t>Cegueira gerencial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1" y="3255263"/>
            <a:ext cx="352958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5068"/>
                </a:solidFill>
                <a:latin typeface="Calibri"/>
              </a:rPr>
              <a:t>Baixa visibilidade sobre operação, evolução dos alunos e situação financeira.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7083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Krishna et al.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1708" y="441655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486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Cheng et al. (2024)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486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Revisão sistemática sobre IA generativa em RE — elicitação, especificação, validação e rastreabilidade.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DEMO · ETAPA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Demo — Etapa 2: Requisitos e Restrições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743200" cy="402336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23444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Funcionais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36776"/>
            <a:ext cx="2743200" cy="210312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682496"/>
            <a:ext cx="25237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Cadastro e avaliação de aluno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Prescrição e evolução de treino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Controle de acesso e check-in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Gestão de cobrança e planos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402336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23444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Não Funcionais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636776"/>
            <a:ext cx="2743200" cy="2103120"/>
          </a:xfrm>
          <a:prstGeom prst="rect">
            <a:avLst/>
          </a:prstGeom>
          <a:solidFill>
            <a:srgbClr val="EBF3F9"/>
          </a:solidFill>
          <a:ln w="1524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682496"/>
            <a:ext cx="25237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Rastreabilidade e auditoria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Segurança e disponibilidade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Simplicidade de uso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2743200" cy="402336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23444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Restrições de Domínio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636776"/>
            <a:ext cx="2743200" cy="2103120"/>
          </a:xfrm>
          <a:prstGeom prst="rect">
            <a:avLst/>
          </a:prstGeom>
          <a:solidFill>
            <a:srgbClr val="EBF3F9"/>
          </a:solidFill>
          <a:ln w="15240">
            <a:solidFill>
              <a:srgbClr val="B8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1682496"/>
            <a:ext cx="25237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Lesão e limitação médica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Inadimplência e plano vencido</a:t>
            </a:r>
          </a:p>
          <a:p>
            <a:pPr>
              <a:spcAft>
                <a:spcPts val="400"/>
              </a:spcAft>
              <a:buChar char="•"/>
            </a:pPr>
            <a:r>
              <a:rPr sz="1100">
                <a:solidFill>
                  <a:srgbClr val="0D1B2E"/>
                </a:solidFill>
                <a:latin typeface="Calibri"/>
              </a:rPr>
              <a:t>  Troca de treinador e histórico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58768"/>
            <a:ext cx="8458200" cy="54864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858768"/>
            <a:ext cx="64008" cy="5486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LEMBRETE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51376"/>
            <a:ext cx="8275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IA acelera requisito bom — e também acelera requisito ruim.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87952"/>
            <a:ext cx="8458200" cy="65836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3"/>
              </a:rPr>
              <a:t>Krishna et al.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42488" y="4233672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1564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4"/>
              </a:rPr>
              <a:t>Ahmad et al. (2023)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564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Mapeamento sobre requisitos de sistemas de IA: explicabilidade, fairness, segurança e rastreabilidade. Distingue RE convencional de RE para ML.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928" y="4233672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7408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5"/>
              </a:rPr>
              <a:t>Cheng et al. (2024)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408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Revisão sistemática sobre IA generativa em RE — elicitação, especificação, validação e rastreabilidade.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DEMO · ETAPA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Demo — Etapa 3: Modelo de Domínio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458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D1B2E"/>
                </a:solidFill>
                <a:latin typeface="Calibri"/>
              </a:rPr>
              <a:t>Entidades não são tabelas soltas — são conceitos do negócio.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1719072" cy="4572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57276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Aluno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3704" y="1572768"/>
            <a:ext cx="1719072" cy="4572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03704" y="157276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Professor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572768"/>
            <a:ext cx="1719072" cy="457200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157276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76272"/>
            <a:ext cx="1719072" cy="45720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176272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Restrição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03704" y="2176272"/>
            <a:ext cx="1719072" cy="4572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03704" y="2176272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Treino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7368" y="2176272"/>
            <a:ext cx="1719072" cy="4572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87368" y="2176272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Sessão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79776"/>
            <a:ext cx="1719072" cy="4572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779776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03704" y="2779776"/>
            <a:ext cx="1719072" cy="457200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03704" y="2779776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7368" y="2779776"/>
            <a:ext cx="1719072" cy="457200"/>
          </a:xfrm>
          <a:prstGeom prst="rect">
            <a:avLst/>
          </a:prstGeom>
          <a:solidFill>
            <a:srgbClr val="1A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87368" y="2779776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572768"/>
            <a:ext cx="2834640" cy="2084831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1572768"/>
            <a:ext cx="2834640" cy="402336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1572768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IA propõe  ·  Especialista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2029968"/>
            <a:ext cx="26334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D1B2E"/>
                </a:solidFill>
                <a:latin typeface="Calibri"/>
              </a:rPr>
              <a:t>A IA gera o modelo inicial a partir da narrativa. O especialista valida entidades, relações e regras de domínio que o modelo não consegue inferir.
Boa modelagem garante consistência entre front-end, back-end, banco e processo.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34079"/>
            <a:ext cx="8503920" cy="54864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734079"/>
            <a:ext cx="64008" cy="5486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807231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PONTO DE ATENÇÃO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26687"/>
            <a:ext cx="8275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Negócio vem antes da tabela.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7083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Krishna et al. (2024)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1708" y="441655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9486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Ahmad et al. (2023)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486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Mapeamento sobre requisitos de sistemas de IA: explicabilidade, fairness, segurança e rastreabilidade. Distingue RE convencional de RE para ML.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DEMO · ETAPA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Demo — Etapa 4: Processo e BPMN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458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3A5068"/>
                </a:solidFill>
                <a:latin typeface="Calibri"/>
              </a:rPr>
              <a:t>Código sem fluxo vira automação confusa — sem ponto de controle, sem tratamento de exceção.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1005840" cy="1078992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572768"/>
            <a:ext cx="10058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1792224"/>
            <a:ext cx="1572768" cy="640080"/>
          </a:xfrm>
          <a:prstGeom prst="rect">
            <a:avLst/>
          </a:prstGeom>
          <a:solidFill>
            <a:srgbClr val="EBF3F9"/>
          </a:solidFill>
          <a:ln w="1270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44752" y="1792224"/>
            <a:ext cx="15727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D1B2E"/>
                </a:solidFill>
                <a:latin typeface="Calibri"/>
              </a:rPr>
              <a:t>check-in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92224"/>
            <a:ext cx="2103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1792224"/>
            <a:ext cx="1572768" cy="640080"/>
          </a:xfrm>
          <a:prstGeom prst="rect">
            <a:avLst/>
          </a:prstGeom>
          <a:solidFill>
            <a:srgbClr val="EBF3F9"/>
          </a:solidFill>
          <a:ln w="1270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27832" y="1792224"/>
            <a:ext cx="15727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D1B2E"/>
                </a:solidFill>
                <a:latin typeface="Calibri"/>
              </a:rPr>
              <a:t>verifica plano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792224"/>
            <a:ext cx="2103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792224"/>
            <a:ext cx="1572768" cy="640080"/>
          </a:xfrm>
          <a:prstGeom prst="rect">
            <a:avLst/>
          </a:prstGeom>
          <a:solidFill>
            <a:srgbClr val="EBF3F9"/>
          </a:solidFill>
          <a:ln w="1270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0912" y="1792224"/>
            <a:ext cx="15727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D1B2E"/>
                </a:solidFill>
                <a:latin typeface="Calibri"/>
              </a:rPr>
              <a:t>verifica restrições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92224"/>
            <a:ext cx="2103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3992" y="1792224"/>
            <a:ext cx="1572768" cy="640080"/>
          </a:xfrm>
          <a:prstGeom prst="rect">
            <a:avLst/>
          </a:prstGeom>
          <a:solidFill>
            <a:srgbClr val="EBF3F9"/>
          </a:solidFill>
          <a:ln w="1270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1792224"/>
            <a:ext cx="15727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D1B2E"/>
                </a:solidFill>
                <a:latin typeface="Calibri"/>
              </a:rPr>
              <a:t>libera acesso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79776"/>
            <a:ext cx="1005840" cy="120700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779776"/>
            <a:ext cx="100584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TREINO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4752" y="3017520"/>
            <a:ext cx="1261872" cy="658368"/>
          </a:xfrm>
          <a:prstGeom prst="rect">
            <a:avLst/>
          </a:prstGeom>
          <a:solidFill>
            <a:srgbClr val="EBF3F9"/>
          </a:solidFill>
          <a:ln w="1270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4752" y="3017520"/>
            <a:ext cx="1261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0D1B2E"/>
                </a:solidFill>
                <a:latin typeface="Calibri"/>
              </a:rPr>
              <a:t>avaliação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3017520"/>
            <a:ext cx="182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9504" y="3017520"/>
            <a:ext cx="1261872" cy="658368"/>
          </a:xfrm>
          <a:prstGeom prst="rect">
            <a:avLst/>
          </a:prstGeom>
          <a:solidFill>
            <a:srgbClr val="EBF3F9"/>
          </a:solidFill>
          <a:ln w="1270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9504" y="3017520"/>
            <a:ext cx="1261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0D1B2E"/>
                </a:solidFill>
                <a:latin typeface="Calibri"/>
              </a:rPr>
              <a:t>prescrição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3017520"/>
            <a:ext cx="182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3017520"/>
            <a:ext cx="1261872" cy="658368"/>
          </a:xfrm>
          <a:prstGeom prst="rect">
            <a:avLst/>
          </a:prstGeom>
          <a:solidFill>
            <a:srgbClr val="EBF3F9"/>
          </a:solidFill>
          <a:ln w="1270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34256" y="3017520"/>
            <a:ext cx="1261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0D1B2E"/>
                </a:solidFill>
                <a:latin typeface="Calibri"/>
              </a:rPr>
              <a:t>execução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3017520"/>
            <a:ext cx="182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9008" y="3017520"/>
            <a:ext cx="1261872" cy="658368"/>
          </a:xfrm>
          <a:prstGeom prst="rect">
            <a:avLst/>
          </a:prstGeom>
          <a:solidFill>
            <a:srgbClr val="EBF3F9"/>
          </a:solidFill>
          <a:ln w="1270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79008" y="3017520"/>
            <a:ext cx="1261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0D1B2E"/>
                </a:solidFill>
                <a:latin typeface="Calibri"/>
              </a:rP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17520"/>
            <a:ext cx="182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017520"/>
            <a:ext cx="1261872" cy="658368"/>
          </a:xfrm>
          <a:prstGeom prst="rect">
            <a:avLst/>
          </a:prstGeom>
          <a:solidFill>
            <a:srgbClr val="EBF3F9"/>
          </a:solidFill>
          <a:ln w="12700">
            <a:solidFill>
              <a:srgbClr val="1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3017520"/>
            <a:ext cx="1261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0D1B2E"/>
                </a:solidFill>
                <a:latin typeface="Calibri"/>
              </a:rPr>
              <a:t>replaneja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59936"/>
            <a:ext cx="8458200" cy="566928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59936"/>
            <a:ext cx="64008" cy="56692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133088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PRINCÍPIO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352544"/>
            <a:ext cx="8275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Processo vem antes de endpoint. Processo desenhado depois do código vira correção cara.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70832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Amershi et al. (2019)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18 diretrizes de design human-AI em quatro fases da interação. Base empírica de estudos com produtos Microsoft.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1708" y="4416552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94860" y="4398264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Cheng et al. (2024)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4860" y="4581144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Revisão sistemática sobre IA generativa em RE — elicitação, especificação, validação e rastreabilidade.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AMBIENTE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O Ambiente da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8458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D1B2E"/>
                </a:solidFill>
                <a:latin typeface="Calibri"/>
              </a:rPr>
              <a:t>Copilot + Memory Bank + Spec Kit + Rules + prompts de 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1517904" cy="1481328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719072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história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11521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194560"/>
            <a:ext cx="15179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story.md como
contexto-base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3" y="1572768"/>
            <a:ext cx="24688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9112" y="1572768"/>
            <a:ext cx="1517904" cy="1481328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39112" y="1719072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1992" y="2103120"/>
            <a:ext cx="11521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39112" y="2194560"/>
            <a:ext cx="15179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requisitos,
entidades, fluxos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1572768"/>
            <a:ext cx="24688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8183" y="1572768"/>
            <a:ext cx="1517904" cy="1481328"/>
          </a:xfrm>
          <a:prstGeom prst="rect">
            <a:avLst/>
          </a:prstGeom>
          <a:solidFill>
            <a:srgbClr val="18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58183" y="1719072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diagramas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1063" y="2103120"/>
            <a:ext cx="11521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58183" y="2194560"/>
            <a:ext cx="15179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BPMN, ERD,
sequência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1572768"/>
            <a:ext cx="24688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7255" y="1572768"/>
            <a:ext cx="1517904" cy="14813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77255" y="1719072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back-end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0136" y="2103120"/>
            <a:ext cx="11521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77255" y="2194560"/>
            <a:ext cx="15179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API, lógica,
banco de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1572768"/>
            <a:ext cx="24688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3A506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6327" y="1572768"/>
            <a:ext cx="1517904" cy="1481328"/>
          </a:xfrm>
          <a:prstGeom prst="rect">
            <a:avLst/>
          </a:prstGeom>
          <a:solidFill>
            <a:srgbClr val="1A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96327" y="1719072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9207" y="2103120"/>
            <a:ext cx="11521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96327" y="2194560"/>
            <a:ext cx="15179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telas, fluxo
de usuário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182112"/>
            <a:ext cx="8458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1">
                <a:solidFill>
                  <a:srgbClr val="3A5068"/>
                </a:solidFill>
                <a:latin typeface="Calibri"/>
              </a:rPr>
              <a:t>A demonstração não é mágica — é orquestração de contexto. Cada etapa alimenta a próxima.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39312"/>
            <a:ext cx="8458200" cy="64008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639312"/>
            <a:ext cx="64008" cy="64008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712463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PRINCÍPIO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31920"/>
            <a:ext cx="827532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Narrativa estruturada gera artefatos rastreáveis. O ambiente só executa o que o contexto permite.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87952"/>
            <a:ext cx="8458200" cy="65836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3"/>
              </a:rPr>
              <a:t>Lewis et al. (2020)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2488" y="4233672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1564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4"/>
              </a:rPr>
              <a:t>Packer et al. (2023)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564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MemGPT: arquitetura de memória hierárquica para LLMs inspirada em SO. Separa memória in-context (limitada) de memória externa (persistente), com paginação.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928" y="4233672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74080" y="4215384"/>
            <a:ext cx="2667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5"/>
              </a:rPr>
              <a:t>Krishna et al. 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4080" y="4398264"/>
            <a:ext cx="2667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Geração Assistida: Produtividade com Risco Controlado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107088"/>
            <a:ext cx="631240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Ferramentas de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geração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aceleram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boilerplate,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rascunho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exploração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Código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sintaticamente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correto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implica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código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semanticamente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D1B2E"/>
                </a:solidFill>
                <a:latin typeface="Calibri"/>
              </a:rPr>
              <a:t>adequado</a:t>
            </a:r>
            <a:r>
              <a:rPr sz="1300" b="1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Boilerplate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correto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com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lógica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errada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cria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falsa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sensação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progresso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saída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exige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revisão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arquitetural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funcional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e de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segurança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4160" y="1156303"/>
            <a:ext cx="2324100" cy="1017574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14160" y="1156303"/>
            <a:ext cx="64008" cy="101757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51320" y="1154867"/>
            <a:ext cx="218694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ADVERTÊNCIA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4170" y="1342879"/>
            <a:ext cx="2164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0D1B2E"/>
                </a:solidFill>
                <a:latin typeface="Calibri"/>
              </a:rPr>
              <a:t>Copilot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acelera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.
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garante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robustez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.
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fluidez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da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geração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confirma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validade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 da </a:t>
            </a:r>
            <a:r>
              <a:rPr sz="1200" b="0" i="0" dirty="0" err="1">
                <a:solidFill>
                  <a:srgbClr val="0D1B2E"/>
                </a:solidFill>
                <a:latin typeface="Calibri"/>
              </a:rPr>
              <a:t>solução</a:t>
            </a:r>
            <a:r>
              <a:rPr sz="1200" b="0" i="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20954"/>
            <a:ext cx="8458200" cy="47548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8386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3"/>
              </a:rPr>
              <a:t>Mastropaolo et al.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31266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Avalia robustez do Copilot: pequenas perturbações de prompt geram variações significativas na saída. Questiona confiabilidade da geração automática.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708" y="4366674"/>
            <a:ext cx="13716" cy="38404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60" y="4348386"/>
            <a:ext cx="40462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1" u="sng">
                <a:solidFill>
                  <a:srgbClr val="2A7FBD"/>
                </a:solidFill>
                <a:latin typeface="Calibri"/>
                <a:hlinkClick r:id="rId4"/>
              </a:rPr>
              <a:t>Yetiştiren et al.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4531266"/>
            <a:ext cx="40462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3A5068"/>
                </a:solidFill>
                <a:latin typeface="Calibri"/>
              </a:rPr>
              <a:t>Mede correção, segurança e manutenibilidade do código gerado por IA. Resultado: qualidade inconsistente sem revisão especializada.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6E7B78D-39EB-6891-647A-DA6BACA1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920"/>
          <a:stretch>
            <a:fillRect/>
          </a:stretch>
        </p:blipFill>
        <p:spPr>
          <a:xfrm>
            <a:off x="538218" y="2219875"/>
            <a:ext cx="7851401" cy="20321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LIMITES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Limitações e Riscos Remanescentes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85039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Memória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pode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estar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desatualizada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ou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incompleta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Retrieval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pode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trazer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contexto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semanticamente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próximo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, mas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incorreto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Compressão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excessiva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pode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apagar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detalhes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críticos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A IA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compreende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domínio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como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um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especialista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ela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aproxima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  <a:buChar char="•"/>
            </a:pPr>
            <a:r>
              <a:rPr sz="1300" dirty="0">
                <a:solidFill>
                  <a:srgbClr val="0D1B2E"/>
                </a:solidFill>
                <a:latin typeface="Calibri"/>
              </a:rPr>
              <a:t>  O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objetivo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não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é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eliminar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risco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; é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reduzir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risco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com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método</a:t>
            </a:r>
            <a:r>
              <a:rPr sz="1300" dirty="0">
                <a:solidFill>
                  <a:srgbClr val="0D1B2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D1B2E"/>
                </a:solidFill>
                <a:latin typeface="Calibri"/>
              </a:rPr>
              <a:t>auditável</a:t>
            </a:r>
            <a:r>
              <a:rPr sz="1300" dirty="0">
                <a:solidFill>
                  <a:srgbClr val="0D1B2E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163824"/>
            <a:ext cx="8458200" cy="594360"/>
          </a:xfrm>
          <a:prstGeom prst="rect">
            <a:avLst/>
          </a:prstGeom>
          <a:solidFill>
            <a:srgbClr val="EBF3F9"/>
          </a:solidFill>
          <a:ln w="15240">
            <a:solidFill>
              <a:srgbClr val="2A7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3165486"/>
            <a:ext cx="64008" cy="59436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36977"/>
            <a:ext cx="8275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A7FBD"/>
                </a:solidFill>
                <a:latin typeface="Calibri"/>
              </a:rPr>
              <a:t>TESE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15044"/>
            <a:ext cx="8275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D1B2E"/>
                </a:solidFill>
                <a:latin typeface="Calibri"/>
              </a:rPr>
              <a:t>Boa engenharia com IA reduz risco.
Não promete infalibilidade.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88196"/>
            <a:ext cx="8458200" cy="658368"/>
          </a:xfrm>
          <a:prstGeom prst="rect">
            <a:avLst/>
          </a:prstGeom>
          <a:solidFill>
            <a:srgbClr val="E2EAF2"/>
          </a:solidFill>
          <a:ln w="635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15628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3"/>
              </a:rPr>
              <a:t>Ji et al.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8508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Survey de alucinação em NLG: tipologia, causas, métricas e estratégias de mitigação. Referência canônica sobre quando modelos inventam.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2878" y="4133916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26030" y="4115628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4"/>
              </a:rPr>
              <a:t>Lewis et al. (2020)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6030" y="4298508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1708" y="4133916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4860" y="4115628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5"/>
              </a:rPr>
              <a:t>Jiang et al.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860" y="4298508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LongLLMLingua: compressão de prompt para contextos longos. Preserva trechos de alta relevância, reduzindo tokens sem perda crítica.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90538" y="4133916"/>
            <a:ext cx="13716" cy="566928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3690" y="4115628"/>
            <a:ext cx="197739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00" b="1" u="sng">
                <a:solidFill>
                  <a:srgbClr val="2A7FBD"/>
                </a:solidFill>
                <a:latin typeface="Calibri"/>
                <a:hlinkClick r:id="rId6"/>
              </a:rPr>
              <a:t>Amershi et al. (2019)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3690" y="4298508"/>
            <a:ext cx="197739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3A5068"/>
                </a:solidFill>
                <a:latin typeface="Calibri"/>
              </a:rPr>
              <a:t>18 diretrizes de design human-AI em quatro fases da interação. Base empírica de estudos com produtos Microsoft.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B8872A"/>
                </a:solidFill>
                <a:latin typeface="Calibri"/>
              </a:rPr>
              <a:t>S Í N T E S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IA de alto desempenho =
contexto certo + retrieval + memória +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29968"/>
            <a:ext cx="6400800" cy="36576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74980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C8D6E5"/>
                </a:solidFill>
                <a:latin typeface="Calibri"/>
              </a:rPr>
              <a:t>—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Modelos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 fortes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sem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método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produzem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desperdício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inconsistência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 e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risco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74980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  <a:latin typeface="Calibri"/>
              </a:rPr>
              <a:t>— Contexto bem estruturado gera mais valor do que prompts longos e genéricos.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64991"/>
            <a:ext cx="74980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  <a:latin typeface="Calibri"/>
              </a:rPr>
              <a:t>— A competência central não é falar com a IA — é projetar a interação com rigor.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77639"/>
            <a:ext cx="7315200" cy="868680"/>
          </a:xfrm>
          <a:prstGeom prst="rect">
            <a:avLst/>
          </a:prstGeom>
          <a:solidFill>
            <a:srgbClr val="1A3A55"/>
          </a:solidFill>
          <a:ln w="19050">
            <a:solidFill>
              <a:srgbClr val="B8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7315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B8872A"/>
                </a:solidFill>
                <a:latin typeface="Calibri"/>
              </a:rPr>
              <a:t>Pensar melhor com IA vale mais do que usar mais 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2400"/>
            <a:ext cx="804672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B8872A"/>
                </a:solidFill>
                <a:latin typeface="Calibri"/>
              </a:rPr>
              <a:t>B Ô N U S  —  S A Ú D E  M E N T A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2600"/>
            <a:ext cx="804672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C8D6E5"/>
                </a:solidFill>
                <a:latin typeface="Calibri"/>
              </a:rPr>
              <a:t>IA como Booster Mental do Programador</a:t>
            </a:r>
          </a:p>
          <a:p>
            <a:pPr algn="ctr"/>
            <a:r>
              <a:rPr sz="1400" b="0" i="1" dirty="0">
                <a:solidFill>
                  <a:srgbClr val="B8872A"/>
                </a:solidFill>
                <a:latin typeface="Calibri"/>
              </a:rPr>
              <a:t>Menos carga cognitiva. Menos ansiedade. Mais entrega.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244600"/>
            <a:ext cx="7493000" cy="381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1000"/>
            <a:ext cx="7498079" cy="355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00" b="1" i="0" dirty="0">
                <a:solidFill>
                  <a:srgbClr val="B8872A"/>
                </a:solidFill>
                <a:latin typeface="Calibri"/>
              </a:rPr>
              <a:t>1.</a:t>
            </a:r>
            <a:r>
              <a:rPr sz="1300" b="1" i="0" dirty="0">
                <a:solidFill>
                  <a:srgbClr val="B8872A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C8D6E5"/>
                </a:solidFill>
                <a:latin typeface="Calibri"/>
              </a:rPr>
              <a:t>Reduz a carga cognitiva: 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a IA assume tarefas repetitivas, liberando energia mental para o que </a:t>
            </a:r>
            <a:r>
              <a:rPr sz="1300" b="0" i="0" dirty="0" err="1">
                <a:solidFill>
                  <a:srgbClr val="C8D6E5"/>
                </a:solidFill>
                <a:latin typeface="Calibri"/>
              </a:rPr>
              <a:t>importa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13000"/>
            <a:ext cx="7498079" cy="355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00" b="1" i="0" dirty="0">
                <a:solidFill>
                  <a:srgbClr val="B8872A"/>
                </a:solidFill>
                <a:latin typeface="Calibri"/>
              </a:rPr>
              <a:t>2.</a:t>
            </a:r>
            <a:r>
              <a:rPr sz="1300" b="1" i="0" dirty="0">
                <a:solidFill>
                  <a:srgbClr val="B8872A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C8D6E5"/>
                </a:solidFill>
                <a:latin typeface="Calibri"/>
              </a:rPr>
              <a:t>Eleva a confiança: 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errar menos e entregar mais reduz o ciclo de estresse e autocrítica destrutiva.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62300"/>
            <a:ext cx="7498079" cy="355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00" b="1" i="0" dirty="0">
                <a:solidFill>
                  <a:srgbClr val="B8872A"/>
                </a:solidFill>
                <a:latin typeface="Calibri"/>
              </a:rPr>
              <a:t>3.</a:t>
            </a:r>
            <a:r>
              <a:rPr sz="1300" b="1" i="0" dirty="0">
                <a:solidFill>
                  <a:srgbClr val="B8872A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C8D6E5"/>
                </a:solidFill>
                <a:latin typeface="Calibri"/>
              </a:rPr>
              <a:t>Combate a ansiedade de TI: </a:t>
            </a:r>
            <a:r>
              <a:rPr sz="1300" b="0" i="0" dirty="0">
                <a:solidFill>
                  <a:srgbClr val="C8D6E5"/>
                </a:solidFill>
                <a:latin typeface="Calibri"/>
              </a:rPr>
              <a:t>menos bloqueios e prazos perdidos significam menos burnout.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3911600"/>
            <a:ext cx="8051800" cy="1016000"/>
          </a:xfrm>
          <a:prstGeom prst="rect">
            <a:avLst/>
          </a:prstGeom>
          <a:solidFill>
            <a:srgbClr val="1A3A55"/>
          </a:solidFill>
          <a:ln w="25400">
            <a:solidFill>
              <a:srgbClr val="B8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100" y="3830320"/>
            <a:ext cx="8051800" cy="1125949"/>
          </a:xfrm>
          <a:prstGeom prst="rect">
            <a:avLst/>
          </a:prstGeom>
          <a:noFill/>
        </p:spPr>
        <p:txBody>
          <a:bodyPr wrap="square" lIns="203200" tIns="177800" rIns="203200" bIns="127000" anchor="t" anchorCtr="0">
            <a:spAutoFit/>
          </a:bodyPr>
          <a:lstStyle/>
          <a:p>
            <a:pPr>
              <a:spcBef>
                <a:spcPts val="200"/>
              </a:spcBef>
            </a:pPr>
            <a:r>
              <a:rPr lang="pt-BR" sz="1400" b="1" dirty="0">
                <a:solidFill>
                  <a:schemeClr val="bg1"/>
                </a:solidFill>
              </a:rPr>
              <a:t>"Os desenvolvedores que usam o recurso de autocompletar código por IA relataram sentir-se mais realizados (60 a 75%) e menos frustrados ao concluir tarefas repetitivas - com reduções significativas na carga cognitiva e no estresse da troca de tarefas."</a:t>
            </a:r>
          </a:p>
          <a:p>
            <a:pPr algn="l">
              <a:spcBef>
                <a:spcPts val="200"/>
              </a:spcBef>
            </a:pPr>
            <a:r>
              <a:rPr sz="950" b="1" i="0" dirty="0">
                <a:solidFill>
                  <a:schemeClr val="accent6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Ziegler et al. (2022)</a:t>
            </a:r>
            <a:r>
              <a:rPr sz="950" b="0" i="0" dirty="0">
                <a:solidFill>
                  <a:schemeClr val="accent6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950" b="0" i="0" dirty="0">
                <a:solidFill>
                  <a:srgbClr val="C8D6E5"/>
                </a:solidFill>
                <a:latin typeface="Calibri"/>
              </a:rPr>
              <a:t>— </a:t>
            </a:r>
            <a:r>
              <a:rPr sz="950" b="0" i="1" dirty="0">
                <a:solidFill>
                  <a:srgbClr val="C8D6E5"/>
                </a:solidFill>
                <a:latin typeface="Calibri"/>
              </a:rPr>
              <a:t>Productivity Assessment of Neural Code Completion</a:t>
            </a:r>
            <a:r>
              <a:rPr sz="950" b="0" i="0" dirty="0">
                <a:solidFill>
                  <a:srgbClr val="C8D6E5"/>
                </a:solidFill>
                <a:latin typeface="Calibri"/>
              </a:rPr>
              <a:t>. ACM DL, 2022. (n=2.631 desenvolvedores)</a:t>
            </a:r>
          </a:p>
        </p:txBody>
      </p:sp>
    </p:spTree>
    <p:extLst>
      <p:ext uri="{BB962C8B-B14F-4D97-AF65-F5344CB8AC3E}">
        <p14:creationId xmlns:p14="http://schemas.microsoft.com/office/powerpoint/2010/main" val="3492942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FONTES ·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Referências Bibliográficas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" y="1344168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3"/>
              </a:rPr>
              <a:t>Bender et al.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1554480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https://dl.acm.org/doi/10.1145/3442188.3445922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728216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LLMs geram texto plausível sem compreensão — 'papagaio estocástico'. Risco de viés, custo ambiental e falsa autoridade epistêmica.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1298448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90872" y="1298448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344168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4"/>
              </a:rPr>
              <a:t>Ji et al. 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1554480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https://dl.acm.org/doi/10.1145/3571730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728216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Survey de alucinação em NLG: tipologia, causas, métricas e estratégias de mitigação. Referência canônica sobre quando modelos inventam.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50591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450591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" y="2496311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5"/>
              </a:rPr>
              <a:t>Amershi et al.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2706624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https://dl.acm.org/doi/10.1145/3290605.3300233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" y="2880359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18 diretrizes de design human-AI em quatro fases da interação. Base empírica de estudos com produtos Microsoft.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90872" y="2450591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90872" y="2450591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37176" y="2496311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6"/>
              </a:rPr>
              <a:t>Sahoo et al.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2706624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https://arxiv.org/abs/2402.07927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2880359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Taxonomia de prompt engineering: CoT, few-shot, zero-shot, role prompting. Avalia eficácia por tipo de tarefa.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02736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602736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" y="3648456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7"/>
              </a:rPr>
              <a:t>Krishna et al.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3858768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https://arxiv.org/abs/2404.17406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032504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Avaliação empírica de LLMs em especificações de requisitos. Mede qualidade e coerência; identifica quando a IA amplifica ambiguidade.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3602736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90872" y="3602736"/>
            <a:ext cx="64008" cy="1060704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37176" y="3648456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2A7FBD"/>
                </a:solidFill>
                <a:latin typeface="Calibri"/>
                <a:hlinkClick r:id="rId8"/>
              </a:rPr>
              <a:t>Cheng et al. (2024)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6" y="3858768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https://arxiv.org/abs/2401.01041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6" y="4032504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Revisão sistemática sobre IA generativa em RE — elicitação, especificação, validação e rastreabilidade.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FONTES ·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0D1B2E"/>
                </a:solidFill>
                <a:latin typeface="Calibri"/>
              </a:rPr>
              <a:t>Referências Bibliográficas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" y="1344168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3"/>
              </a:rPr>
              <a:t>Ahmad et al.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1554480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https://doi.org/10.1016/j.infsof.2023.107176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728216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Mapeamento sobre requisitos de sistemas de IA: explicabilidade, fairness, segurança e rastreabilidade. Distingue RE convencional de RE para ML.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1298448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90872" y="1298448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344168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4"/>
              </a:rPr>
              <a:t>Packer et al. 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1554480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https://arxiv.org/abs/2310.08560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728216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MemGPT: arquitetura de memória hierárquica para LLMs inspirada em SO. Separa memória in-context (limitada) de memória externa (persistente), com paginação.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50591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450591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" y="2496311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5"/>
              </a:rPr>
              <a:t>Lewis et al. (2020)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2706624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https://arxiv.org/abs/2005.11401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" y="2880359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Introduz RAG: recuperação densa combinada com geração. Reduz alucinação e aumenta rastreabilidade. Arquitetura de referência para grounding.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90872" y="2450591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90872" y="2450591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37176" y="2496311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6"/>
              </a:rPr>
              <a:t>Karpukhin et al. (2020)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2706624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https://arxiv.org/abs/2004.04906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2880359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DPR: embeddings densos em substituição ao BM25 esparso. Fundamento técnico de sistemas RAG de alta precisão.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02736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602736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" y="3648456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7"/>
              </a:rPr>
              <a:t>Jiang et al.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3858768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https://arxiv.org/abs/2310.06839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032504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LongLLMLingua: compressão de prompt para contextos longos. Preserva trechos de alta relevância, reduzindo tokens sem perda crítica.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3602736"/>
            <a:ext cx="4187952" cy="1060704"/>
          </a:xfrm>
          <a:prstGeom prst="rect">
            <a:avLst/>
          </a:prstGeom>
          <a:solidFill>
            <a:srgbClr val="EBF3F9"/>
          </a:solidFill>
          <a:ln w="10160">
            <a:solidFill>
              <a:srgbClr val="D5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90872" y="3602736"/>
            <a:ext cx="64008" cy="1060704"/>
          </a:xfrm>
          <a:prstGeom prst="rect">
            <a:avLst/>
          </a:prstGeom>
          <a:solidFill>
            <a:srgbClr val="B8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37176" y="3648456"/>
            <a:ext cx="39867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u="sng">
                <a:solidFill>
                  <a:srgbClr val="B8872A"/>
                </a:solidFill>
                <a:latin typeface="Calibri"/>
                <a:hlinkClick r:id="rId8"/>
              </a:rPr>
              <a:t>Mastropaolo et al. (2023)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6" y="3858768"/>
            <a:ext cx="3986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1">
                <a:solidFill>
                  <a:srgbClr val="3A5068"/>
                </a:solidFill>
                <a:latin typeface="Calibri"/>
              </a:rPr>
              <a:t>https://arxiv.org/abs/2302.00438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6" y="4032504"/>
            <a:ext cx="3986784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0D1B2E"/>
                </a:solidFill>
                <a:latin typeface="Calibri"/>
              </a:rPr>
              <a:t>Avalia robustez do Copilot: pequenas perturbações de prompt geram variações significativas na saída. Questiona confiabilidade da geração automática.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A0ADC-7707-84F1-5B54-6D1248A9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FDF9A-7684-FCFA-1517-D043E0AB749C}"/>
              </a:ext>
            </a:extLst>
          </p:cNvPr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2A7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23B28-A725-3265-8A31-930E7A0CF56E}"/>
              </a:ext>
            </a:extLst>
          </p:cNvPr>
          <p:cNvSpPr/>
          <p:nvPr/>
        </p:nvSpPr>
        <p:spPr>
          <a:xfrm>
            <a:off x="7818120" y="164592"/>
            <a:ext cx="1188720" cy="292608"/>
          </a:xfrm>
          <a:prstGeom prst="rect">
            <a:avLst/>
          </a:prstGeom>
          <a:solidFill>
            <a:srgbClr val="0E4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22929-3D3F-DE86-B891-44F418F358DA}"/>
              </a:ext>
            </a:extLst>
          </p:cNvPr>
          <p:cNvSpPr txBox="1"/>
          <p:nvPr/>
        </p:nvSpPr>
        <p:spPr>
          <a:xfrm>
            <a:off x="7818120" y="207021"/>
            <a:ext cx="118872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750" b="1" i="0" dirty="0" err="1">
                <a:solidFill>
                  <a:srgbClr val="FFFFFF"/>
                </a:solidFill>
                <a:latin typeface="Calibri"/>
              </a:rPr>
              <a:t>Thanks</a:t>
            </a:r>
            <a:r>
              <a:rPr lang="pt-BR" sz="750" b="1" i="0" dirty="0">
                <a:solidFill>
                  <a:srgbClr val="FFFFFF"/>
                </a:solidFill>
                <a:latin typeface="Calibri"/>
              </a:rPr>
              <a:t>!</a:t>
            </a:r>
            <a:endParaRPr sz="7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CA549-ADE9-00E1-DC1D-568B8D7F3CB5}"/>
              </a:ext>
            </a:extLst>
          </p:cNvPr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C507B-7065-CE12-0009-1FCFBE5FEEF4}"/>
              </a:ext>
            </a:extLst>
          </p:cNvPr>
          <p:cNvSpPr txBox="1"/>
          <p:nvPr/>
        </p:nvSpPr>
        <p:spPr>
          <a:xfrm>
            <a:off x="228600" y="4882896"/>
            <a:ext cx="64008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3A5068"/>
                </a:solidFill>
                <a:latin typeface="Calibri"/>
              </a:rPr>
              <a:t>IA de Alto Desempenho · Engenharia de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6A768-D05C-2379-7195-3723C7CFDF2C}"/>
              </a:ext>
            </a:extLst>
          </p:cNvPr>
          <p:cNvSpPr txBox="1"/>
          <p:nvPr/>
        </p:nvSpPr>
        <p:spPr>
          <a:xfrm>
            <a:off x="320040" y="534364"/>
            <a:ext cx="81381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200" b="1" i="0" dirty="0">
                <a:solidFill>
                  <a:srgbClr val="0D1B2E"/>
                </a:solidFill>
                <a:latin typeface="Calibri"/>
              </a:rPr>
              <a:t>Obrigado!</a:t>
            </a:r>
            <a:endParaRPr sz="2200" b="1" i="0" dirty="0">
              <a:solidFill>
                <a:srgbClr val="0D1B2E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18CB2-2F02-6E0A-F3E6-5251557E78EF}"/>
              </a:ext>
            </a:extLst>
          </p:cNvPr>
          <p:cNvSpPr/>
          <p:nvPr/>
        </p:nvSpPr>
        <p:spPr>
          <a:xfrm>
            <a:off x="320040" y="1042416"/>
            <a:ext cx="8138160" cy="27432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F1F1C6DC-9F2E-B300-A148-E59F8D57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46" y="1309112"/>
            <a:ext cx="3183419" cy="3103232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C17AEAD5-34D5-8AA0-D1DF-801E0731F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080" y="4376899"/>
            <a:ext cx="361950" cy="371475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4F6F322E-D83C-C928-33DA-A26FE1E64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987" y="1309111"/>
            <a:ext cx="3089539" cy="3097713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3B55CE8A-D942-D748-0929-7511C0622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543" y="4414999"/>
            <a:ext cx="35242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1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F52781-D86A-415F-B451-AF4E39CC7CA0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37889</Words>
  <Application>Microsoft Office PowerPoint</Application>
  <PresentationFormat>Apresentação na tela (16:9)</PresentationFormat>
  <Paragraphs>2989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Paulo José  de Carlo Almeida</cp:lastModifiedBy>
  <cp:revision>17</cp:revision>
  <dcterms:created xsi:type="dcterms:W3CDTF">2013-01-27T09:14:16Z</dcterms:created>
  <dcterms:modified xsi:type="dcterms:W3CDTF">2026-04-02T22:35:39Z</dcterms:modified>
  <cp:category/>
</cp:coreProperties>
</file>